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Override PartName="/ppt/notesSlides/notesSlide42.xml" ContentType="application/vnd.openxmlformats-officedocument.presentationml.notesSlide+xml"/>
  <Override PartName="/ppt/slides/slide42.xml" ContentType="application/vnd.openxmlformats-officedocument.presentationml.slide+xml"/>
  <Override PartName="/ppt/notesSlides/notesSlide43.xml" ContentType="application/vnd.openxmlformats-officedocument.presentationml.notes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Override PartName="/ppt/notesSlides/notesSlide45.xml" ContentType="application/vnd.openxmlformats-officedocument.presentationml.notesSlide+xml"/>
  <Override PartName="/ppt/slides/slide45.xml" ContentType="application/vnd.openxmlformats-officedocument.presentationml.slide+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72" r:id="rId18"/>
    <p:sldId id="285" r:id="rId36"/>
    <p:sldId id="265" r:id="rId11"/>
    <p:sldId id="303" r:id="rId54"/>
    <p:sldId id="304" r:id="rId55"/>
    <p:sldId id="305" r:id="rId56"/>
    <p:sldId id="268" r:id="rId14"/>
    <p:sldId id="286" r:id="rId37"/>
    <p:sldId id="280" r:id="rId31"/>
    <p:sldId id="279" r:id="rId30"/>
    <p:sldId id="287" r:id="rId38"/>
    <p:sldId id="284" r:id="rId35"/>
    <p:sldId id="278" r:id="rId29"/>
    <p:sldId id="281" r:id="rId32"/>
    <p:sldId id="282" r:id="rId33"/>
    <p:sldId id="288" r:id="rId39"/>
    <p:sldId id="289" r:id="rId40"/>
    <p:sldId id="290" r:id="rId41"/>
    <p:sldId id="291" r:id="rId42"/>
    <p:sldId id="292" r:id="rId43"/>
    <p:sldId id="283" r:id="rId34"/>
    <p:sldId id="293" r:id="rId44"/>
    <p:sldId id="294" r:id="rId45"/>
    <p:sldId id="295" r:id="rId46"/>
    <p:sldId id="296" r:id="rId47"/>
    <p:sldId id="297" r:id="rId48"/>
    <p:sldId id="298" r:id="rId49"/>
    <p:sldId id="299" r:id="rId50"/>
    <p:sldId id="300" r:id="rId51"/>
    <p:sldId id="301" r:id="rId52"/>
    <p:sldId id="302" r:id="rId53"/>
  </p:sldIdLst>
  <p:sldSz cx="1219197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1" Type="http://schemas.openxmlformats.org/officeDocument/2006/relationships/slide" Target="slides/slide10.xml"/><Relationship Id="rId14" Type="http://schemas.openxmlformats.org/officeDocument/2006/relationships/slide" Target="slides/slide13.xml"/><Relationship Id="rId18" Type="http://schemas.openxmlformats.org/officeDocument/2006/relationships/slide" Target="slides/slide17.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727469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Audit of Rainfall Health's published 'CMS TEAM Impact Report' (Christina Keny, PhD; released Jul 27, 2026; footer says 'May 2026').</a:t>
            </a:r>
          </a:p>
          <a:p>
            <a:r>
              <a:rPr lang="en-US"/>
              <a:t>104 claim rows on pp.1-11 checked against primary sources. Source: /workspace/source-verify/full-audit.md (Counts by status).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974001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Draft 02 (Canva export Jun 26, 1:26 PM PT, 13 refs) vs draft 03 (PDF Jun 30, = Slack F0BF225SU3S) and the published PDF (15 refs; 03, 04 and published lists identical).</a:t>
            </a:r>
          </a:p>
          <a:p>
            <a:r>
              <a:rPr lang="en-US"/>
              <a:t>Replaced: ref 2 Becher -&gt; Etzioni 2003 (Etzioni's 40% = all hospital discharges, 1999); ref 4 Tarazi -&gt; ref 3 Ho 2022 (no 74%, no 85+ figure; real source Hewitt 2016, PMC4823401).</a:t>
            </a:r>
          </a:p>
          <a:p>
            <a:r>
              <a:rPr lang="en-US"/>
              <a:t>Removed, not replaced: ref 3 Bandeen-Roche (19.4% now uncited; real source Bicket 2024 e421).</a:t>
            </a:r>
          </a:p>
          <a:p>
            <a:r>
              <a:rPr lang="en-US"/>
              <a:t>Added Jun 29: refs 4-6 Deiner 2014, Gill 2022, Tang 2020 (cover frailty/dementia only).</a:t>
            </a:r>
          </a:p>
          <a:p>
            <a:r>
              <a:rPr lang="en-US"/>
              <a:t>Carried over unchanged and still wrong: MedPAR LOS (6-&gt;8; real = AJRR 2024 + Burnett 2023), CMS-5540-F (7-&gt;9; rule is CMS-1808-F), ACS NSQIP procedure-mix (9-&gt;11; not found). AAMC (5-&gt;7) also kept with text unchanged.</a:t>
            </a:r>
          </a:p>
          <a:p>
            <a:r>
              <a:rPr lang="en-US"/>
              <a:t>Note: the brief's '3 fixed on paper' was reworded: only 2 refs were replaced; the third was deleted.</a:t>
            </a:r>
          </a:p>
          <a:p>
            <a:r>
              <a:rPr lang="en-US"/>
              <a:t>Source: /workspace/source-verify/full-audit.md 'Reference list by version'; evidence/version-reference-list-02-vs-published.png; version-ref2/ref3/ref4 and version-unchanged-refs images.</a:t>
            </a:r>
          </a:p>
          <a:p>
            <a:r>
              <a:rPr lang="en-US"/>
              <a:t>10</a:t>
            </a:r>
          </a:p>
          <a:p>
            <a:r>
              <a:rPr lang="en-US"/>
              <a:t>Update (ref-history.md, Oct 8): draft 02's 13-ref list matches the Jun 25 Word draft (the earliest numbered version) word for word. 'At least 3 wrong ones kept': orange marks = MedPAR, CMS-5540-F, NSQIP; the Census title (ref 1) and the Advisory Board title (ref 10 -&gt; 12, issue #10) were also carried word for word and are also wrong. See the next three slides.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418578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Left (flagged before Jul 27, not fixed): AAMC (Kyle memo 'Superseded'); 74%/&gt;80% (Tarazi flag, replaced by Ho 2022); 19.4% (Bandeen-Roche 'Corrupted', ref deleted); 40% (Becher locator + 're-source the 40%'); ref 8 MedPAR (memo rec #3 're-source the length-of-stay'); California 110 vs 118 (memo); missing 'M' (memo); internal estimates (memo rec #3 'Relabel proprietary/internal estimates').</a:t>
            </a:r>
          </a:p>
          <a:p>
            <a:r>
              <a:rPr lang="en-US"/>
              <a:t>Right (never flagged in Slack/memo): CMS-5540-F (in Christina's May 5 Sources line); ref 11 NSQIP; ref 12 title; cover claims from the Jul 1 120/80 rewrite ('First Mandatory', '$1.2M ... Year 1', '30% ... by PY5'; phrases already in body since draft 01); disclaimer wording added after draft 02.</a:t>
            </a:r>
          </a:p>
          <a:p>
            <a:r>
              <a:rPr lang="en-US"/>
              <a:t>Change vs brief: ref 8 MedPAR moved from 'never flagged' to 'flagged, not fixed' (full-audit.md issue #8: 'Yes, Kyle memo (re-source the LOS). Not fixed').</a:t>
            </a:r>
          </a:p>
          <a:p>
            <a:r>
              <a:rPr lang="en-US"/>
              <a:t>Source: /workspace/source-verify/full-audit.md; slack-history/history.md.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615617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Version timeline (all times PT). Sources: /workspace/source-verify/slack-history/history.md section (a); full-audit.md 'Cover / headline wording by version'.</a:t>
            </a:r>
          </a:p>
          <a:p>
            <a:r>
              <a:rPr lang="en-US"/>
              <a:t>May 5 9:42 AM: CMS_TEAM_Impact_Report_Companion_v4_05.04.26.docx (F0B1LJTT85R), Christina; Sources line includes 'CMS TEAM Final Rule (CMS-5540-F, August 2024)'.</a:t>
            </a:r>
          </a:p>
          <a:p>
            <a:r>
              <a:rPr lang="en-US"/>
              <a:t>Jun 25 5:12-5:13 PM: Annabelle sends Kyle a Canva link + 'Impact Report Draft Rainfall Health.docx' (F0BD3R42HSP; Word metadata Jun 25, 1:04 PM). The docx is the earliest numbered version: same 13 refs as draft 02 (updated Oct 8 from earliest drafts).</a:t>
            </a:r>
          </a:p>
          <a:p>
            <a:r>
              <a:rPr lang="en-US"/>
              <a:t>Jun 26: Kyle's citation pass; 2:56 PM 'im worried that perplexity made up references'; memo dated Jun 26 (shared Jun 29).</a:t>
            </a:r>
          </a:p>
          <a:p>
            <a:r>
              <a:rPr lang="en-US"/>
              <a:t>Jun 29 2:26 PM: v3 PDF (F0BDJP8RXUP); Christina's replacement refs 3:04 / 3:39 PM.</a:t>
            </a:r>
          </a:p>
          <a:p>
            <a:r>
              <a:rPr lang="en-US"/>
              <a:t>Jul 1 2:23 PM: 120/80 (Tori) cover rewrite. 'First mandatory', '$1.2M year 1', '30% by PY5' were already in body text in the Jun 25 Word draft and draft 01 (Jun 26); the new cover first appears in the published file.</a:t>
            </a:r>
          </a:p>
          <a:p>
            <a:r>
              <a:rPr lang="en-US"/>
              <a:t>Jul 8 2:24 PM: 741 -&gt; 721 (F0BG6Q087EG). Jul 14 3:10 PM: CMS TEAM Impact Report.pdf (F0BHG49P7JQ), Carrie, #aox3. Jul 27: published.</a:t>
            </a:r>
          </a:p>
          <a:p>
            <a:r>
              <a:rPr lang="en-US"/>
              <a:t>17</a:t>
            </a:r>
          </a:p>
          <a:p>
            <a:r>
              <a:rPr lang="en-US"/>
              <a:t>Jun 29, 3:13 PM PT: Canva export (PDF metadata 22:13:14 UTC), a snapshot partway through the citation fixes: Ho added as #4 while Tarazi still listed as #3, Bandeen-Roche gone, Becher still #2; p.3 superscript 3 on '19.1%' lands on Tarazi. Not the v3 file (F0BDJP8RXUP, 2:26 PM). Source: /workspace/source-verify/ref-history.md section 1.</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7008797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#5 (full-audit.md): ref 9 'TEAM — Final Rule (CMS-5540-F)'. Status: wrong. Pre-pub flag: No. Carried unchanged from Christina's May 5 v4 docx Sources line ('CMS TEAM Final Rule (CMS-5540-F, August 2024)') through draft 02 (ref 7) to the published ref 9.</a:t>
            </a:r>
          </a:p>
          <a:p>
            <a:r>
              <a:rPr lang="en-US"/>
              <a:t>Rule header: [CMS-1808-F] Final rule, Wednesday, August 28, 2024, 89 FR 68986. CMS-5540 = [CMS-5540-NC] Request for Information; Episode-Based Payment Model, 88 FR 45872, July 18, 2023.</a:t>
            </a:r>
          </a:p>
          <a:p>
            <a:r>
              <a:rPr lang="en-US"/>
              <a:t>https://www.federalregister.gov/d/2024-17021 · PDF https://www.govinfo.gov/content/pkg/FR-2024-08-28/pdf/2024-17021.pdf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631475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#2 (full-audit.md): p.3 'roughly 74% of older emergency general surgery patients and more than 80% of those over the age of 85.3'. Status: wrong (wrong source). Pre-pub flag: Yes, Kyle Jun 26 memo ('No such paper exists; the 74% stat is really Hewitt et al., BMJ Open 2016;6(3):e010126'). Christina replaced Tarazi with Ho 2022 on Jun 29, 3:04 PM PT; Hewitt was not used.</a:t>
            </a:r>
          </a:p>
          <a:p>
            <a:r>
              <a:rPr lang="en-US"/>
              <a:t>Ho 2022: '383 (19.5%) had no multimorbidity, 829 (42.3%) had 2 multimorbidity domains, and 748 (38.2%) had all 3 domains present'. 42.3 + 38.2 = 80.5% across all older EGS patients, not 85+. No 74%.</a:t>
            </a:r>
          </a:p>
          <a:p>
            <a:r>
              <a:rPr lang="en-US"/>
              <a:t>Hewitt 2016 (UK): 'Multimorbidity was present in 74%'; 83.7% (77/92) of patients over 85 (Parent note, Mali re-verification Oct 8).</a:t>
            </a:r>
          </a:p>
          <a:p>
            <a:r>
              <a:rPr lang="en-US"/>
              <a:t>https://pmc.ncbi.nlm.nih.gov/articles/PMC9047756/ · https://pmc.ncbi.nlm.nih.gov/articles/PMC4823401/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23376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#1 (full-audit.md): '±30% / 30% of Medicare revenue at risk by PY5' (p.1 cover, p.2 contents, p.7 headline + Fig 4). Status: wrong. Pre-pub flag: No.</a:t>
            </a:r>
          </a:p>
          <a:p>
            <a:r>
              <a:rPr lang="en-US"/>
              <a:t>Track 3 = 20% stop-loss/stop-gain in PY1-PY5 (TEAM Final Rule Table X.A.-02, 89 FR 69661). CQS adjusts the reconciliation amount first; the 20% cap is applied after (42 CFR 512.550(d)-(e)). The '60-point spread' is at most 40 points.</a:t>
            </a:r>
          </a:p>
          <a:p>
            <a:r>
              <a:rPr lang="en-US"/>
              <a:t>The headline was already the p.8 headline (and TOC item) in the Jun 25 Word draft; missing from Canva drafts 01/02; back in the Jun 29, 3:13 PM export and in 03 (Jun 30). The 20-&gt;30% Fig 4 chart was already in the Jun 25 Word draft and draft 01 (updated Oct 8).</a:t>
            </a:r>
          </a:p>
          <a:p>
            <a:r>
              <a:rPr lang="en-US"/>
              <a:t>Sources: https://www.federalregister.gov/d/2024-17021 ; https://www.ecfr.gov/current/title-42/chapter-IV/subchapter-H/part-512 (512.550)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229014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#6 (full-audit.md): p.2 and p.8 '110 mandated hospitals across 26 counties', 'Greater Los Angeles alone hosts 59 facilities…'. Status: wrong. Pre-pub flag: Yes, Kyle Jun 26 memo (count sums to 118 but stated as 110). Not fixed.</a:t>
            </a:r>
          </a:p>
          <a:p>
            <a:r>
              <a:rPr lang="en-US"/>
              <a:t>CMS TEAM participant list (Aug 18, 2026 file): 107 California hospitals in 11 CBSAs (&lt;=18 counties); Bay Area 48, Inland Empire 30, San Diego 15, Central Valley 7, Central Coast 3, North Coast 3, LA 1 (Cedars-Sinai, voluntary). Rainfall's own page also says 107: https://www.rainfallhealth.com/cms-team/participating-hospitals/california/</a:t>
            </a:r>
          </a:p>
          <a:p>
            <a:r>
              <a:rPr lang="en-US"/>
              <a:t>Regions in the report: 59+22+17+8+8+4 = 118. Ref 13 (Rainfall CA brief) not found.</a:t>
            </a:r>
          </a:p>
          <a:p>
            <a:r>
              <a:rPr lang="en-US"/>
              <a:t>https://www.cms.gov/team-model-participant-list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006527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#7 (full-audit.md): p.6 Fig 3 'Per-Procedure economic swing… Max win/loss per case' (-$15,142/$6,927 … -$10,046/$7,970), caption 'model the full Track 1 / Track 3 range.9,12'; p.6 stat box '204,014 annual surgical episodes'; p.7 subhead '204k episodes annually'. Status: wrong.</a:t>
            </a:r>
          </a:p>
          <a:p>
            <a:r>
              <a:rPr lang="en-US"/>
              <a:t>All 10 values = ACS/IAC Table 1 average gain/loss per case (2023), 'not the stop-gain/stop-loss caps'. 204,014 = Table 1 Total Cases (2023 Medicare FFS cases at TEAM hospitals).</a:t>
            </a:r>
          </a:p>
          <a:p>
            <a:r>
              <a:rPr lang="en-US"/>
              <a:t>Pre-pub flag: Partly. Kyle's Jun 26 memo rec #4 asked to confirm 'the precise episode count' with the authors; not done.</a:t>
            </a:r>
          </a:p>
          <a:p>
            <a:r>
              <a:rPr lang="en-US"/>
              <a:t>https://www.facs.org/advocacy/transforming-episode-accountability-model/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9902055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#13 (full-audit.md): p.3 'CJR-X (proposed to launch October 1, 2027 ...)', '~2,500+ hospitals', 'Within 24 months, virtually every IPPS hospital ...'; stat box '721 TEAM hospitals (2026) - then 2,500+ via CJR-X (2027)'. Ref 10 = 'FY 2027 IPPS Proposed Rule - CJR-X. April 10, 2026' (CMS-1849-P). Status: outdated. Pre-pub flag: No (the final rule came out Aug 4, after the Jul 27 release).</a:t>
            </a:r>
          </a:p>
          <a:p>
            <a:r>
              <a:rPr lang="en-US"/>
              <a:t>Final rule CMS-1849-F (Aug 4, 2026): 'beginning on January 1, 2028'. Mandatory, 90-day and two-sided still true. CMS estimate 'approximate 2,500 CJR-X participants'; actual CJR-X list (Sept 30, 2026) = 2,217. '24 months' overstated: ~720 TEAM + 2,217 CJR-X by Jan 2028 (~2,900); CJR-X is LEJR only; Maryland and low-volume hospitals excluded.</a:t>
            </a:r>
          </a:p>
          <a:p>
            <a:r>
              <a:rPr lang="en-US"/>
              <a:t>https://www.federalregister.gov/d/2026-15833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524372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#4 (full-audit.md): p.3 'adults 65 and older account for nearly 40% of inpatient surgeries.2' and stat box '≈40%'. Status: wrong. Pre-pub flag: Yes, Kyle Jun 26 memo (Becher 'Wrong locator'; rec #3 're-source the length-of-stay and 40% figures'). Christina swapped ref 2 to Etzioni 2003 on Jun 29, 3:39 PM PT; number not fixed.</a:t>
            </a:r>
          </a:p>
          <a:p>
            <a:r>
              <a:rPr lang="en-US"/>
              <a:t>Etzioni 2003: 'in 1999, patients aged 65 years or older comprised 12% of the population, but constituted 40% of hospital discharges and 48% of days of inpatient care' (all stays, not surgeries; Parent note re-verified). Methods use the 1996 NHDS.</a:t>
            </a:r>
          </a:p>
          <a:p>
            <a:r>
              <a:rPr lang="en-US"/>
              <a:t>Deiner 2014 (the report's own ref 4): 65+ = 35.3% of all inpatient procedures (2006). HCUP SB281 (2018): 65-74 19.7% + 75+ 16.8% = 36.5% of stays with an OR procedure.</a:t>
            </a:r>
          </a:p>
          <a:p>
            <a:r>
              <a:rPr lang="en-US"/>
              <a:t>https://pmc.ncbi.nlm.nih.gov/articles/PMC1422682/ · https://hcup-us.ahrq.gov/reports/statbriefs/sb281-Operating-Room-Procedures-During-Hospitalization-2018.pdf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677626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Kyle's 'Source &amp; Citation Review' memo (dated Jun 26, 2026; screenshots shared in Slack Jun 29, 2:40 / 2:58 PM PT; F0BDJRVJ955, F0BDU327GEP).</a:t>
            </a:r>
          </a:p>
          <a:p>
            <a:r>
              <a:rPr lang="en-US"/>
              <a:t>Verdicts: Tarazi 2023 'No such paper exists' (74% stat is Hewitt 2016); AAMC 'Superseded' (cited 2024 report: 13,500-86,000 by 2036); Becher 'Wrong locator'; Bandeen-Roche 'Corrupted' (real paper e421).</a:t>
            </a:r>
          </a:p>
          <a:p>
            <a:r>
              <a:rPr lang="en-US"/>
              <a:t>What happened (Christina, Jun 29, 3:04 / 3:39 PM PT): Tarazi -&gt; Ho 2022 (JAMA Surg 2022;157(6):499-506; no 74% or 85+ figure); Becher -&gt; Etzioni 2003 (Ann Surg 2003;238(2):170-177); Bandeen-Roche eliminated, 19.4% now uncited (correct source Bicket 2024 e421); AAMC citation kept, numbers unchanged.</a:t>
            </a:r>
          </a:p>
          <a:p>
            <a:r>
              <a:rPr lang="en-US"/>
              <a:t>Sources: slack-history/history.md (b); full-audit.md 'Reference list by version'. Ho: https://pmc.ncbi.nlm.nih.gov/articles/PMC9047756/ · Etzioni: https://pmc.ncbi.nlm.nih.gov/articles/PMC1422682/ · Bicket: https://pmc.ncbi.nlm.nih.gov/articles/PMC11191855/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6893363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Counts: full-audit.md 'Counts by status (104 claim rows, 1.1-11.15; primary status of each row)': wrong 41, unsupported 17, unverifiable-internal 9, outdated 7, verified 28, not checked 2 (4.9 1980 '26 million'; 6.4 'stacked on other P4P programs').</a:t>
            </a:r>
          </a:p>
          <a:p>
            <a:r>
              <a:rPr lang="en-US"/>
              <a:t>74 of 104 = wrong + unsupported + unverifiable-internal + outdated. About 9 verified rows still need a citation fix (6 verified-but-uncited/loosely cited: 3.2, 3.14, 3.19, 4.1, 5.1, 6.6; plus reference entries 11.2, 11.3, 11.5 and partly 11.4 that don't support their claims).</a:t>
            </a:r>
          </a:p>
          <a:p>
            <a:r>
              <a:rPr lang="en-US"/>
              <a:t>Per-page counts computed from the row IDs in that section (page = number before the dot).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5581075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#3 (full-audit.md): p.3 'AAMC projects a shortage of up to 121,000 physicians by 2030, including 20,000-30,000 surgeons,7'. Ref 7 = AAMC 2024 report. Status: wrong. Pre-pub flag: Yes, Kyle Jun 26 memo ('Superseded'). Not fixed.</a:t>
            </a:r>
          </a:p>
          <a:p>
            <a:r>
              <a:rPr lang="en-US"/>
              <a:t>AAMC 2024 (cited): 13,500-86,000 physicians by 2036; surgical specialties 10,100-19,900.</a:t>
            </a:r>
          </a:p>
          <a:p>
            <a:r>
              <a:rPr lang="en-US"/>
              <a:t>AAMC 2018 update (origin of the report's numbers): 42,600-121,300 physicians by 2030; surgical specialties 20,700-30,500 in 2030. (Parent note: Mali re-verified Oct 8.)</a:t>
            </a:r>
          </a:p>
          <a:p>
            <a:r>
              <a:rPr lang="en-US"/>
              <a:t>https://www.aamc.org/data-reports/workforce/report/physician-workforce-projections · mirror of 2024 PDF: https://www.aans.org/wp-content/uploads/2024/05/aamc-2023-workforce-projections-report.pdf · 2018 press release: https://www.aamc.org/news/press-releases/new-research-shows-increasing-physician-shortages-both-primary-and-specialty-care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5649480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#8 (full-audit.md): p.3 'Average length of stay for joint replacement has declined from 3.0 days in 2012 to 1.1 days in 2023, and more than half of Medicare total knee arthroplasties are now performed on an outpatient basis.8'; ref 8 'CMS… Medicare Provider Analysis &amp; Review (MedPAR) data'. Status: wrong (citation); numbers true.</a:t>
            </a:r>
          </a:p>
          <a:p>
            <a:r>
              <a:rPr lang="en-US"/>
              <a:t>AJRR 2024: THA mean LOS 3.0 (2012) -&gt; 1.1 (2023); TKA 2.9 -&gt; 1.1 (all-payer registry, not MedPAR). Burnett 2023: 'by 2020, 57.2% of Medicare TKA patients were classified as outpatients' (billing status).</a:t>
            </a:r>
          </a:p>
          <a:p>
            <a:r>
              <a:rPr lang="en-US"/>
              <a:t>Pre-pub flag: Yes, Kyle Jun 26 memo rec #3 're-source the length-of-stay and 40% figures'. Not fixed; ref 8 carried unchanged from draft 02 (ref 6).</a:t>
            </a:r>
          </a:p>
          <a:p>
            <a:r>
              <a:rPr lang="en-US"/>
              <a:t>https://www.aaos.org/registries/publications/ajrr-annual-report/ · https://pubmed.ncbi.nlm.nih.gov/36535441/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7791234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#9 (full-audit.md): ref 11 'ACS NSQIP &amp; Medicare claims procedure-mix data… 2023-2024' not found; no in-text superscript 11 in any Canva version (only Fig 2's 'Sources:' line, p.5); the Jun 25 Word draft cited it as 3,9 on the Fig 2 caption (updated Oct 8). Fig 2 shares mostly unverified; 'majority of all five' contradicts its own chart (spinal fusion 50%, major bowel 47%). Status: wrong / unsupported. Pre-pub flag: No.</a:t>
            </a:r>
          </a:p>
          <a:p>
            <a:r>
              <a:rPr lang="en-US"/>
              <a:t>HCUP SB281 (2018): knee 60.2%, hip 63.7% (65+); spinal fusion 28-44%; femur fixation 75+ alone 53.7%.</a:t>
            </a:r>
          </a:p>
          <a:p>
            <a:r>
              <a:rPr lang="en-US"/>
              <a:t>https://hcup-us.ahrq.gov/reports/statbriefs/sb281-Operating-Room-Procedures-During-Hospitalization-2018.jsp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304189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#10 (full-audit.md): ref 12 'Advisory Board / Optum. TEAM Financial Impact Model: First-cycle hospital exposure analysis. 2025' - title doesn't exist. 56%/$1.2M are real (Advisory Board), but 'Year 1' / 'first cycle' are not, and $14M / ±$14.5M / 'Optum −$6M' aren't Optum's. Status: wrong / unverifiable-internal.</a:t>
            </a:r>
          </a:p>
          <a:p>
            <a:r>
              <a:rPr lang="en-US"/>
              <a:t>Advisory Board (Nov 25, 2025): '56% of mandatory participants are projected to lose money under current criteria unless they meaningfully improve performance. These losses average $1.2 million per facility.' Also: 'There is no mandatory downside risk for 2026.'</a:t>
            </a:r>
          </a:p>
          <a:p>
            <a:r>
              <a:rPr lang="en-US"/>
              <a:t>Rainfall PR (Jul 27, 2026): 'Rainfall projects $1.2 million average revenue loss for mandated facilities in the first year. This rises to $14 million after five years.'</a:t>
            </a:r>
          </a:p>
          <a:p>
            <a:r>
              <a:rPr lang="en-US"/>
              <a:t>Pre-pub flag: Partly - Kyle's Jun 26 memo rec #3 'Relabel proprietary/internal estimates as such'. Not fixed. The ref 12 title itself was not flagged.</a:t>
            </a:r>
          </a:p>
          <a:p>
            <a:r>
              <a:rPr lang="en-US"/>
              <a:t>https://www.advisory.com/topics/policy-and-payment/hospitals-need-to-know-team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463399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#11 (full-audit.md): one $14.5M number, three definitions and attributions: p.6 '$14M' five-year exposure for systems performing all five procedures (cited to ref 12); p.7 Fig 4 ±$14.5M for a single mid-volume hospital with 'Status Quo (Optum)' −$6M (cites 9,12); p.9 $14.5M peak five-year impact across 17 California systems (ref 14, internal). Status: unverifiable-internal. Pre-pub flag: No.</a:t>
            </a:r>
          </a:p>
          <a:p>
            <a:r>
              <a:rPr lang="en-US"/>
              <a:t>Slack: Mia, Jun 29, 6:50 PM PT: 'the $14.5 M text exceeds the border of the graph'. Kyle, 7:51 PM PT: 'Omg I noticed the 14.5 M overlap too'. That was the label running past the chart border (fixed Jun 30), NOT the number reuse. Nothing in Slack shows anyone flagged the reuse before publication.</a:t>
            </a:r>
          </a:p>
          <a:p>
            <a:r>
              <a:rPr lang="en-US"/>
              <a:t>Sources: slack-history/messages.md lines 85-87; history.md (c).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3882116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#12 (full-audit.md): 'A Financial Field Guide for the First Mandatory Surgical Episode Model' (cover), 'preparing for the first mandatory surgical episode model' (p.2), 'CMS TEAM is the first wave of mandated participation' (p.3). Status: wrong. Pre-pub flag: No.</a:t>
            </a:r>
          </a:p>
          <a:p>
            <a:r>
              <a:rPr lang="en-US"/>
              <a:t>TEAM Final Rule 89 FR 69636: 'the CJR model was a mandatory model for hospitals in 34 MSAs'. CJR ran 2016-2024.</a:t>
            </a:r>
          </a:p>
          <a:p>
            <a:r>
              <a:rPr lang="en-US"/>
              <a:t>Version history: phrase on p.2 since the Jun 25 Word draft and draft 01 (Jun 26, 10:16 AM PT); 120/80 cover rewrite Jul 1 (Slack); new cover first appears in the published file.</a:t>
            </a:r>
          </a:p>
          <a:p>
            <a:r>
              <a:rPr lang="en-US"/>
              <a:t>https://www.federalregister.gov/d/2024-17021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002015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#14 (full-audit.md): p.4 Fig 1 uses the 2017 Census projections (73.1M / 80.8M / 85.7M for 2030/2040/2050; 2017 Table 2 = 73,138k / 80,827k / 85,675k). Current 2023 series = 71.2M / 78.3M / 82.1M. Shares: 2023 = 20.6% / 22.0% / 22.8%; 2017 = 20.6% / 21.6% / 22.0%; the chart's 21.0% and 22.4% match neither (Mali re-verified Oct 8). 'Cross 21% before this decade ends' is false (20.6% in 2030). p.3 says nearly 71M, p.4 says 73M. No citation on p.4. Status: outdated / wrong. Pre-pub flag: No.</a:t>
            </a:r>
          </a:p>
          <a:p>
            <a:r>
              <a:rPr lang="en-US"/>
              <a:t>2010 40.3M and 2020 55.8M are verified (Census C2020BR-07).</a:t>
            </a:r>
          </a:p>
          <a:p>
            <a:r>
              <a:rPr lang="en-US"/>
              <a:t>https://www2.census.gov/programs-surveys/popproj/tables/2023/2023-summary-tables/np2023-t2.xlsx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25531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#15 (full-audit.md): p.3 'Frailty, dementia, polypharmacy, and social vulnerability are no longer exceptions, they define the modern older adult surgical population as a result.4,5,6' Status: unsupported (partly). Pre-pub flag: No. The sentence was uncited in draft 02; Christina added refs 4-6 on Jun 29 (Slack, 3:41 PM PT: 'lets cite this to be safe....'). Not reviewed.</a:t>
            </a:r>
          </a:p>
          <a:p>
            <a:r>
              <a:rPr lang="en-US"/>
              <a:t>Gill 2022: 'More than 1 of 4 community-living older US adults who were frail and nearly 1 of 3 who had probable dementia died in the year after major surgery.' Tang 2020: dementia '21% vs 12%'. Deiner 2014: frailty background only. None mentions polypharmacy or social vulnerability; all three are outcome/mortality studies, not prevalence studies. Hewitt 2016 reports polypharmacy 67.9%.</a:t>
            </a:r>
          </a:p>
          <a:p>
            <a:r>
              <a:rPr lang="en-US"/>
              <a:t>https://pmc.ncbi.nlm.nih.gov/articles/PMC9582971/ · https://pmc.ncbi.nlm.nih.gov/articles/PMC7066523/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83357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#16 (full-audit.md): p.3 stat box '19.4% of adults 65+ had surgery in the past year' and p.5 'Nearly 1 in 5 adults age 65+ underwent surgery in the past year - the highest annual prevalence of any age group' (19.4% vs 80.6%). Status: verified, uncited. Pre-pub flag: Yes - Kyle's Jun 26 memo: ref 3 Bandeen-Roche 'Corrupted', real paper is e421. The 19.1% figure was removed (fixed); the ref was deleted on Jun 29, not corrected (not fixed).</a:t>
            </a:r>
          </a:p>
          <a:p>
            <a:r>
              <a:rPr lang="en-US"/>
              <a:t>Bicket 2024: 'age 65 years and over (19.4%, 95% CI = 18.3%-20.4%)'; 'The highest prevalence was identified among persons 65 years and older'. 2018 NHIS.</a:t>
            </a:r>
          </a:p>
          <a:p>
            <a:r>
              <a:rPr lang="en-US"/>
              <a:t>https://pmc.ncbi.nlm.nih.gov/articles/PMC11191855/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377622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#17 (full-audit.md): p.10 'Platform results': 'Up to 20% Medicare reimbursement impact', '$85M new revenue over 5 years', '70-80% Readmission ID rate', 'ROI is anchored to documented per-system Medicare reimbursement gains'; p.2 contents 'Rainfall Health platform results &amp; next steps'. Status: unverifiable-internal / unsupported. Pre-pub flag: No.</a:t>
            </a:r>
          </a:p>
          <a:p>
            <a:r>
              <a:rPr lang="en-US"/>
              <a:t>MedCity (Feb 20, 2026): CEO Eddie Qureshi: 'unlocking up to $85 million in new Medicare revenue over the next five years'; 'up to a 20% revenue increase' (a misreading of TEAM's 20% stop-gain). Rainfall PR Feb 18: 'gain 20% in increased revenue', 'more than $100 million in new revenue per Health System'. Jul 27 PR: 'up to $85M'. No model or method cited. 70-80% readmission ID rate: no source found anywhere (PRs, MedCity, Rainfall site, Slack). Company facts ($15M Series A, Two Bear Capital, SF) are verified.</a:t>
            </a:r>
          </a:p>
          <a:p>
            <a:r>
              <a:rPr lang="en-US"/>
              <a:t>https://medcitynews.com/2026/02/rainfall-health-funding/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360276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#18 (full-audit.md): p.8 '05 | PROVEN RESULTS / What AI-enabled TEAM operations look like in practice / Case examples from California'; p.2 contents 'Proven Results - California'. Status: unsupported. Pre-pub flag: No. The page shows only hospital counts (stat boxes, map, region table). No case examples, operations, or results. (The counts themselves are wrong too: see issue #6.)</a:t>
            </a:r>
          </a:p>
          <a:p>
            <a:r>
              <a:rPr lang="en-US"/>
              <a:t>Fix: retitle 'California: where TEAM hits hardest'; contents 'California - 107 mandated hospitals'.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1311725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#19 (full-audit.md): disclaimer '...using publicly available data and published sources available at the time of analysis'. Status: wrong. Pre-pub flag: No (wording added after draft 02). Refs 13 (Rainfall 'California TEAM-Mandated Hospitals Brief', Apr 2026) and 14 (Rainfall 'California Episode Economics Analysis: 17-System Five-Year Exposure Model', Apr 2026) are internal Rainfall analyses, not found in Drive or Slack; ref 15's revenue figures are company claims.</a:t>
            </a:r>
          </a:p>
          <a:p>
            <a:r>
              <a:rPr lang="en-US"/>
              <a:t>Draft 02 disclaimer: 'All figures and analyses in this report were independently compiled by Christina Keny, PhD, MHA, RN, CPHQ for Rainfall Health. Procedure-share estimates are approximate...' 03/04/published add the public-sources phrase.</a:t>
            </a:r>
          </a:p>
          <a:p>
            <a:r>
              <a:rPr lang="en-US"/>
              <a:t>Fix: '...using public data, published sources, and internal Rainfall Health analyses (refs 13-14)'.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0872617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#20 (full-audit.md 7.2): p.7 '721 mandated hospitals, 204k episodes annually, and up to 20% of episode revenue at risk by PY3.' Status: wrong. Pre-pub flag: No.</a:t>
            </a:r>
          </a:p>
          <a:p>
            <a:r>
              <a:rPr lang="en-US"/>
              <a:t>TEAM Final Rule Table X.A.-02 (89 FR 69661): Track 3, PYs 1-5, all TEAM participants: 'Upside and downside risk (20% stop-gain/stop-loss limits)'. So 20% applies from PY1, not 'by PY3'. 204k is mislabeled (see issue #7 / 6.5).</a:t>
            </a:r>
          </a:p>
          <a:p>
            <a:r>
              <a:rPr lang="en-US"/>
              <a:t>Fix: '...up to 20% at risk from PY1 (Track 3)'.</a:t>
            </a:r>
          </a:p>
          <a:p>
            <a:r>
              <a:rPr lang="en-US"/>
              <a:t>https://www.federalregister.gov/d/2024-17021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975639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#21 (full-audit.md 5.8): p.5 'the procedures with the highest age skew older with the highest variation in post-acute spending, and the highest readmission rates'. Status: unsupported. Pre-pub flag: No. Garbled sentence, no citation.</a:t>
            </a:r>
          </a:p>
          <a:p>
            <a:r>
              <a:rPr lang="en-US"/>
              <a:t>TEAM Final Rule p.69711 (BPCI Advanced data): CABG approximately 22 percent of spending in the post-acute period; LEJR 204,160 episodes, more than 40 percent; SHFFT more than 63 percent. The rule doesn't rank them 'highest'.</a:t>
            </a:r>
          </a:p>
          <a:p>
            <a:r>
              <a:rPr lang="en-US"/>
              <a:t>Fix: 'these episodes have high post-acute spending (22-63% of episode cost9)' or drop.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095344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Issue #22 (full-audit.md): cosmetic leftovers. Status: wrong (minor). Pre-pub flag: Partly.</a:t>
            </a:r>
          </a:p>
          <a:p>
            <a:r>
              <a:rPr lang="en-US"/>
              <a:t>- p.9 stat box '$14.5' missing 'M': Kyle's Jun 26 memo: 'Cosmetic/template items (a missing "M," footer text, pagination) are low priority and can wait.' Not fixed.</a:t>
            </a:r>
          </a:p>
          <a:p>
            <a:r>
              <a:rPr lang="en-US"/>
              <a:t>- Footer 'May 2026' on every page; content edited through Jul 14, released Jul 27 (2.5). Not flagged.</a:t>
            </a:r>
          </a:p>
          <a:p>
            <a:r>
              <a:rPr lang="en-US"/>
              <a:t>- CPHQ on cover and disclaimer but not in footers (1.5). Not flagged.</a:t>
            </a:r>
          </a:p>
          <a:p>
            <a:r>
              <a:rPr lang="en-US"/>
              <a:t>- Reference-list fonts: refs 1-7 vs 8-15 (11.15). Mia, Aug 26, 11:48 AM PT (post-pub): 'the fonts and text colors are off for each column of references'; Carrie: 'we can update the PDF'. Not fixed.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4041719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to change (full-audit.md fixes column, issues #1-#22, in the audit's priority order). Counts: 74 of 104 claim rows need a fix; about 9 verified rows still need a citation.</a:t>
            </a:r>
          </a:p>
          <a:p>
            <a:r>
              <a:rPr lang="en-US"/>
              <a:t>Citations: ref 1 Census 2023 projections (3.2, 11.1); ref 2 HCUP SB281 for ~37% (3.3); ref 3 Hewitt 2016 (3.4); ref 5 Gill final issue (11.4); ref 8 AJRR 2024 + Burnett 2023; ref 9 CMS-1808-F; ref 10 CMS-1849-F final rule, 91 FR 49570 (verification-report.md); ref 11 HCUP SB281; ref 12 Advisory Board + ACS/IAC; ref 13 CMS participant list (11.11); ref 14 internal model (11.12); new Bicket 2024 e421 (3.19).</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64805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Citation history 1 of 3 (ref-history.md sections 1-2, proposed slide 4a). Flagged before publication: Partly (Kyle's Jun 26 memo flagged Tarazi, Becher, Bandeen-Roche and AAMC; MedPAR, CMS-5540-F and NSQIP were never flagged).</a:t>
            </a:r>
          </a:p>
          <a:p>
            <a:r>
              <a:rPr lang="en-US"/>
              <a:t>Earliest numbered version: 'Impact Report Draft Rainfall Health.docx', DMed by Annabelle to Kyle in Slack (F0BD3R42HSP, Jun 25, 5:13 PM PT). Word metadata: created/modified Jun 25, 1:04 PM PT. 12 pages, 13 numbered refs on p.12. Christina's May 5 v4 docx had no numbered footnotes, only a 'Sources:' line. Our files don't show who wrote the 13 refs.</a:t>
            </a:r>
          </a:p>
          <a:p>
            <a:r>
              <a:rPr lang="en-US"/>
              <a:t>Canva draft 01 (Jun 26, 10:16 AM) has an empty References page; draft 02 (Jun 26, 1:26 PM) has the same 13 refs word for word. Kyle, Slack Jun 26, 1:59 PM: 'i imported the reference page to more easily copy paste it in'.</a:t>
            </a:r>
          </a:p>
          <a:p>
            <a:r>
              <a:rPr lang="en-US"/>
              <a:t>Lost in the move to Canva: Jun 25 Fig 2 caption cites 3,9 (Bandeen-Roche + ACS NSQIP), page footer 'References 3, 7, 9'; Fig 1 caption cites 1 (Census, p.5); 7 after '30-day post-discharge window' (p.7). All gone by draft 01; published p.5 Fig 2 has only an unnumbered 'Sources:' line.</a:t>
            </a:r>
          </a:p>
          <a:p>
            <a:r>
              <a:rPr lang="en-US"/>
              <a:t>Docx pages rendered with LibreOffice (fonts differ from Word); text and superscripts are from the docx.</a:t>
            </a:r>
          </a:p>
          <a:p>
            <a:r>
              <a:rPr lang="en-US"/>
              <a:t>Sources: /workspace/source-verify/ref-history.md; evidence/refhist-01, refhist-07; refhist-src/00_2026-06-25_Impact-Report-Draft-Rainfall-Health.docx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7160518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Citation history 2 of 3 (ref-history.md section 2 and proposed slide 4b). Flagged before publication: Yes (Kyle's Jun 26 memo: Tarazi, Becher, Bandeen-Roche, AAMC). Verdicts from full-audit.md (plus Mali's re-check of Ho and Etzioni):</a:t>
            </a:r>
          </a:p>
          <a:p>
            <a:r>
              <a:rPr lang="en-US"/>
              <a:t>- Tarazi 2023 (J25 ref 4) -&gt; Ho 2022 JAMA Surg 157(6):499-506 (pub ref 3): fake ref gone; NOT fixed - Ho has no 74% and no over-85 figure; Hewitt 2016 has both (issue #2).</a:t>
            </a:r>
          </a:p>
          <a:p>
            <a:r>
              <a:rPr lang="en-US"/>
              <a:t>- Becher 2023 (J25 ref 2) -&gt; Etzioni 2003 Ann Surg 238(2):170-177 (pub ref 2): bad locator gone; NOT fixed - Etzioni's 40% is all hospital discharges (1999), not surgeries; ~37% is the real figure (issue #4).</a:t>
            </a:r>
          </a:p>
          <a:p>
            <a:r>
              <a:rPr lang="en-US"/>
              <a:t>- Bandeen-Roche 2024 e423 (J25 ref 3): cut, nothing replaced it. Half fixed - the 19.1% clause was cut by Jun 30, but 19.4% (stat box, Fig 2) has no numbered source; real source Bicket 2024 e421 (issue #16).</a:t>
            </a:r>
          </a:p>
          <a:p>
            <a:r>
              <a:rPr lang="en-US"/>
              <a:t>- Deiner 2014 / Gill 2022 / Tang 2020 added Jun 29 (pub refs 4-6, 'to be safe'): partly support - frailty and dementia only; nothing backs 'polypharmacy, social vulnerability' (issue #15).</a:t>
            </a:r>
          </a:p>
          <a:p>
            <a:r>
              <a:rPr lang="en-US"/>
              <a:t>- Carried word for word, only renumbered: MedPAR LOS study 6-&gt;8 (no such CMS study; AJRR 2024 + Burnett 2023, issue #8), CMS-5540-F 7-&gt;9 (TEAM rule is CMS-1808-F, issue #5), ACS NSQIP 9-&gt;11 (not found, issue #9). Also carried unchanged: Census title (1), AAMC (5-&gt;7, text still uses 2018 numbers, issue #3), Advisory Board title (10-&gt;12, issue #10), the two internal Rainfall refs (11-&gt;13, 12-&gt;14), CJR-X proposed rule (8-&gt;10, outdated), MedCity News (13-&gt;15, verified).</a:t>
            </a:r>
          </a:p>
          <a:p>
            <a:r>
              <a:rPr lang="en-US"/>
              <a:t>Totals J25 -&gt; print: 2 replaced, 1 cut, 3 added, 10 kept word for word.</a:t>
            </a:r>
          </a:p>
          <a:p>
            <a:r>
              <a:rPr lang="en-US"/>
              <a:t>Sources: /workspace/source-verify/ref-history.md; full-audit.md; evidence/refhist-05, refhist-06; Slack DM Christina-&gt;Kyle Jun 29, 3:04 / 3:39 / 3:42 PM PT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390872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Citation history 3 of 3 (ref-history.md section 1, 'What the Jun 29, 3:13 PM snapshot shows', and proposed slide 4c).</a:t>
            </a:r>
          </a:p>
          <a:p>
            <a:r>
              <a:rPr lang="en-US"/>
              <a:t>File: Canva export 'Surgical Reform Decade is Here', 11 pages; PDF metadata created Jun 29, 3:13 PM PT (22:13:14 UTC). It sits between draft 02 and draft 03: 9 minutes after Christina's Ho message (3:04 PM) and 26 minutes before her Etzioni / 'For reference 3, we can eliminate' message (3:39 PM). It is not the v3 file (F0BDJP8RXUP, posted 2:26 PM): its footers already say 'Prepared by...'.</a:t>
            </a:r>
          </a:p>
          <a:p>
            <a:r>
              <a:rPr lang="en-US"/>
              <a:t>p.11: Ho 2022 added as #4 while Tarazi is still #3 (red text); Bandeen-Roche already gone; Becher still #2 (Etzioni not yet in); Deiner, Gill, Tang not yet added. Labels out of line: '5' floats with no entry, '6' sits beside AAMC, MedPAR has no number.</a:t>
            </a:r>
          </a:p>
          <a:p>
            <a:r>
              <a:rPr lang="en-US"/>
              <a:t>p.3: '...19.1% undergoing surgery within the last year.3' - 3 now lands on Tarazi; the 74% sentence's 4 lands on Ho.</a:t>
            </a:r>
          </a:p>
          <a:p>
            <a:r>
              <a:rPr lang="en-US"/>
              <a:t>Bandeen-Roche was removed before the 3:39 PM message; they were on a call from about 2:19 PM, no transcript, so not confirmed how.</a:t>
            </a:r>
          </a:p>
          <a:p>
            <a:r>
              <a:rPr lang="en-US"/>
              <a:t>By Jun 30 (draft 03): numbering cleaned up, 19.1% clause cut; the numbers behind the refs unchanged (see previous slide).</a:t>
            </a:r>
          </a:p>
          <a:p>
            <a:r>
              <a:rPr lang="en-US"/>
              <a:t>Sources: /workspace/source-verify/ref-history.md; evidence/refhist-03, refhist-04; refhist-src/02b_2026-06-29_1513_Surgical-Reform-midfix.pdf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44115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21" Type="http://schemas.openxmlformats.org/officeDocument/2006/relationships/image" Target="../media/g2s4-draft02.png"/><Relationship Id="rId23" Type="http://schemas.openxmlformats.org/officeDocument/2006/relationships/image" Target="../media/g2s4-published.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1" Type="http://schemas.openxmlformats.org/officeDocument/2006/relationships/image" Target="../media/g2s4-r1.png"/><Relationship Id="rId32" Type="http://schemas.openxmlformats.org/officeDocument/2006/relationships/image" Target="../media/g2s4-s1hdr.png"/><Relationship Id="rId33" Type="http://schemas.openxmlformats.org/officeDocument/2006/relationships/image" Target="../media/g2s4-s1num.png"/><Relationship Id="rId34" Type="http://schemas.openxmlformats.org/officeDocument/2006/relationships/image" Target="../media/g2s4-s1act.png"/><Relationship Id="rId35" Type="http://schemas.openxmlformats.org/officeDocument/2006/relationships/image" Target="../media/g2s4-s2hdr.png"/><Relationship Id="rId36" Type="http://schemas.openxmlformats.org/officeDocument/2006/relationships/image" Target="../media/g2s4-s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700" Type="http://schemas.openxmlformats.org/officeDocument/2006/relationships/image" Target="../media/g3x-s8-r1.png"/><Relationship Id="rId701" Type="http://schemas.openxmlformats.org/officeDocument/2006/relationships/image" Target="../media/g3x-s8-r2.png"/><Relationship Id="rId702" Type="http://schemas.openxmlformats.org/officeDocument/2006/relationships/image" Target="../media/g3x-s8-r3.png"/><Relationship Id="rId703" Type="http://schemas.openxmlformats.org/officeDocument/2006/relationships/image" Target="../media/g3x-s8-s1.png"/><Relationship Id="rId704" Type="http://schemas.openxmlformats.org/officeDocument/2006/relationships/image" Target="../media/g3x-s8-s2.png"/><Relationship Id="rId705" Type="http://schemas.openxmlformats.org/officeDocument/2006/relationships/image" Target="../media/g3x-s8-s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1" Type="http://schemas.openxmlformats.org/officeDocument/2006/relationships/image" Target="../media/g2s6-r1.png"/><Relationship Id="rId32" Type="http://schemas.openxmlformats.org/officeDocument/2006/relationships/image" Target="../media/g2s6-r2.png"/><Relationship Id="rId33" Type="http://schemas.openxmlformats.org/officeDocument/2006/relationships/image" Target="../media/g2s6-r3.png"/><Relationship Id="rId34" Type="http://schemas.openxmlformats.org/officeDocument/2006/relationships/image" Target="../media/g2s6-s1.png"/><Relationship Id="rId35" Type="http://schemas.openxmlformats.org/officeDocument/2006/relationships/image" Target="../media/g2s6-s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1" Type="http://schemas.openxmlformats.org/officeDocument/2006/relationships/image" Target="../media/g3s7-r1.png"/><Relationship Id="rId32" Type="http://schemas.openxmlformats.org/officeDocument/2006/relationships/image" Target="../media/g3s7-r2.png"/><Relationship Id="rId33" Type="http://schemas.openxmlformats.org/officeDocument/2006/relationships/image" Target="../media/g3s7-s1.png"/><Relationship Id="rId34" Type="http://schemas.openxmlformats.org/officeDocument/2006/relationships/image" Target="../media/g3s7-s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1" Type="http://schemas.openxmlformats.org/officeDocument/2006/relationships/image" Target="../media/g3s8-r1.png"/><Relationship Id="rId32" Type="http://schemas.openxmlformats.org/officeDocument/2006/relationships/image" Target="../media/g3s8-r2.png"/><Relationship Id="rId33" Type="http://schemas.openxmlformats.org/officeDocument/2006/relationships/image" Target="../media/g3s8-r3.png"/><Relationship Id="rId34" Type="http://schemas.openxmlformats.org/officeDocument/2006/relationships/image" Target="../media/g3s8-s1.png"/><Relationship Id="rId35" Type="http://schemas.openxmlformats.org/officeDocument/2006/relationships/image" Target="../media/g3s8-s1b.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700" Type="http://schemas.openxmlformats.org/officeDocument/2006/relationships/image" Target="../media/g3s9-r1.png"/><Relationship Id="rId701" Type="http://schemas.openxmlformats.org/officeDocument/2006/relationships/image" Target="../media/g3s9-r2.png"/><Relationship Id="rId702" Type="http://schemas.openxmlformats.org/officeDocument/2006/relationships/image" Target="../media/g7x-s19-r3.png"/><Relationship Id="rId703" Type="http://schemas.openxmlformats.org/officeDocument/2006/relationships/image" Target="../media/g3s9-s0.png"/><Relationship Id="rId704" Type="http://schemas.openxmlformats.org/officeDocument/2006/relationships/image" Target="../media/g3s9-s1.png"/><Relationship Id="rId705" Type="http://schemas.openxmlformats.org/officeDocument/2006/relationships/image" Target="../media/g3s9-s2.png"/><Relationship Id="rId706" Type="http://schemas.openxmlformats.org/officeDocument/2006/relationships/image" Target="../media/g7x-s19-s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700" Type="http://schemas.openxmlformats.org/officeDocument/2006/relationships/image" Target="../media/g4s10-r1b.png"/><Relationship Id="rId701" Type="http://schemas.openxmlformats.org/officeDocument/2006/relationships/image" Target="../media/g4s10-r2b.png"/><Relationship Id="rId702" Type="http://schemas.openxmlformats.org/officeDocument/2006/relationships/image" Target="../media/g4s10-r3b.png"/><Relationship Id="rId703" Type="http://schemas.openxmlformats.org/officeDocument/2006/relationships/image" Target="../media/g4s10-s1b.png"/><Relationship Id="rId704" Type="http://schemas.openxmlformats.org/officeDocument/2006/relationships/image" Target="../media/g4s10-s2b.png"/><Relationship Id="rId705" Type="http://schemas.openxmlformats.org/officeDocument/2006/relationships/image" Target="../media/g4s10-s3b.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1" Type="http://schemas.openxmlformats.org/officeDocument/2006/relationships/image" Target="../media/g1s3-memo.png"/><Relationship Id="rId33" Type="http://schemas.openxmlformats.org/officeDocument/2006/relationships/image" Target="../media/g1s3-table.png"/><Relationship Id="rId34" Type="http://schemas.openxmlformats.org/officeDocument/2006/relationships/image" Target="../media/g1s3-tarazi.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700" Type="http://schemas.openxmlformats.org/officeDocument/2006/relationships/image" Target="../media/g3x-s9-r1.png"/><Relationship Id="rId701" Type="http://schemas.openxmlformats.org/officeDocument/2006/relationships/image" Target="../media/g3x-s9-r2.png"/><Relationship Id="rId702" Type="http://schemas.openxmlformats.org/officeDocument/2006/relationships/image" Target="../media/g3x-s9-r3.png"/><Relationship Id="rId703" Type="http://schemas.openxmlformats.org/officeDocument/2006/relationships/image" Target="../media/g3x-s9-s1.png"/><Relationship Id="rId704" Type="http://schemas.openxmlformats.org/officeDocument/2006/relationships/image" Target="../media/g3x-s9-s2.png"/><Relationship Id="rId705" Type="http://schemas.openxmlformats.org/officeDocument/2006/relationships/image" Target="../media/g3x-s9-s3.png"/><Relationship Id="rId706" Type="http://schemas.openxmlformats.org/officeDocument/2006/relationships/image" Target="../media/g3x-s9-s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21" Type="http://schemas.openxmlformats.org/officeDocument/2006/relationships/image" Target="../media/g1s3-r1.png"/><Relationship Id="rId22" Type="http://schemas.openxmlformats.org/officeDocument/2006/relationships/image" Target="../media/g1s3-r2.png"/><Relationship Id="rId23" Type="http://schemas.openxmlformats.org/officeDocument/2006/relationships/image" Target="../media/g1s3-s1title.png"/><Relationship Id="rId24" Type="http://schemas.openxmlformats.org/officeDocument/2006/relationships/image" Target="../media/g1s3-s1left.png"/><Relationship Id="rId25" Type="http://schemas.openxmlformats.org/officeDocument/2006/relationships/image" Target="../media/g1s3-s1right.png"/><Relationship Id="rId26" Type="http://schemas.openxmlformats.org/officeDocument/2006/relationships/image" Target="../media/g1s3-s1legend.png"/><Relationship Id="rId27" Type="http://schemas.openxmlformats.org/officeDocument/2006/relationships/image" Target="../media/g1s3-s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1" Type="http://schemas.openxmlformats.org/officeDocument/2006/relationships/image" Target="../media/g4s10-r1.png"/><Relationship Id="rId32" Type="http://schemas.openxmlformats.org/officeDocument/2006/relationships/image" Target="../media/g4s10-r2.png"/><Relationship Id="rId33" Type="http://schemas.openxmlformats.org/officeDocument/2006/relationships/image" Target="../media/g4s10-r3.png"/><Relationship Id="rId34" Type="http://schemas.openxmlformats.org/officeDocument/2006/relationships/image" Target="../media/g4s10-s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700" Type="http://schemas.openxmlformats.org/officeDocument/2006/relationships/image" Target="../media/g6x-s16-r1.png"/><Relationship Id="rId701" Type="http://schemas.openxmlformats.org/officeDocument/2006/relationships/image" Target="../media/g6x-s16-r2.png"/><Relationship Id="rId702" Type="http://schemas.openxmlformats.org/officeDocument/2006/relationships/image" Target="../media/g6x-s16-r3.png"/><Relationship Id="rId703" Type="http://schemas.openxmlformats.org/officeDocument/2006/relationships/image" Target="../media/g6x-s16-s1.png"/><Relationship Id="rId704" Type="http://schemas.openxmlformats.org/officeDocument/2006/relationships/image" Target="../media/g6x-s16-s2.png"/><Relationship Id="rId705" Type="http://schemas.openxmlformats.org/officeDocument/2006/relationships/image" Target="../media/g6x-s16-s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700" Type="http://schemas.openxmlformats.org/officeDocument/2006/relationships/image" Target="../media/g6x-s17-r1.png"/><Relationship Id="rId701" Type="http://schemas.openxmlformats.org/officeDocument/2006/relationships/image" Target="../media/g6x-s17-r2.png"/><Relationship Id="rId702" Type="http://schemas.openxmlformats.org/officeDocument/2006/relationships/image" Target="../media/g6x-s17-r3.png"/><Relationship Id="rId703" Type="http://schemas.openxmlformats.org/officeDocument/2006/relationships/image" Target="../media/g6x-s17-r4.png"/><Relationship Id="rId704" Type="http://schemas.openxmlformats.org/officeDocument/2006/relationships/image" Target="../media/g6x-s17-s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1" Type="http://schemas.openxmlformats.org/officeDocument/2006/relationships/image" Target="../media/g2s5-r1.png"/><Relationship Id="rId32" Type="http://schemas.openxmlformats.org/officeDocument/2006/relationships/image" Target="../media/g2s5-r2.png"/><Relationship Id="rId33" Type="http://schemas.openxmlformats.org/officeDocument/2006/relationships/image" Target="../media/g2s5-s1hdr.png"/><Relationship Id="rId34" Type="http://schemas.openxmlformats.org/officeDocument/2006/relationships/image" Target="../media/g2s5-s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700" Type="http://schemas.openxmlformats.org/officeDocument/2006/relationships/image" Target="../media/g7x-s20-r1.png"/><Relationship Id="rId701" Type="http://schemas.openxmlformats.org/officeDocument/2006/relationships/image" Target="../media/g7x-s20-r2.png"/><Relationship Id="rId702" Type="http://schemas.openxmlformats.org/officeDocument/2006/relationships/image" Target="../media/g7x-s20-s1.png"/><Relationship Id="rId703" Type="http://schemas.openxmlformats.org/officeDocument/2006/relationships/image" Target="../media/g7x-s20-s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700" Type="http://schemas.openxmlformats.org/officeDocument/2006/relationships/image" Target="../media/g7x-s21-r1.png"/><Relationship Id="rId701" Type="http://schemas.openxmlformats.org/officeDocument/2006/relationships/image" Target="../media/g7x-s21-r2.png"/><Relationship Id="rId702" Type="http://schemas.openxmlformats.org/officeDocument/2006/relationships/image" Target="../media/g7x-s21-s1.png"/><Relationship Id="rId703" Type="http://schemas.openxmlformats.org/officeDocument/2006/relationships/image" Target="../media/g7x-s21-s2.png"/><Relationship Id="rId704" Type="http://schemas.openxmlformats.org/officeDocument/2006/relationships/image" Target="../media/g7x-s21-s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700" Type="http://schemas.openxmlformats.org/officeDocument/2006/relationships/image" Target="../media/g8x-s22-r1.png"/><Relationship Id="rId701" Type="http://schemas.openxmlformats.org/officeDocument/2006/relationships/image" Target="../media/g8x-s22-r2.png"/><Relationship Id="rId702" Type="http://schemas.openxmlformats.org/officeDocument/2006/relationships/image" Target="../media/g8x-s22-r3.png"/><Relationship Id="rId703" Type="http://schemas.openxmlformats.org/officeDocument/2006/relationships/image" Target="../media/g8x-s22-s1.png"/><Relationship Id="rId704" Type="http://schemas.openxmlformats.org/officeDocument/2006/relationships/image" Target="../media/g8x-s22-s2.png"/><Relationship Id="rId705" Type="http://schemas.openxmlformats.org/officeDocument/2006/relationships/image" Target="../media/g8x-s22-s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700" Type="http://schemas.openxmlformats.org/officeDocument/2006/relationships/image" Target="../media/g8x-s23-r1.png"/><Relationship Id="rId701" Type="http://schemas.openxmlformats.org/officeDocument/2006/relationships/image" Target="../media/g8x-s23-r2.png"/><Relationship Id="rId702" Type="http://schemas.openxmlformats.org/officeDocument/2006/relationships/image" Target="../media/g8x-s23-r3.png"/><Relationship Id="rId703" Type="http://schemas.openxmlformats.org/officeDocument/2006/relationships/image" Target="../media/g8x-s23-s1.png"/><Relationship Id="rId704" Type="http://schemas.openxmlformats.org/officeDocument/2006/relationships/image" Target="../media/g8x-s23-s2.png"/><Relationship Id="rId705" Type="http://schemas.openxmlformats.org/officeDocument/2006/relationships/image" Target="../media/g8x-s23-s3.png"/><Relationship Id="rId706" Type="http://schemas.openxmlformats.org/officeDocument/2006/relationships/image" Target="../media/g8x-s23-s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700" Type="http://schemas.openxmlformats.org/officeDocument/2006/relationships/image" Target="../media/g8x-s24-r1.png"/><Relationship Id="rId701" Type="http://schemas.openxmlformats.org/officeDocument/2006/relationships/image" Target="../media/g8x-s24-r2.png"/><Relationship Id="rId702" Type="http://schemas.openxmlformats.org/officeDocument/2006/relationships/image" Target="../media/g8x-s24-s1.png"/><Relationship Id="rId703" Type="http://schemas.openxmlformats.org/officeDocument/2006/relationships/image" Target="../media/g8x-s24-s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700" Type="http://schemas.openxmlformats.org/officeDocument/2006/relationships/image" Target="../media/g9x-s25-r1.png"/><Relationship Id="rId701" Type="http://schemas.openxmlformats.org/officeDocument/2006/relationships/image" Target="../media/g9x-s25-s1.png"/><Relationship Id="rId702" Type="http://schemas.openxmlformats.org/officeDocument/2006/relationships/image" Target="../media/g9x-s25-s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700" Type="http://schemas.openxmlformats.org/officeDocument/2006/relationships/image" Target="../media/g9x-s26-r1.png"/><Relationship Id="rId701" Type="http://schemas.openxmlformats.org/officeDocument/2006/relationships/image" Target="../media/g9x-s26-s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700" Type="http://schemas.openxmlformats.org/officeDocument/2006/relationships/image" Target="../media/g9x-s27-r1.png"/><Relationship Id="rId701" Type="http://schemas.openxmlformats.org/officeDocument/2006/relationships/image" Target="../media/g9x-s27-s1.png"/><Relationship Id="rId702" Type="http://schemas.openxmlformats.org/officeDocument/2006/relationships/image" Target="../media/g9x-s27-s2.png"/><Relationship Id="rId703" Type="http://schemas.openxmlformats.org/officeDocument/2006/relationships/image" Target="../media/g9x-s27-s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700" Type="http://schemas.openxmlformats.org/officeDocument/2006/relationships/image" Target="../media/g10x-s28-r1.png"/><Relationship Id="rId701" Type="http://schemas.openxmlformats.org/officeDocument/2006/relationships/image" Target="../media/g10x-s28-r2.png"/><Relationship Id="rId702" Type="http://schemas.openxmlformats.org/officeDocument/2006/relationships/image" Target="../media/g10x-s28-r3.png"/><Relationship Id="rId703" Type="http://schemas.openxmlformats.org/officeDocument/2006/relationships/image" Target="../media/g10x-s28-r4.png"/><Relationship Id="rId704" Type="http://schemas.openxmlformats.org/officeDocument/2006/relationships/image" Target="../media/g10x-s28-s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700" Type="http://schemas.openxmlformats.org/officeDocument/2006/relationships/image" Target="../media/g11x-s5-r1.png"/><Relationship Id="rId701" Type="http://schemas.openxmlformats.org/officeDocument/2006/relationships/image" Target="../media/g11x-s5-s1.png"/><Relationship Id="rId702" Type="http://schemas.openxmlformats.org/officeDocument/2006/relationships/image" Target="../media/g11x-s5-s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700" Type="http://schemas.openxmlformats.org/officeDocument/2006/relationships/image" Target="../media/g11x-s6-r1.png"/><Relationship Id="rId701" Type="http://schemas.openxmlformats.org/officeDocument/2006/relationships/image" Target="../media/g11x-s6-s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700" Type="http://schemas.openxmlformats.org/officeDocument/2006/relationships/image" Target="../media/g11x-s7-r1.png"/><Relationship Id="rId701" Type="http://schemas.openxmlformats.org/officeDocument/2006/relationships/image" Target="../media/g11x-s7-s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761134" y="-3641141"/>
            <a:ext cx="4894783" cy="4894783"/>
          </a:xfrm>
          <a:prstGeom prst="ellipse">
            <a:avLst/>
          </a:prstGeom>
          <a:ln w="12700">
            <a:solidFill>
              <a:srgbClr val="82EEE4"/>
            </a:solidFill>
            <a:prstDash val="solid"/>
          </a:ln>
        </p:spPr>
      </p:sp>
      <p:sp>
        <p:nvSpPr>
          <p:cNvPr id="3" name="Shape 1"/>
          <p:cNvSpPr/>
          <p:nvPr/>
        </p:nvSpPr>
        <p:spPr>
          <a:xfrm>
            <a:off x="8054950" y="3598164"/>
            <a:ext cx="4894783" cy="4894783"/>
          </a:xfrm>
          <a:prstGeom prst="ellipse">
            <a:avLst/>
          </a:prstGeom>
          <a:ln w="12700">
            <a:solidFill>
              <a:srgbClr val="82EEE4"/>
            </a:solidFill>
            <a:prstDash val="solid"/>
          </a:ln>
        </p:spPr>
      </p:sp>
      <p:sp>
        <p:nvSpPr>
          <p:cNvPr id="4" name="Shape 2"/>
          <p:cNvSpPr/>
          <p:nvPr/>
        </p:nvSpPr>
        <p:spPr>
          <a:xfrm>
            <a:off x="9019642" y="3672230"/>
            <a:ext cx="4894783" cy="4894783"/>
          </a:xfrm>
          <a:prstGeom prst="ellipse">
            <a:avLst/>
          </a:prstGeom>
          <a:solidFill>
            <a:srgbClr val="82EEE4">
              <a:alpha val="39000"/>
            </a:srgbClr>
          </a:solidFill>
          <a:ln/>
        </p:spPr>
      </p:sp>
      <p:sp>
        <p:nvSpPr>
          <p:cNvPr id="5" name="Shape 3"/>
          <p:cNvSpPr/>
          <p:nvPr/>
        </p:nvSpPr>
        <p:spPr>
          <a:xfrm>
            <a:off x="8490204" y="3901745"/>
            <a:ext cx="4894783" cy="4894783"/>
          </a:xfrm>
          <a:prstGeom prst="ellipse">
            <a:avLst/>
          </a:prstGeom>
          <a:solidFill>
            <a:srgbClr val="A3E5F9">
              <a:alpha val="52000"/>
            </a:srgbClr>
          </a:solidFill>
          <a:ln/>
        </p:spPr>
      </p:sp>
      <p:sp>
        <p:nvSpPr>
          <p:cNvPr id="6" name="Shape 4"/>
          <p:cNvSpPr/>
          <p:nvPr/>
        </p:nvSpPr>
        <p:spPr>
          <a:xfrm>
            <a:off x="8432597" y="3736238"/>
            <a:ext cx="4364431" cy="4394606"/>
          </a:xfrm>
          <a:prstGeom prst="ellipse">
            <a:avLst/>
          </a:prstGeom>
          <a:solidFill>
            <a:srgbClr val="15517A"/>
          </a:solidFill>
          <a:ln/>
        </p:spPr>
      </p:sp>
      <p:sp>
        <p:nvSpPr>
          <p:cNvPr id="8" name="Text 6"/>
          <p:cNvSpPr txBox="1"/>
          <p:nvPr/>
        </p:nvSpPr>
        <p:spPr>
          <a:xfrm>
            <a:off x="685800" y="1234440"/>
            <a:ext cx="8595360" cy="2377440"/>
          </a:xfrm>
          <a:prstGeom prst="rect">
            <a:avLst/>
          </a:prstGeom>
          <a:noFill/>
          <a:ln/>
        </p:spPr>
        <p:txBody>
          <a:bodyPr wrap="square" rtlCol="0" anchor="t"/>
          <a:lstStyle/>
          <a:p>
            <a:pPr algn="l" marL="0" indent="0">
              <a:lnSpc>
                <a:spcPct val="95000"/>
              </a:lnSpc>
              <a:buNone/>
            </a:pPr>
            <a:r>
              <a:rPr lang="en-US" sz="5400" dirty="0">
                <a:solidFill>
                  <a:srgbClr val="6DCFF6"/>
                </a:solidFill>
                <a:latin typeface="urbanist"/>
                <a:ea typeface="urbanist"/>
                <a:cs typeface="urbanist"/>
              </a:rPr>
              <a:t>CMS TEAM Impact Report</a:t>
            </a:r>
          </a:p>
          <a:p>
            <a:pPr algn="l" marL="0" indent="0">
              <a:lnSpc>
                <a:spcPct val="95000"/>
              </a:lnSpc>
              <a:buNone/>
            </a:pPr>
            <a:r>
              <a:rPr lang="en-US" sz="5400" dirty="0">
                <a:solidFill>
                  <a:srgbClr val="09254A"/>
                </a:solidFill>
                <a:latin typeface="urbanist"/>
                <a:ea typeface="urbanist"/>
                <a:cs typeface="urbanist"/>
              </a:rPr>
              <a:t>Full Source Audit</a:t>
            </a:r>
          </a:p>
        </p:txBody>
      </p:sp>
      <p:sp>
        <p:nvSpPr>
          <p:cNvPr id="11" name="Text 9"/>
          <p:cNvSpPr txBox="1"/>
          <p:nvPr/>
        </p:nvSpPr>
        <p:spPr>
          <a:xfrm>
            <a:off x="685800" y="5074920"/>
            <a:ext cx="7863840" cy="338328"/>
          </a:xfrm>
          <a:prstGeom prst="rect">
            <a:avLst/>
          </a:prstGeom>
          <a:noFill/>
          <a:ln/>
        </p:spPr>
        <p:txBody>
          <a:bodyPr wrap="square" rtlCol="0" anchor="t"/>
          <a:lstStyle/>
          <a:p>
            <a:pPr algn="l" marL="0" indent="0">
              <a:buNone/>
            </a:pPr>
            <a:r>
              <a:rPr lang="en-US" sz="1400" dirty="0">
                <a:solidFill>
                  <a:srgbClr val="09254A"/>
                </a:solidFill>
                <a:latin typeface="urbanist"/>
                <a:ea typeface="urbanist"/>
                <a:cs typeface="urbanist"/>
              </a:rPr>
              <a:t>Rainfall Health report by Christina Keny, PhD · published Jul 27, 2026 (footer reads May 2026)</a:t>
            </a:r>
          </a:p>
        </p:txBody>
      </p:sp>
      <p:sp>
        <p:nvSpPr>
          <p:cNvPr id="12" name="Text 10"/>
          <p:cNvSpPr txBox="1"/>
          <p:nvPr/>
        </p:nvSpPr>
        <p:spPr>
          <a:xfrm>
            <a:off x="685800" y="4069080"/>
            <a:ext cx="7223760" cy="777240"/>
          </a:xfrm>
          <a:prstGeom prst="rect">
            <a:avLst/>
          </a:prstGeom>
          <a:noFill/>
          <a:ln/>
        </p:spPr>
        <p:txBody>
          <a:bodyPr wrap="square" rtlCol="0" anchor="t"/>
          <a:lstStyle/>
          <a:p>
            <a:pPr algn="l" marL="0" indent="0">
              <a:lnSpc>
                <a:spcPct val="125000"/>
              </a:lnSpc>
              <a:buNone/>
            </a:pPr>
            <a:r>
              <a:rPr lang="en-US" sz="1800" dirty="0">
                <a:solidFill>
                  <a:srgbClr val="7A748A"/>
                </a:solidFill>
                <a:latin typeface="Nunito Light"/>
                <a:ea typeface="Nunito Light"/>
                <a:cs typeface="Nunito Light"/>
              </a:rPr>
              <a:t>104 claims checked against primary sources</a:t>
            </a:r>
          </a:p>
          <a:p>
            <a:pPr algn="l" marL="0" indent="0">
              <a:lnSpc>
                <a:spcPct val="125000"/>
              </a:lnSpc>
              <a:buNone/>
            </a:pPr>
            <a:r>
              <a:rPr lang="en-US" sz="1800" dirty="0">
                <a:solidFill>
                  <a:srgbClr val="7A748A"/>
                </a:solidFill>
                <a:latin typeface="Nunito Light"/>
                <a:ea typeface="Nunito Light"/>
                <a:cs typeface="Nunito Light"/>
              </a:rPr>
              <a:t>Prepared by Kyle McAuliffe · Oct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4884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Partly</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Reference list: </a:t>
            </a:r>
            <a:r>
              <a:rPr lang="en-US" sz="2800" dirty="0">
                <a:solidFill>
                  <a:srgbClr val="09254A"/>
                </a:solidFill>
                <a:latin typeface="urbanist"/>
                <a:ea typeface="urbanist"/>
                <a:cs typeface="urbanist"/>
              </a:rPr>
              <a:t>3 swapped or cut, </a:t>
            </a:r>
            <a:r>
              <a:rPr lang="en-US" sz="2800" dirty="0">
                <a:solidFill>
                  <a:srgbClr val="6DCFF6"/>
                </a:solidFill>
                <a:latin typeface="urbanist"/>
                <a:ea typeface="urbanist"/>
                <a:cs typeface="urbanist"/>
              </a:rPr>
              <a:t>at least 3 wrong ones kept</a:t>
            </a:r>
            <a:endParaRPr lang="en-US" dirty="0"/>
          </a:p>
        </p:txBody>
      </p:sp>
      <p:sp>
        <p:nvSpPr>
          <p:cNvPr id="22" name="Status 22"/>
          <p:cNvSpPr/>
          <p:nvPr/>
        </p:nvSpPr>
        <p:spPr>
          <a:xfrm>
            <a:off x="3154680" y="534924"/>
            <a:ext cx="1463040" cy="310896"/>
          </a:xfrm>
          <a:prstGeom prst="roundRect">
            <a:avLst>
              <a:gd name="adj" fmla="val 50000"/>
            </a:avLst>
          </a:prstGeom>
          <a:solidFill>
            <a:srgbClr val="C47F00"/>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Partly fixed</a:t>
            </a:r>
          </a:p>
        </p:txBody>
      </p:sp>
      <p:sp>
        <p:nvSpPr>
          <p:cNvPr id="30" name="Report Header"/>
          <p:cNvSpPr/>
          <p:nvPr/>
        </p:nvSpPr>
        <p:spPr>
          <a:xfrm>
            <a:off x="685800"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Draft 02 · Jun 26, 1:26 PM</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13 refs</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Draft 03 (Jun 30) = published</a:t>
            </a:r>
            <a:endParaRPr lang="en-US" dirty="0"/>
          </a:p>
        </p:txBody>
      </p:sp>
      <p:sp>
        <p:nvSpPr>
          <p:cNvPr id="34" name="Source Label"/>
          <p:cNvSpPr/>
          <p:nvPr/>
        </p:nvSpPr>
        <p:spPr>
          <a:xfrm>
            <a:off x="10040112"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15 refs</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What changed: </a:t>
            </a:r>
            <a:r>
              <a:rPr lang="en-US" sz="1300" dirty="0">
                <a:solidFill>
                  <a:srgbClr val="FFFFFF"/>
                </a:solidFill>
                <a:latin typeface="Nunito Light"/>
                <a:ea typeface="Nunito Light"/>
                <a:cs typeface="Nunito Light"/>
              </a:rPr>
              <a:t>Tarazi → Ho 2022 and Becher → Etzioni 2003, but neither backs the numbers · Bandeen-Roche cut, so 19.4% is uncited · Deiner, Gill, Tang added · MedPAR, CMS-5540-F and NSQIP carried over word for word, still wrong</a:t>
            </a:r>
            <a:endParaRPr lang="en-US" dirty="0"/>
          </a:p>
        </p:txBody>
      </p:sp>
      <p:sp>
        <p:nvSpPr>
          <p:cNvPr id="201" name="Crop Label 201"/>
          <p:cNvSpPr txBox="1"/>
          <p:nvPr/>
        </p:nvSpPr>
        <p:spPr>
          <a:xfrm>
            <a:off x="822960" y="2176272"/>
            <a:ext cx="5029200" cy="182880"/>
          </a:xfrm>
          <a:prstGeom prst="rect">
            <a:avLst/>
          </a:prstGeom>
          <a:noFill/>
        </p:spPr>
        <p:txBody>
          <a:bodyPr wrap="square" lIns="0" tIns="0" rIns="0" bIns="0" anchor="b">
            <a:noAutofit/>
          </a:bodyPr>
          <a:lstStyle/>
          <a:p>
            <a:pPr algn="l"/>
            <a:r>
              <a:rPr lang="en-US" sz="900" b="1" dirty="0">
                <a:solidFill>
                  <a:srgbClr val="4F4A5E"/>
                </a:solidFill>
                <a:latin typeface="urbanist"/>
                <a:ea typeface="urbanist"/>
                <a:cs typeface="urbanist"/>
              </a:rPr>
              <a:t>Matches Jun 25 draft word for word. Yellow = replaced/cut (2-4); orange = still wrong (6, 7, 9)</a:t>
            </a:r>
          </a:p>
        </p:txBody>
      </p:sp>
      <p:pic>
        <p:nvPicPr>
          <p:cNvPr id="202" name="Crop g2s4-draft02"/>
          <p:cNvPicPr>
            <a:picLocks noChangeAspect="1"/>
          </p:cNvPicPr>
          <p:nvPr/>
        </p:nvPicPr>
        <p:blipFill>
          <a:blip r:embed="rId21"/>
          <a:stretch>
            <a:fillRect/>
          </a:stretch>
        </p:blipFill>
        <p:spPr>
          <a:xfrm>
            <a:off x="822960" y="2432304"/>
            <a:ext cx="5029200" cy="2511821"/>
          </a:xfrm>
          <a:prstGeom prst="rect">
            <a:avLst/>
          </a:prstGeom>
          <a:ln w="6350">
            <a:solidFill>
              <a:srgbClr val="D9D9D9"/>
            </a:solidFill>
          </a:ln>
        </p:spPr>
      </p:pic>
      <p:sp>
        <p:nvSpPr>
          <p:cNvPr id="205" name="Crop Label 205"/>
          <p:cNvSpPr txBox="1"/>
          <p:nvPr/>
        </p:nvSpPr>
        <p:spPr>
          <a:xfrm>
            <a:off x="6336792" y="217627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Published: yellow = new refs 2-6; orange = same 3 wrong refs, now 8, 9, 11</a:t>
            </a:r>
          </a:p>
        </p:txBody>
      </p:sp>
      <p:pic>
        <p:nvPicPr>
          <p:cNvPr id="206" name="Crop g2s4-published"/>
          <p:cNvPicPr>
            <a:picLocks noChangeAspect="1"/>
          </p:cNvPicPr>
          <p:nvPr/>
        </p:nvPicPr>
        <p:blipFill>
          <a:blip r:embed="rId23"/>
          <a:stretch>
            <a:fillRect/>
          </a:stretch>
        </p:blipFill>
        <p:spPr>
          <a:xfrm>
            <a:off x="6605975" y="2432304"/>
            <a:ext cx="4490832" cy="2697480"/>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drafts/02 (Jun 26, 1:26 PM PT, p.12) vs drafts/03 (Jun 30) and published PDF p.11 (03, 04 and published lists are identical); full-audit.md, Reference list by version</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26364"/>
            <a:ext cx="188366" cy="0"/>
          </a:xfrm>
          <a:prstGeom prst="line">
            <a:avLst/>
          </a:prstGeom>
          <a:noFill/>
          <a:ln w="19050">
            <a:solidFill>
              <a:srgbClr val="6DCFF6"/>
            </a:solidFill>
            <a:prstDash val="solid"/>
          </a:ln>
        </p:spPr>
      </p:sp>
      <p:sp>
        <p:nvSpPr>
          <p:cNvPr id="3" name="Text 1"/>
          <p:cNvSpPr txBox="1"/>
          <p:nvPr/>
        </p:nvSpPr>
        <p:spPr>
          <a:xfrm>
            <a:off x="914400" y="502920"/>
            <a:ext cx="228600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Pre-publication review</a:t>
            </a:r>
          </a:p>
        </p:txBody>
      </p:sp>
      <p:sp>
        <p:nvSpPr>
          <p:cNvPr id="4" name="Text 2"/>
          <p:cNvSpPr txBox="1"/>
          <p:nvPr/>
        </p:nvSpPr>
        <p:spPr>
          <a:xfrm>
            <a:off x="685800" y="731520"/>
            <a:ext cx="7315200" cy="868680"/>
          </a:xfrm>
          <a:prstGeom prst="rect">
            <a:avLst/>
          </a:prstGeom>
          <a:noFill/>
          <a:ln/>
        </p:spPr>
        <p:txBody>
          <a:bodyPr wrap="square" rtlCol="0" anchor="t"/>
          <a:lstStyle/>
          <a:p>
            <a:pPr algn="l" marL="0" indent="0">
              <a:buNone/>
            </a:pPr>
            <a:r>
              <a:rPr lang="en-US" sz="4800" b="1" dirty="0">
                <a:solidFill>
                  <a:srgbClr val="09254A"/>
                </a:solidFill>
                <a:latin typeface="urbanist"/>
                <a:ea typeface="urbanist"/>
                <a:cs typeface="urbanist"/>
              </a:rPr>
              <a:t>What </a:t>
            </a:r>
            <a:r>
              <a:rPr lang="en-US" sz="4800" dirty="0">
                <a:solidFill>
                  <a:srgbClr val="6DCFF6"/>
                </a:solidFill>
                <a:latin typeface="urbanist"/>
                <a:ea typeface="urbanist"/>
                <a:cs typeface="urbanist"/>
              </a:rPr>
              <a:t>slipped through</a:t>
            </a:r>
          </a:p>
        </p:txBody>
      </p:sp>
      <p:sp>
        <p:nvSpPr>
          <p:cNvPr id="55" name="Footnote 55"/>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Ref 8 sits on the left: Kyle's Jun 26 memo asked to re-source the length-of-stay figure. Source: full-audit.md issue list and pre-pub flags; slack-history/history.md (b), (c)</a:t>
            </a:r>
          </a:p>
        </p:txBody>
      </p:sp>
      <p:sp>
        <p:nvSpPr>
          <p:cNvPr id="401" name="Col Bar 401"/>
          <p:cNvSpPr/>
          <p:nvPr/>
        </p:nvSpPr>
        <p:spPr>
          <a:xfrm>
            <a:off x="685800" y="1783080"/>
            <a:ext cx="5120640" cy="45720"/>
          </a:xfrm>
          <a:prstGeom prst="rect">
            <a:avLst/>
          </a:prstGeom>
          <a:solidFill>
            <a:srgbClr val="6DCFF6"/>
          </a:solidFill>
          <a:ln>
            <a:noFill/>
          </a:ln>
        </p:spPr>
      </p:sp>
      <p:sp>
        <p:nvSpPr>
          <p:cNvPr id="402" name="Col Head Left"/>
          <p:cNvSpPr txBox="1"/>
          <p:nvPr/>
        </p:nvSpPr>
        <p:spPr>
          <a:xfrm>
            <a:off x="685800" y="1874519"/>
            <a:ext cx="5120640" cy="384048"/>
          </a:xfrm>
          <a:prstGeom prst="rect">
            <a:avLst/>
          </a:prstGeom>
          <a:noFill/>
        </p:spPr>
        <p:txBody>
          <a:bodyPr wrap="square" lIns="0" tIns="0" rIns="0" bIns="0" anchor="t">
            <a:normAutofit/>
          </a:bodyPr>
          <a:lstStyle/>
          <a:p>
            <a:r>
              <a:rPr lang="en-US" sz="2000" b="1" dirty="0">
                <a:solidFill>
                  <a:srgbClr val="09254A"/>
                </a:solidFill>
                <a:latin typeface="urbanist"/>
                <a:ea typeface="urbanist"/>
                <a:cs typeface="urbanist"/>
              </a:rPr>
              <a:t>Flagged before publication, not fixed</a:t>
            </a:r>
          </a:p>
        </p:txBody>
      </p:sp>
      <p:sp>
        <p:nvSpPr>
          <p:cNvPr id="403" name="Text Fixes"/>
          <p:cNvSpPr txBox="1"/>
          <p:nvPr/>
        </p:nvSpPr>
        <p:spPr>
          <a:xfrm>
            <a:off x="685800" y="2377440"/>
            <a:ext cx="5120640" cy="3703320"/>
          </a:xfrm>
          <a:prstGeom prst="rect">
            <a:avLst/>
          </a:prstGeom>
          <a:noFill/>
        </p:spPr>
        <p:txBody>
          <a:bodyPr wrap="square" lIns="0" tIns="0" rIns="0" bIns="0" anchor="t">
            <a:normAutofit/>
          </a:bodyPr>
          <a:lstStyle/>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AAMC "121,000 by 2030" still contradicts the cited 2024 report</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74% / &gt;80% over 85 now cited to Ho 2022, which has neither</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19.4%: bad ref deleted, so the stat is uncited</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"40% of inpatient surgeries": Etzioni's 40% is all hospital discharges</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Ref 8 still credits a CMS MedPAR study that doesn't exist</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California "110 hospitals" (regions sum to 118; CMS lists 107)</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p.9 "$14.5" still missing the "M"</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Fig 4 "Optum" label and p.6 $14M not marked as Rainfall estimates</a:t>
            </a:r>
          </a:p>
        </p:txBody>
      </p:sp>
      <p:sp>
        <p:nvSpPr>
          <p:cNvPr id="404" name="Col Bar 404"/>
          <p:cNvSpPr/>
          <p:nvPr/>
        </p:nvSpPr>
        <p:spPr>
          <a:xfrm>
            <a:off x="6355080" y="1783080"/>
            <a:ext cx="5148072" cy="45720"/>
          </a:xfrm>
          <a:prstGeom prst="rect">
            <a:avLst/>
          </a:prstGeom>
          <a:solidFill>
            <a:srgbClr val="6DCFF6"/>
          </a:solidFill>
          <a:ln>
            <a:noFill/>
          </a:ln>
        </p:spPr>
      </p:sp>
      <p:sp>
        <p:nvSpPr>
          <p:cNvPr id="405" name="Col Head Right"/>
          <p:cNvSpPr txBox="1"/>
          <p:nvPr/>
        </p:nvSpPr>
        <p:spPr>
          <a:xfrm>
            <a:off x="6355080" y="1874519"/>
            <a:ext cx="5148072" cy="384048"/>
          </a:xfrm>
          <a:prstGeom prst="rect">
            <a:avLst/>
          </a:prstGeom>
          <a:noFill/>
        </p:spPr>
        <p:txBody>
          <a:bodyPr wrap="square" lIns="0" tIns="0" rIns="0" bIns="0" anchor="t">
            <a:normAutofit/>
          </a:bodyPr>
          <a:lstStyle/>
          <a:p>
            <a:r>
              <a:rPr lang="en-US" sz="2000" b="1" dirty="0">
                <a:solidFill>
                  <a:srgbClr val="09254A"/>
                </a:solidFill>
                <a:latin typeface="urbanist"/>
                <a:ea typeface="urbanist"/>
                <a:cs typeface="urbanist"/>
              </a:rPr>
              <a:t>Never flagged</a:t>
            </a:r>
          </a:p>
        </p:txBody>
      </p:sp>
      <p:sp>
        <p:nvSpPr>
          <p:cNvPr id="406" name="Corrected Citations"/>
          <p:cNvSpPr txBox="1"/>
          <p:nvPr/>
        </p:nvSpPr>
        <p:spPr>
          <a:xfrm>
            <a:off x="6355080" y="2377440"/>
            <a:ext cx="5148072" cy="3703320"/>
          </a:xfrm>
          <a:prstGeom prst="rect">
            <a:avLst/>
          </a:prstGeom>
          <a:noFill/>
        </p:spPr>
        <p:txBody>
          <a:bodyPr wrap="square" lIns="0" tIns="0" rIns="0" bIns="0" anchor="t">
            <a:normAutofit/>
          </a:bodyPr>
          <a:lstStyle/>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Ref 9 "CMS-5540-F": the TEAM rule is CMS-1808-F</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Ref 11 "ACS NSQIP procedure-mix" data: not found</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Ref 12 "TEAM Financial Impact Model": title doesn't exist</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Cover: "First Mandatory" model (CJR was mandatory)</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Cover: "30% … by PY5" and p.7 "±30%" (cap is 20% every year)</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Cover: "$1.2M … Year 1" loss (the source doesn't say Year 1)</a:t>
            </a:r>
          </a:p>
          <a:p>
            <a:pPr marL="228600" indent="-228600">
              <a:spcBef>
                <a:spcPts val="900"/>
              </a:spcBef>
              <a:spcAft>
                <a:spcPts val="700"/>
              </a:spcAft>
              <a:buClr>
                <a:srgbClr val="6DCFF6"/>
              </a:buClr>
              <a:buFont typeface="Arial"/>
              <a:buChar char="•"/>
            </a:pPr>
            <a:r>
              <a:rPr lang="en-US" sz="1500" dirty="0">
                <a:solidFill>
                  <a:srgbClr val="09254A"/>
                </a:solidFill>
                <a:latin typeface="urbanist"/>
                <a:ea typeface="urbanist"/>
                <a:cs typeface="urbanist"/>
              </a:rPr>
              <a:t>Disclaimer "publicly available data", but refs 13-14 are internal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1248156"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Source audit</a:t>
            </a:r>
          </a:p>
        </p:txBody>
      </p:sp>
      <p:sp>
        <p:nvSpPr>
          <p:cNvPr id="4" name="Text 2"/>
          <p:cNvSpPr txBox="1"/>
          <p:nvPr/>
        </p:nvSpPr>
        <p:spPr>
          <a:xfrm>
            <a:off x="685800" y="822960"/>
            <a:ext cx="5852160" cy="731520"/>
          </a:xfrm>
          <a:prstGeom prst="rect">
            <a:avLst/>
          </a:prstGeom>
          <a:noFill/>
          <a:ln/>
        </p:spPr>
        <p:txBody>
          <a:bodyPr wrap="square" rtlCol="0" anchor="t"/>
          <a:lstStyle/>
          <a:p>
            <a:pPr algn="l" marL="0" indent="0">
              <a:buNone/>
            </a:pPr>
            <a:r>
              <a:rPr lang="en-US" sz="4000" b="1" dirty="0">
                <a:solidFill>
                  <a:srgbClr val="09254A"/>
                </a:solidFill>
                <a:latin typeface="urbanist"/>
                <a:ea typeface="urbanist"/>
                <a:cs typeface="urbanist"/>
              </a:rPr>
              <a:t>Version timeline</a:t>
            </a:r>
            <a:endParaRPr lang="en-US" dirty="0"/>
          </a:p>
        </p:txBody>
      </p:sp>
      <p:sp>
        <p:nvSpPr>
          <p:cNvPr id="5" name="Text 3"/>
          <p:cNvSpPr txBox="1"/>
          <p:nvPr/>
        </p:nvSpPr>
        <p:spPr>
          <a:xfrm>
            <a:off x="7114032" y="868680"/>
            <a:ext cx="4389120" cy="640080"/>
          </a:xfrm>
          <a:prstGeom prst="rect">
            <a:avLst/>
          </a:prstGeom>
          <a:noFill/>
          <a:ln/>
        </p:spPr>
        <p:txBody>
          <a:bodyPr wrap="square" rtlCol="0" anchor="ctr"/>
          <a:lstStyle/>
          <a:p>
            <a:pPr algn="l" marL="0" indent="0">
              <a:lnSpc>
                <a:spcPct val="130000"/>
              </a:lnSpc>
              <a:buNone/>
            </a:pPr>
            <a:r>
              <a:rPr lang="en-US" sz="1300" dirty="0">
                <a:solidFill>
                  <a:srgbClr val="7A748A"/>
                </a:solidFill>
                <a:latin typeface="Nunito Light"/>
                <a:ea typeface="Nunito Light"/>
                <a:cs typeface="Nunito Light"/>
              </a:rPr>
              <a:t>Green = caught or fixed. Amber = partly fixed. Red = error added or carried. Grey = file only.</a:t>
            </a:r>
          </a:p>
        </p:txBody>
      </p:sp>
      <p:sp>
        <p:nvSpPr>
          <p:cNvPr id="40" name="Head"/>
          <p:cNvSpPr/>
          <p:nvPr/>
        </p:nvSpPr>
        <p:spPr>
          <a:xfrm>
            <a:off x="1097280" y="1627632"/>
            <a:ext cx="3794760" cy="274320"/>
          </a:xfrm>
          <a:prstGeom prst="rect">
            <a:avLst/>
          </a:prstGeom>
          <a:noFill/>
          <a:ln>
            <a:noFill/>
          </a:ln>
        </p:spPr>
        <p:txBody>
          <a:bodyPr wrap="square" lIns="45720" tIns="36576" rIns="45720" bIns="36576" anchor="ctr">
            <a:normAutofit/>
          </a:bodyPr>
          <a:lstStyle/>
          <a:p>
            <a:pPr algn="l" marL="0" indent="0">
              <a:buNone/>
            </a:pPr>
            <a:r>
              <a:rPr lang="en-US" sz="1100" b="1" dirty="0">
                <a:solidFill>
                  <a:srgbClr val="7A748A"/>
                </a:solidFill>
                <a:latin typeface="urbanist"/>
                <a:ea typeface="urbanist"/>
                <a:cs typeface="urbanist"/>
              </a:rPr>
              <a:t>Date · version (PT)</a:t>
            </a:r>
            <a:endParaRPr lang="en-US" dirty="0"/>
          </a:p>
        </p:txBody>
      </p:sp>
      <p:sp>
        <p:nvSpPr>
          <p:cNvPr id="41" name="Head"/>
          <p:cNvSpPr/>
          <p:nvPr/>
        </p:nvSpPr>
        <p:spPr>
          <a:xfrm>
            <a:off x="5029200" y="1627632"/>
            <a:ext cx="3931920" cy="274320"/>
          </a:xfrm>
          <a:prstGeom prst="rect">
            <a:avLst/>
          </a:prstGeom>
          <a:noFill/>
          <a:ln>
            <a:noFill/>
          </a:ln>
        </p:spPr>
        <p:txBody>
          <a:bodyPr wrap="square" lIns="45720" tIns="36576" rIns="45720" bIns="36576" anchor="ctr">
            <a:normAutofit/>
          </a:bodyPr>
          <a:lstStyle/>
          <a:p>
            <a:pPr algn="l" marL="0" indent="0">
              <a:buNone/>
            </a:pPr>
            <a:r>
              <a:rPr lang="en-US" sz="1100" b="1" dirty="0">
                <a:solidFill>
                  <a:srgbClr val="7A748A"/>
                </a:solidFill>
                <a:latin typeface="urbanist"/>
                <a:ea typeface="urbanist"/>
                <a:cs typeface="urbanist"/>
              </a:rPr>
              <a:t>What changed</a:t>
            </a:r>
            <a:endParaRPr lang="en-US" dirty="0"/>
          </a:p>
        </p:txBody>
      </p:sp>
      <p:sp>
        <p:nvSpPr>
          <p:cNvPr id="42" name="Head"/>
          <p:cNvSpPr/>
          <p:nvPr/>
        </p:nvSpPr>
        <p:spPr>
          <a:xfrm>
            <a:off x="9098280" y="1627632"/>
            <a:ext cx="2331720" cy="274320"/>
          </a:xfrm>
          <a:prstGeom prst="rect">
            <a:avLst/>
          </a:prstGeom>
          <a:noFill/>
          <a:ln>
            <a:noFill/>
          </a:ln>
        </p:spPr>
        <p:txBody>
          <a:bodyPr wrap="square" lIns="45720" tIns="36576" rIns="45720" bIns="36576" anchor="ctr">
            <a:normAutofit/>
          </a:bodyPr>
          <a:lstStyle/>
          <a:p>
            <a:pPr algn="l" marL="0" indent="0">
              <a:buNone/>
            </a:pPr>
            <a:r>
              <a:rPr lang="en-US" sz="1100" b="1" dirty="0">
                <a:solidFill>
                  <a:srgbClr val="7A748A"/>
                </a:solidFill>
                <a:latin typeface="urbanist"/>
                <a:ea typeface="urbanist"/>
                <a:cs typeface="urbanist"/>
              </a:rPr>
              <a:t>Result</a:t>
            </a:r>
            <a:endParaRPr lang="en-US" dirty="0"/>
          </a:p>
        </p:txBody>
      </p:sp>
      <p:sp>
        <p:nvSpPr>
          <p:cNvPr id="43" name="Row"/>
          <p:cNvSpPr/>
          <p:nvPr/>
        </p:nvSpPr>
        <p:spPr>
          <a:xfrm>
            <a:off x="685800" y="1938528"/>
            <a:ext cx="10817352" cy="438912"/>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44" name="Dot"/>
          <p:cNvSpPr/>
          <p:nvPr/>
        </p:nvSpPr>
        <p:spPr>
          <a:xfrm>
            <a:off x="804672" y="2084832"/>
            <a:ext cx="146304" cy="146304"/>
          </a:xfrm>
          <a:prstGeom prst="ellipse">
            <a:avLst/>
          </a:prstGeom>
          <a:solidFill>
            <a:srgbClr val="C8382F"/>
          </a:solidFill>
          <a:ln>
            <a:noFill/>
          </a:ln>
        </p:spPr>
        <p:txBody>
          <a:bodyPr wrap="square" lIns="109728" tIns="36576" rIns="109728" bIns="36576" anchor="ctr"/>
          <a:lstStyle/>
          <a:p>
            <a:pPr algn="l" marL="0" indent="0">
              <a:buNone/>
            </a:pPr>
            <a:endParaRPr lang="en-US" dirty="0"/>
          </a:p>
        </p:txBody>
      </p:sp>
      <p:sp>
        <p:nvSpPr>
          <p:cNvPr id="45" name="Cell"/>
          <p:cNvSpPr/>
          <p:nvPr/>
        </p:nvSpPr>
        <p:spPr>
          <a:xfrm>
            <a:off x="1097280" y="1938528"/>
            <a:ext cx="3794760" cy="438912"/>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May 5 · Christina's v4 docx</a:t>
            </a:r>
            <a:endParaRPr lang="en-US" dirty="0"/>
          </a:p>
        </p:txBody>
      </p:sp>
      <p:sp>
        <p:nvSpPr>
          <p:cNvPr id="46" name="Cell"/>
          <p:cNvSpPr/>
          <p:nvPr/>
        </p:nvSpPr>
        <p:spPr>
          <a:xfrm>
            <a:off x="5029200" y="1938528"/>
            <a:ext cx="3931920" cy="438912"/>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Original text: no numbered footnotes, only a "Sources:" line at the end</a:t>
            </a:r>
            <a:endParaRPr lang="en-US" dirty="0"/>
          </a:p>
        </p:txBody>
      </p:sp>
      <p:sp>
        <p:nvSpPr>
          <p:cNvPr id="47" name="Cell"/>
          <p:cNvSpPr/>
          <p:nvPr/>
        </p:nvSpPr>
        <p:spPr>
          <a:xfrm>
            <a:off x="9098280" y="1938528"/>
            <a:ext cx="2331720" cy="438912"/>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Sources line already lists CMS-5540-F (wrong rule)</a:t>
            </a:r>
            <a:endParaRPr lang="en-US" dirty="0"/>
          </a:p>
        </p:txBody>
      </p:sp>
      <p:sp>
        <p:nvSpPr>
          <p:cNvPr id="48" name="Row"/>
          <p:cNvSpPr/>
          <p:nvPr/>
        </p:nvSpPr>
        <p:spPr>
          <a:xfrm>
            <a:off x="685800" y="2423160"/>
            <a:ext cx="10817352" cy="438912"/>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49" name="Dot"/>
          <p:cNvSpPr/>
          <p:nvPr/>
        </p:nvSpPr>
        <p:spPr>
          <a:xfrm>
            <a:off x="804672" y="2569464"/>
            <a:ext cx="146304" cy="146304"/>
          </a:xfrm>
          <a:prstGeom prst="ellipse">
            <a:avLst/>
          </a:prstGeom>
          <a:solidFill>
            <a:srgbClr val="C47F00"/>
          </a:solidFill>
          <a:ln>
            <a:noFill/>
          </a:ln>
        </p:spPr>
        <p:txBody>
          <a:bodyPr wrap="square" lIns="109728" tIns="36576" rIns="109728" bIns="36576" anchor="ctr"/>
          <a:lstStyle/>
          <a:p>
            <a:pPr algn="l" marL="0" indent="0">
              <a:buNone/>
            </a:pPr>
            <a:endParaRPr lang="en-US" dirty="0"/>
          </a:p>
        </p:txBody>
      </p:sp>
      <p:sp>
        <p:nvSpPr>
          <p:cNvPr id="50" name="Cell"/>
          <p:cNvSpPr/>
          <p:nvPr/>
        </p:nvSpPr>
        <p:spPr>
          <a:xfrm>
            <a:off x="1097280" y="2423160"/>
            <a:ext cx="3794760" cy="438912"/>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Jun 25 · Annabelle's Word draft + Canva</a:t>
            </a:r>
            <a:endParaRPr lang="en-US" dirty="0"/>
          </a:p>
        </p:txBody>
      </p:sp>
      <p:sp>
        <p:nvSpPr>
          <p:cNvPr id="51" name="Cell"/>
          <p:cNvSpPr/>
          <p:nvPr/>
        </p:nvSpPr>
        <p:spPr>
          <a:xfrm>
            <a:off x="5029200" y="2423160"/>
            <a:ext cx="3931920" cy="438912"/>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First numbered list (13 refs, bad ones included); Canva text longer than original</a:t>
            </a:r>
            <a:endParaRPr lang="en-US" dirty="0"/>
          </a:p>
        </p:txBody>
      </p:sp>
      <p:sp>
        <p:nvSpPr>
          <p:cNvPr id="52" name="Cell"/>
          <p:cNvSpPr/>
          <p:nvPr/>
        </p:nvSpPr>
        <p:spPr>
          <a:xfrm>
            <a:off x="9098280" y="2423160"/>
            <a:ext cx="2331720" cy="438912"/>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Ref list doesn't match the doc's sources</a:t>
            </a:r>
            <a:endParaRPr lang="en-US" dirty="0"/>
          </a:p>
        </p:txBody>
      </p:sp>
      <p:sp>
        <p:nvSpPr>
          <p:cNvPr id="53" name="Row"/>
          <p:cNvSpPr/>
          <p:nvPr/>
        </p:nvSpPr>
        <p:spPr>
          <a:xfrm>
            <a:off x="685800" y="2907792"/>
            <a:ext cx="10817352" cy="438912"/>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54" name="Dot"/>
          <p:cNvSpPr/>
          <p:nvPr/>
        </p:nvSpPr>
        <p:spPr>
          <a:xfrm>
            <a:off x="804672" y="3054096"/>
            <a:ext cx="146304" cy="146304"/>
          </a:xfrm>
          <a:prstGeom prst="ellipse">
            <a:avLst/>
          </a:prstGeom>
          <a:solidFill>
            <a:srgbClr val="2E8B57"/>
          </a:solidFill>
          <a:ln>
            <a:noFill/>
          </a:ln>
        </p:spPr>
        <p:txBody>
          <a:bodyPr wrap="square" lIns="109728" tIns="36576" rIns="109728" bIns="36576" anchor="ctr"/>
          <a:lstStyle/>
          <a:p>
            <a:pPr algn="l" marL="0" indent="0">
              <a:buNone/>
            </a:pPr>
            <a:endParaRPr lang="en-US" dirty="0"/>
          </a:p>
        </p:txBody>
      </p:sp>
      <p:sp>
        <p:nvSpPr>
          <p:cNvPr id="55" name="Cell"/>
          <p:cNvSpPr/>
          <p:nvPr/>
        </p:nvSpPr>
        <p:spPr>
          <a:xfrm>
            <a:off x="1097280" y="2907792"/>
            <a:ext cx="3794760" cy="438912"/>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Jun 26 · Kyle's citation pass + memo</a:t>
            </a:r>
            <a:endParaRPr lang="en-US" dirty="0"/>
          </a:p>
        </p:txBody>
      </p:sp>
      <p:sp>
        <p:nvSpPr>
          <p:cNvPr id="56" name="Cell"/>
          <p:cNvSpPr/>
          <p:nvPr/>
        </p:nvSpPr>
        <p:spPr>
          <a:xfrm>
            <a:off x="5029200" y="2907792"/>
            <a:ext cx="3931920" cy="438912"/>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"im worried that perplexity made up references"; memo flags 4 bad refs</a:t>
            </a:r>
            <a:endParaRPr lang="en-US" dirty="0"/>
          </a:p>
        </p:txBody>
      </p:sp>
      <p:sp>
        <p:nvSpPr>
          <p:cNvPr id="57" name="Cell"/>
          <p:cNvSpPr/>
          <p:nvPr/>
        </p:nvSpPr>
        <p:spPr>
          <a:xfrm>
            <a:off x="9098280" y="2907792"/>
            <a:ext cx="2331720" cy="438912"/>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Caught before publishing</a:t>
            </a:r>
            <a:endParaRPr lang="en-US" dirty="0"/>
          </a:p>
        </p:txBody>
      </p:sp>
      <p:sp>
        <p:nvSpPr>
          <p:cNvPr id="58" name="Row"/>
          <p:cNvSpPr/>
          <p:nvPr/>
        </p:nvSpPr>
        <p:spPr>
          <a:xfrm>
            <a:off x="685800" y="3392424"/>
            <a:ext cx="10817352" cy="438912"/>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59" name="Dot"/>
          <p:cNvSpPr/>
          <p:nvPr/>
        </p:nvSpPr>
        <p:spPr>
          <a:xfrm>
            <a:off x="804672" y="3538728"/>
            <a:ext cx="146304" cy="146304"/>
          </a:xfrm>
          <a:prstGeom prst="ellipse">
            <a:avLst/>
          </a:prstGeom>
          <a:solidFill>
            <a:srgbClr val="C47F00"/>
          </a:solidFill>
          <a:ln>
            <a:noFill/>
          </a:ln>
        </p:spPr>
        <p:txBody>
          <a:bodyPr wrap="square" lIns="109728" tIns="36576" rIns="109728" bIns="36576" anchor="ctr"/>
          <a:lstStyle/>
          <a:p>
            <a:pPr algn="l" marL="0" indent="0">
              <a:buNone/>
            </a:pPr>
            <a:endParaRPr lang="en-US" dirty="0"/>
          </a:p>
        </p:txBody>
      </p:sp>
      <p:sp>
        <p:nvSpPr>
          <p:cNvPr id="60" name="Cell"/>
          <p:cNvSpPr/>
          <p:nvPr/>
        </p:nvSpPr>
        <p:spPr>
          <a:xfrm>
            <a:off x="1097280" y="3392424"/>
            <a:ext cx="3794760" cy="438912"/>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Jun 29 · v3 PDF; Christina's replacements</a:t>
            </a:r>
            <a:endParaRPr lang="en-US" dirty="0"/>
          </a:p>
        </p:txBody>
      </p:sp>
      <p:sp>
        <p:nvSpPr>
          <p:cNvPr id="61" name="Cell"/>
          <p:cNvSpPr/>
          <p:nvPr/>
        </p:nvSpPr>
        <p:spPr>
          <a:xfrm>
            <a:off x="5029200" y="3392424"/>
            <a:ext cx="3931920" cy="438912"/>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Tarazi → Ho 2022, Becher → Etzioni 2003, Bandeen-Roche dropped, refs 4-6 added</a:t>
            </a:r>
            <a:endParaRPr lang="en-US" dirty="0"/>
          </a:p>
        </p:txBody>
      </p:sp>
      <p:sp>
        <p:nvSpPr>
          <p:cNvPr id="62" name="Cell"/>
          <p:cNvSpPr/>
          <p:nvPr/>
        </p:nvSpPr>
        <p:spPr>
          <a:xfrm>
            <a:off x="9098280" y="3392424"/>
            <a:ext cx="2331720" cy="438912"/>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Fake refs gone; numbers not fixed</a:t>
            </a:r>
            <a:endParaRPr lang="en-US" dirty="0"/>
          </a:p>
        </p:txBody>
      </p:sp>
      <p:sp>
        <p:nvSpPr>
          <p:cNvPr id="83" name="Row"/>
          <p:cNvSpPr/>
          <p:nvPr/>
        </p:nvSpPr>
        <p:spPr>
          <a:xfrm>
            <a:off x="685800" y="3877056"/>
            <a:ext cx="10817352" cy="438912"/>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84" name="Dot"/>
          <p:cNvSpPr/>
          <p:nvPr/>
        </p:nvSpPr>
        <p:spPr>
          <a:xfrm>
            <a:off x="804672" y="4023360"/>
            <a:ext cx="146304" cy="146304"/>
          </a:xfrm>
          <a:prstGeom prst="ellipse">
            <a:avLst/>
          </a:prstGeom>
          <a:solidFill>
            <a:srgbClr val="7A748A"/>
          </a:solidFill>
          <a:ln>
            <a:noFill/>
          </a:ln>
        </p:spPr>
        <p:txBody>
          <a:bodyPr wrap="square" lIns="109728" tIns="36576" rIns="109728" bIns="36576" anchor="ctr"/>
          <a:lstStyle/>
          <a:p>
            <a:pPr algn="l" marL="0" indent="0">
              <a:buNone/>
            </a:pPr>
            <a:endParaRPr lang="en-US" dirty="0"/>
          </a:p>
        </p:txBody>
      </p:sp>
      <p:sp>
        <p:nvSpPr>
          <p:cNvPr id="85" name="Cell"/>
          <p:cNvSpPr/>
          <p:nvPr/>
        </p:nvSpPr>
        <p:spPr>
          <a:xfrm>
            <a:off x="1097280" y="3877056"/>
            <a:ext cx="3794760" cy="438912"/>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Jun 29, 3:13 PM · mid-fix Canva export</a:t>
            </a:r>
            <a:endParaRPr lang="en-US" dirty="0"/>
          </a:p>
        </p:txBody>
      </p:sp>
      <p:sp>
        <p:nvSpPr>
          <p:cNvPr id="86" name="Cell"/>
          <p:cNvSpPr/>
          <p:nvPr/>
        </p:nvSpPr>
        <p:spPr>
          <a:xfrm>
            <a:off x="5029200" y="3877056"/>
            <a:ext cx="3931920" cy="438912"/>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Ho added while Tarazi still listed; Bandeen-Roche gone; ³ on 19.1% points at Tarazi</a:t>
            </a:r>
            <a:endParaRPr lang="en-US" dirty="0"/>
          </a:p>
        </p:txBody>
      </p:sp>
      <p:sp>
        <p:nvSpPr>
          <p:cNvPr id="87" name="Cell"/>
          <p:cNvSpPr/>
          <p:nvPr/>
        </p:nvSpPr>
        <p:spPr>
          <a:xfrm>
            <a:off x="9098280" y="3877056"/>
            <a:ext cx="2331720" cy="438912"/>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Fixes made in steps</a:t>
            </a:r>
            <a:endParaRPr lang="en-US" dirty="0"/>
          </a:p>
        </p:txBody>
      </p:sp>
      <p:sp>
        <p:nvSpPr>
          <p:cNvPr id="63" name="Row"/>
          <p:cNvSpPr/>
          <p:nvPr/>
        </p:nvSpPr>
        <p:spPr>
          <a:xfrm>
            <a:off x="685800" y="4361688"/>
            <a:ext cx="10817352" cy="438912"/>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64" name="Dot"/>
          <p:cNvSpPr/>
          <p:nvPr/>
        </p:nvSpPr>
        <p:spPr>
          <a:xfrm>
            <a:off x="804672" y="4507992"/>
            <a:ext cx="146304" cy="146304"/>
          </a:xfrm>
          <a:prstGeom prst="ellipse">
            <a:avLst/>
          </a:prstGeom>
          <a:solidFill>
            <a:srgbClr val="C8382F"/>
          </a:solidFill>
          <a:ln>
            <a:noFill/>
          </a:ln>
        </p:spPr>
        <p:txBody>
          <a:bodyPr wrap="square" lIns="109728" tIns="36576" rIns="109728" bIns="36576" anchor="ctr"/>
          <a:lstStyle/>
          <a:p>
            <a:pPr algn="l" marL="0" indent="0">
              <a:buNone/>
            </a:pPr>
            <a:endParaRPr lang="en-US" dirty="0"/>
          </a:p>
        </p:txBody>
      </p:sp>
      <p:sp>
        <p:nvSpPr>
          <p:cNvPr id="65" name="Cell"/>
          <p:cNvSpPr/>
          <p:nvPr/>
        </p:nvSpPr>
        <p:spPr>
          <a:xfrm>
            <a:off x="1097280" y="4361688"/>
            <a:ext cx="3794760" cy="438912"/>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Jul 1 · 120/80 cover rewrite</a:t>
            </a:r>
            <a:endParaRPr lang="en-US" dirty="0"/>
          </a:p>
        </p:txBody>
      </p:sp>
      <p:sp>
        <p:nvSpPr>
          <p:cNvPr id="66" name="Cell"/>
          <p:cNvSpPr/>
          <p:nvPr/>
        </p:nvSpPr>
        <p:spPr>
          <a:xfrm>
            <a:off x="5029200" y="4361688"/>
            <a:ext cx="3931920" cy="438912"/>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New cover: "Inside 741 Hospitals… First Mandatory…", "$1.2M… Year 1", "30%… by PY5"</a:t>
            </a:r>
            <a:endParaRPr lang="en-US" dirty="0"/>
          </a:p>
        </p:txBody>
      </p:sp>
      <p:sp>
        <p:nvSpPr>
          <p:cNvPr id="67" name="Cell"/>
          <p:cNvSpPr/>
          <p:nvPr/>
        </p:nvSpPr>
        <p:spPr>
          <a:xfrm>
            <a:off x="9098280" y="4361688"/>
            <a:ext cx="2331720" cy="438912"/>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Cover only; phrases were already in the body</a:t>
            </a:r>
            <a:endParaRPr lang="en-US" dirty="0"/>
          </a:p>
        </p:txBody>
      </p:sp>
      <p:sp>
        <p:nvSpPr>
          <p:cNvPr id="68" name="Row"/>
          <p:cNvSpPr/>
          <p:nvPr/>
        </p:nvSpPr>
        <p:spPr>
          <a:xfrm>
            <a:off x="685800" y="4846320"/>
            <a:ext cx="10817352" cy="438912"/>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69" name="Dot"/>
          <p:cNvSpPr/>
          <p:nvPr/>
        </p:nvSpPr>
        <p:spPr>
          <a:xfrm>
            <a:off x="804672" y="4992624"/>
            <a:ext cx="146304" cy="146304"/>
          </a:xfrm>
          <a:prstGeom prst="ellipse">
            <a:avLst/>
          </a:prstGeom>
          <a:solidFill>
            <a:srgbClr val="2E8B57"/>
          </a:solidFill>
          <a:ln>
            <a:noFill/>
          </a:ln>
        </p:spPr>
        <p:txBody>
          <a:bodyPr wrap="square" lIns="109728" tIns="36576" rIns="109728" bIns="36576" anchor="ctr"/>
          <a:lstStyle/>
          <a:p>
            <a:pPr algn="l" marL="0" indent="0">
              <a:buNone/>
            </a:pPr>
            <a:endParaRPr lang="en-US" dirty="0"/>
          </a:p>
        </p:txBody>
      </p:sp>
      <p:sp>
        <p:nvSpPr>
          <p:cNvPr id="70" name="Cell"/>
          <p:cNvSpPr/>
          <p:nvPr/>
        </p:nvSpPr>
        <p:spPr>
          <a:xfrm>
            <a:off x="1097280" y="4846320"/>
            <a:ext cx="3794760" cy="438912"/>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Jul 8 · hospital count</a:t>
            </a:r>
            <a:endParaRPr lang="en-US" dirty="0"/>
          </a:p>
        </p:txBody>
      </p:sp>
      <p:sp>
        <p:nvSpPr>
          <p:cNvPr id="71" name="Cell"/>
          <p:cNvSpPr/>
          <p:nvPr/>
        </p:nvSpPr>
        <p:spPr>
          <a:xfrm>
            <a:off x="5029200" y="4846320"/>
            <a:ext cx="3931920" cy="438912"/>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741 → 721 hospitals</a:t>
            </a:r>
            <a:endParaRPr lang="en-US" dirty="0"/>
          </a:p>
        </p:txBody>
      </p:sp>
      <p:sp>
        <p:nvSpPr>
          <p:cNvPr id="72" name="Cell"/>
          <p:cNvSpPr/>
          <p:nvPr/>
        </p:nvSpPr>
        <p:spPr>
          <a:xfrm>
            <a:off x="9098280" y="4846320"/>
            <a:ext cx="2331720" cy="438912"/>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Fixed</a:t>
            </a:r>
            <a:endParaRPr lang="en-US" dirty="0"/>
          </a:p>
        </p:txBody>
      </p:sp>
      <p:sp>
        <p:nvSpPr>
          <p:cNvPr id="73" name="Row"/>
          <p:cNvSpPr/>
          <p:nvPr/>
        </p:nvSpPr>
        <p:spPr>
          <a:xfrm>
            <a:off x="685800" y="5330952"/>
            <a:ext cx="10817352" cy="438912"/>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74" name="Dot"/>
          <p:cNvSpPr/>
          <p:nvPr/>
        </p:nvSpPr>
        <p:spPr>
          <a:xfrm>
            <a:off x="804672" y="5477256"/>
            <a:ext cx="146304" cy="146304"/>
          </a:xfrm>
          <a:prstGeom prst="ellipse">
            <a:avLst/>
          </a:prstGeom>
          <a:solidFill>
            <a:srgbClr val="7A748A"/>
          </a:solidFill>
          <a:ln>
            <a:noFill/>
          </a:ln>
        </p:spPr>
        <p:txBody>
          <a:bodyPr wrap="square" lIns="109728" tIns="36576" rIns="109728" bIns="36576" anchor="ctr"/>
          <a:lstStyle/>
          <a:p>
            <a:pPr algn="l" marL="0" indent="0">
              <a:buNone/>
            </a:pPr>
            <a:endParaRPr lang="en-US" dirty="0"/>
          </a:p>
        </p:txBody>
      </p:sp>
      <p:sp>
        <p:nvSpPr>
          <p:cNvPr id="75" name="Cell"/>
          <p:cNvSpPr/>
          <p:nvPr/>
        </p:nvSpPr>
        <p:spPr>
          <a:xfrm>
            <a:off x="1097280" y="5330952"/>
            <a:ext cx="3794760" cy="438912"/>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Jul 14 · release file (Carrie)</a:t>
            </a:r>
            <a:endParaRPr lang="en-US" dirty="0"/>
          </a:p>
        </p:txBody>
      </p:sp>
      <p:sp>
        <p:nvSpPr>
          <p:cNvPr id="76" name="Cell"/>
          <p:cNvSpPr/>
          <p:nvPr/>
        </p:nvSpPr>
        <p:spPr>
          <a:xfrm>
            <a:off x="5029200" y="5330952"/>
            <a:ext cx="3931920" cy="438912"/>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"CMS TEAM Impact Report.pdf" posted in #aox3</a:t>
            </a:r>
            <a:endParaRPr lang="en-US" dirty="0"/>
          </a:p>
        </p:txBody>
      </p:sp>
      <p:sp>
        <p:nvSpPr>
          <p:cNvPr id="77" name="Cell"/>
          <p:cNvSpPr/>
          <p:nvPr/>
        </p:nvSpPr>
        <p:spPr>
          <a:xfrm>
            <a:off x="9098280" y="5330952"/>
            <a:ext cx="2331720" cy="438912"/>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Very likely the published file</a:t>
            </a:r>
            <a:endParaRPr lang="en-US" dirty="0"/>
          </a:p>
        </p:txBody>
      </p:sp>
      <p:sp>
        <p:nvSpPr>
          <p:cNvPr id="78" name="Row"/>
          <p:cNvSpPr/>
          <p:nvPr/>
        </p:nvSpPr>
        <p:spPr>
          <a:xfrm>
            <a:off x="685800" y="5815584"/>
            <a:ext cx="10817352" cy="438912"/>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79" name="Dot"/>
          <p:cNvSpPr/>
          <p:nvPr/>
        </p:nvSpPr>
        <p:spPr>
          <a:xfrm>
            <a:off x="804672" y="5961888"/>
            <a:ext cx="146304" cy="146304"/>
          </a:xfrm>
          <a:prstGeom prst="ellipse">
            <a:avLst/>
          </a:prstGeom>
          <a:solidFill>
            <a:srgbClr val="C8382F"/>
          </a:solidFill>
          <a:ln>
            <a:noFill/>
          </a:ln>
        </p:spPr>
        <p:txBody>
          <a:bodyPr wrap="square" lIns="109728" tIns="36576" rIns="109728" bIns="36576" anchor="ctr"/>
          <a:lstStyle/>
          <a:p>
            <a:pPr algn="l" marL="0" indent="0">
              <a:buNone/>
            </a:pPr>
            <a:endParaRPr lang="en-US" dirty="0"/>
          </a:p>
        </p:txBody>
      </p:sp>
      <p:sp>
        <p:nvSpPr>
          <p:cNvPr id="80" name="Cell"/>
          <p:cNvSpPr/>
          <p:nvPr/>
        </p:nvSpPr>
        <p:spPr>
          <a:xfrm>
            <a:off x="1097280" y="5815584"/>
            <a:ext cx="3794760" cy="438912"/>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Jul 27 · published</a:t>
            </a:r>
            <a:endParaRPr lang="en-US" dirty="0"/>
          </a:p>
        </p:txBody>
      </p:sp>
      <p:sp>
        <p:nvSpPr>
          <p:cNvPr id="81" name="Cell"/>
          <p:cNvSpPr/>
          <p:nvPr/>
        </p:nvSpPr>
        <p:spPr>
          <a:xfrm>
            <a:off x="5029200" y="5815584"/>
            <a:ext cx="3931920" cy="438912"/>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PR Newswire, HFMA story, gated download</a:t>
            </a:r>
            <a:endParaRPr lang="en-US" dirty="0"/>
          </a:p>
        </p:txBody>
      </p:sp>
      <p:sp>
        <p:nvSpPr>
          <p:cNvPr id="82" name="Cell"/>
          <p:cNvSpPr/>
          <p:nvPr/>
        </p:nvSpPr>
        <p:spPr>
          <a:xfrm>
            <a:off x="9098280" y="5815584"/>
            <a:ext cx="2331720" cy="438912"/>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Footer still says "May 2026"</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01168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Ref 9: </a:t>
            </a:r>
            <a:r>
              <a:rPr lang="en-US" sz="2800" dirty="0">
                <a:solidFill>
                  <a:srgbClr val="09254A"/>
                </a:solidFill>
                <a:latin typeface="urbanist"/>
                <a:ea typeface="urbanist"/>
                <a:cs typeface="urbanist"/>
              </a:rPr>
              <a:t>CMS-5540-F doesn't exist; </a:t>
            </a:r>
            <a:r>
              <a:rPr lang="en-US" sz="2800" dirty="0">
                <a:solidFill>
                  <a:srgbClr val="6DCFF6"/>
                </a:solidFill>
                <a:latin typeface="urbanist"/>
                <a:ea typeface="urbanist"/>
                <a:cs typeface="urbanist"/>
              </a:rPr>
              <a:t>TEAM is CMS-1808-F</a:t>
            </a:r>
            <a:endParaRPr lang="en-US" dirty="0"/>
          </a:p>
        </p:txBody>
      </p:sp>
      <p:sp>
        <p:nvSpPr>
          <p:cNvPr id="22" name="Status 22"/>
          <p:cNvSpPr/>
          <p:nvPr/>
        </p:nvSpPr>
        <p:spPr>
          <a:xfrm>
            <a:off x="301752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p.11</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CMS-1808-F + 2023 RFI</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400" b="1" dirty="0">
                <a:solidFill>
                  <a:srgbClr val="6DCFF6"/>
                </a:solidFill>
                <a:latin typeface="urbanist"/>
                <a:ea typeface="urbanist"/>
                <a:cs typeface="urbanist"/>
              </a:rPr>
              <a:t>Fix: </a:t>
            </a:r>
            <a:r>
              <a:rPr lang="en-US" sz="1400" dirty="0">
                <a:solidFill>
                  <a:srgbClr val="FFFFFF"/>
                </a:solidFill>
                <a:latin typeface="Nunito Light"/>
                <a:ea typeface="Nunito Light"/>
                <a:cs typeface="Nunito Light"/>
              </a:rPr>
              <a:t>CMS. FY 2025 IPPS/LTCH PPS final rule (CMS-1808-F). Fed Regist. 2024;89(167):68986-70046. Aug 28, 2024. The wrong number was already in Christina's May 5 Sources line and was never caught.</a:t>
            </a:r>
            <a:endParaRPr lang="en-US" dirty="0"/>
          </a:p>
        </p:txBody>
      </p:sp>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TEAM Final Rule (CMS-1808-F), 89 FR 68986, https://www.federalregister.gov/d/2024-17021</a:t>
            </a:r>
            <a:endParaRPr lang="en-US" dirty="0"/>
          </a:p>
        </p:txBody>
      </p:sp>
      <p:sp>
        <p:nvSpPr>
          <p:cNvPr id="301" name="Crop Label 301"/>
          <p:cNvSpPr txBox="1"/>
          <p:nvPr/>
        </p:nvSpPr>
        <p:spPr>
          <a:xfrm>
            <a:off x="822960" y="307238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p.11 (reference list)</a:t>
            </a:r>
          </a:p>
        </p:txBody>
      </p:sp>
      <p:pic>
        <p:nvPicPr>
          <p:cNvPr id="302" name="Crop g2s4-r1"/>
          <p:cNvPicPr>
            <a:picLocks noChangeAspect="1"/>
          </p:cNvPicPr>
          <p:nvPr/>
        </p:nvPicPr>
        <p:blipFill>
          <a:blip r:embed="rId31"/>
          <a:stretch>
            <a:fillRect/>
          </a:stretch>
        </p:blipFill>
        <p:spPr>
          <a:xfrm>
            <a:off x="822960" y="3291839"/>
            <a:ext cx="5029200" cy="826225"/>
          </a:xfrm>
          <a:prstGeom prst="rect">
            <a:avLst/>
          </a:prstGeom>
          <a:ln w="6350">
            <a:solidFill>
              <a:srgbClr val="D9D9D9"/>
            </a:solidFill>
          </a:ln>
        </p:spPr>
      </p:pic>
      <p:sp>
        <p:nvSpPr>
          <p:cNvPr id="303" name="Crop Label 303"/>
          <p:cNvSpPr txBox="1"/>
          <p:nvPr/>
        </p:nvSpPr>
        <p:spPr>
          <a:xfrm>
            <a:off x="6336792" y="215798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TEAM Final Rule, 89 FR 68986 (first page)</a:t>
            </a:r>
          </a:p>
        </p:txBody>
      </p:sp>
      <p:pic>
        <p:nvPicPr>
          <p:cNvPr id="304" name="Crop g2s4-s1hdr"/>
          <p:cNvPicPr>
            <a:picLocks noChangeAspect="1"/>
          </p:cNvPicPr>
          <p:nvPr/>
        </p:nvPicPr>
        <p:blipFill>
          <a:blip r:embed="rId32"/>
          <a:stretch>
            <a:fillRect/>
          </a:stretch>
        </p:blipFill>
        <p:spPr>
          <a:xfrm>
            <a:off x="6336792" y="2377439"/>
            <a:ext cx="5029200" cy="215537"/>
          </a:xfrm>
          <a:prstGeom prst="rect">
            <a:avLst/>
          </a:prstGeom>
          <a:ln w="6350">
            <a:solidFill>
              <a:srgbClr val="D9D9D9"/>
            </a:solidFill>
          </a:ln>
        </p:spPr>
      </p:pic>
      <p:pic>
        <p:nvPicPr>
          <p:cNvPr id="305" name="Crop g2s4-s1num"/>
          <p:cNvPicPr>
            <a:picLocks noChangeAspect="1"/>
          </p:cNvPicPr>
          <p:nvPr/>
        </p:nvPicPr>
        <p:blipFill>
          <a:blip r:embed="rId33"/>
          <a:stretch>
            <a:fillRect/>
          </a:stretch>
        </p:blipFill>
        <p:spPr>
          <a:xfrm>
            <a:off x="6336792" y="2666129"/>
            <a:ext cx="2377440" cy="275753"/>
          </a:xfrm>
          <a:prstGeom prst="rect">
            <a:avLst/>
          </a:prstGeom>
          <a:ln w="6350">
            <a:solidFill>
              <a:srgbClr val="D9D9D9"/>
            </a:solidFill>
          </a:ln>
        </p:spPr>
      </p:pic>
      <p:pic>
        <p:nvPicPr>
          <p:cNvPr id="306" name="Crop g2s4-s1act"/>
          <p:cNvPicPr>
            <a:picLocks noChangeAspect="1"/>
          </p:cNvPicPr>
          <p:nvPr/>
        </p:nvPicPr>
        <p:blipFill>
          <a:blip r:embed="rId34"/>
          <a:stretch>
            <a:fillRect/>
          </a:stretch>
        </p:blipFill>
        <p:spPr>
          <a:xfrm>
            <a:off x="8851392" y="2666129"/>
            <a:ext cx="2377440" cy="223583"/>
          </a:xfrm>
          <a:prstGeom prst="rect">
            <a:avLst/>
          </a:prstGeom>
          <a:ln w="6350">
            <a:solidFill>
              <a:srgbClr val="D9D9D9"/>
            </a:solidFill>
          </a:ln>
        </p:spPr>
      </p:pic>
      <p:sp>
        <p:nvSpPr>
          <p:cNvPr id="307" name="Crop Label 307"/>
          <p:cNvSpPr txBox="1"/>
          <p:nvPr/>
        </p:nvSpPr>
        <p:spPr>
          <a:xfrm>
            <a:off x="6336792" y="312476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CMS-5540 was a 2023 request for information (88 FR 45872)</a:t>
            </a:r>
          </a:p>
        </p:txBody>
      </p:sp>
      <p:pic>
        <p:nvPicPr>
          <p:cNvPr id="308" name="Crop g2s4-s2hdr"/>
          <p:cNvPicPr>
            <a:picLocks noChangeAspect="1"/>
          </p:cNvPicPr>
          <p:nvPr/>
        </p:nvPicPr>
        <p:blipFill>
          <a:blip r:embed="rId35"/>
          <a:stretch>
            <a:fillRect/>
          </a:stretch>
        </p:blipFill>
        <p:spPr>
          <a:xfrm>
            <a:off x="6336792" y="3344218"/>
            <a:ext cx="5029200" cy="183759"/>
          </a:xfrm>
          <a:prstGeom prst="rect">
            <a:avLst/>
          </a:prstGeom>
          <a:ln w="6350">
            <a:solidFill>
              <a:srgbClr val="D9D9D9"/>
            </a:solidFill>
          </a:ln>
        </p:spPr>
      </p:pic>
      <p:pic>
        <p:nvPicPr>
          <p:cNvPr id="309" name="Crop g2s4-s2"/>
          <p:cNvPicPr>
            <a:picLocks noChangeAspect="1"/>
          </p:cNvPicPr>
          <p:nvPr/>
        </p:nvPicPr>
        <p:blipFill>
          <a:blip r:embed="rId36"/>
          <a:stretch>
            <a:fillRect/>
          </a:stretch>
        </p:blipFill>
        <p:spPr>
          <a:xfrm>
            <a:off x="6336792" y="3601129"/>
            <a:ext cx="5029200" cy="881742"/>
          </a:xfrm>
          <a:prstGeom prst="rect">
            <a:avLst/>
          </a:prstGeom>
          <a:ln w="6350">
            <a:solidFill>
              <a:srgbClr val="D9D9D9"/>
            </a:solid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01168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Yes</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Ref 3: </a:t>
            </a:r>
            <a:r>
              <a:rPr lang="en-US" sz="2800" dirty="0">
                <a:solidFill>
                  <a:srgbClr val="09254A"/>
                </a:solidFill>
                <a:latin typeface="urbanist"/>
                <a:ea typeface="urbanist"/>
                <a:cs typeface="urbanist"/>
              </a:rPr>
              <a:t>Ho 2022 doesn't have the 74%; </a:t>
            </a:r>
            <a:r>
              <a:rPr lang="en-US" sz="2800" dirty="0">
                <a:solidFill>
                  <a:srgbClr val="6DCFF6"/>
                </a:solidFill>
                <a:latin typeface="urbanist"/>
                <a:ea typeface="urbanist"/>
                <a:cs typeface="urbanist"/>
              </a:rPr>
              <a:t>Hewitt 2016 does</a:t>
            </a:r>
            <a:endParaRPr lang="en-US" dirty="0"/>
          </a:p>
        </p:txBody>
      </p:sp>
      <p:sp>
        <p:nvSpPr>
          <p:cNvPr id="22" name="Status 22"/>
          <p:cNvSpPr/>
          <p:nvPr/>
        </p:nvSpPr>
        <p:spPr>
          <a:xfrm>
            <a:off x="301752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p.3, p.11</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Ho 2022 vs Hewitt 2016</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400" b="1" dirty="0">
                <a:solidFill>
                  <a:srgbClr val="6DCFF6"/>
                </a:solidFill>
                <a:latin typeface="urbanist"/>
                <a:ea typeface="urbanist"/>
                <a:cs typeface="urbanist"/>
              </a:rPr>
              <a:t>Fix: </a:t>
            </a:r>
            <a:r>
              <a:rPr lang="en-US" sz="1400" dirty="0">
                <a:solidFill>
                  <a:srgbClr val="FFFFFF"/>
                </a:solidFill>
                <a:latin typeface="Nunito Light"/>
                <a:ea typeface="Nunito Light"/>
                <a:cs typeface="Nunito Light"/>
              </a:rPr>
              <a:t>Cite Hewitt J, et al. BMJ Open 2016;6(3):e010126 and add "in a UK cohort". Ho's 42.3% + 38.2% = 80.5% (2+ domains) covers all older patients, not those over 85.</a:t>
            </a:r>
            <a:endParaRPr lang="en-US" dirty="0"/>
          </a:p>
        </p:txBody>
      </p:sp>
      <p:sp>
        <p:nvSpPr>
          <p:cNvPr id="600" name="Crop Label 600"/>
          <p:cNvSpPr txBox="1"/>
          <p:nvPr/>
        </p:nvSpPr>
        <p:spPr>
          <a:xfrm>
            <a:off x="822960" y="218903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p.3</a:t>
            </a:r>
          </a:p>
        </p:txBody>
      </p:sp>
      <p:pic>
        <p:nvPicPr>
          <p:cNvPr id="601" name="Crop g3x-s8-r1"/>
          <p:cNvPicPr>
            <a:picLocks noChangeAspect="1"/>
          </p:cNvPicPr>
          <p:nvPr/>
        </p:nvPicPr>
        <p:blipFill>
          <a:blip r:embed="rId700"/>
          <a:stretch>
            <a:fillRect/>
          </a:stretch>
        </p:blipFill>
        <p:spPr>
          <a:xfrm>
            <a:off x="822960" y="2408490"/>
            <a:ext cx="5029200" cy="770490"/>
          </a:xfrm>
          <a:prstGeom prst="rect">
            <a:avLst/>
          </a:prstGeom>
          <a:ln w="6350">
            <a:solidFill>
              <a:srgbClr val="D9D9D9"/>
            </a:solidFill>
          </a:ln>
        </p:spPr>
      </p:pic>
      <p:sp>
        <p:nvSpPr>
          <p:cNvPr id="602" name="Crop Label 602"/>
          <p:cNvSpPr txBox="1"/>
          <p:nvPr/>
        </p:nvSpPr>
        <p:spPr>
          <a:xfrm>
            <a:off x="822960" y="3270421"/>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p.11: ref 3, swapped in for Tarazi on Jun 29</a:t>
            </a:r>
          </a:p>
        </p:txBody>
      </p:sp>
      <p:pic>
        <p:nvPicPr>
          <p:cNvPr id="603" name="Crop g3x-s8-r2"/>
          <p:cNvPicPr>
            <a:picLocks noChangeAspect="1"/>
          </p:cNvPicPr>
          <p:nvPr/>
        </p:nvPicPr>
        <p:blipFill>
          <a:blip r:embed="rId701"/>
          <a:stretch>
            <a:fillRect/>
          </a:stretch>
        </p:blipFill>
        <p:spPr>
          <a:xfrm>
            <a:off x="822960" y="3489877"/>
            <a:ext cx="4572000" cy="841045"/>
          </a:xfrm>
          <a:prstGeom prst="rect">
            <a:avLst/>
          </a:prstGeom>
          <a:ln w="6350">
            <a:solidFill>
              <a:srgbClr val="D9D9D9"/>
            </a:solidFill>
          </a:ln>
        </p:spPr>
      </p:pic>
      <p:sp>
        <p:nvSpPr>
          <p:cNvPr id="604" name="Crop Label 604"/>
          <p:cNvSpPr txBox="1"/>
          <p:nvPr/>
        </p:nvSpPr>
        <p:spPr>
          <a:xfrm>
            <a:off x="822960" y="442236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Kyle's Jun 26 memo: Tarazi flagged, Hewitt named</a:t>
            </a:r>
          </a:p>
        </p:txBody>
      </p:sp>
      <p:pic>
        <p:nvPicPr>
          <p:cNvPr id="605" name="Crop g3x-s8-r3"/>
          <p:cNvPicPr>
            <a:picLocks noChangeAspect="1"/>
          </p:cNvPicPr>
          <p:nvPr/>
        </p:nvPicPr>
        <p:blipFill>
          <a:blip r:embed="rId702"/>
          <a:stretch>
            <a:fillRect/>
          </a:stretch>
        </p:blipFill>
        <p:spPr>
          <a:xfrm>
            <a:off x="822960" y="4641818"/>
            <a:ext cx="5029200" cy="392906"/>
          </a:xfrm>
          <a:prstGeom prst="rect">
            <a:avLst/>
          </a:prstGeom>
          <a:ln w="6350">
            <a:solidFill>
              <a:srgbClr val="D9D9D9"/>
            </a:solidFill>
          </a:ln>
        </p:spPr>
      </p:pic>
      <p:sp>
        <p:nvSpPr>
          <p:cNvPr id="606" name="Crop Label 606"/>
          <p:cNvSpPr txBox="1"/>
          <p:nvPr/>
        </p:nvSpPr>
        <p:spPr>
          <a:xfrm>
            <a:off x="6336792" y="2574231"/>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Ho 2022 (cited): no 74%, no figure for over 85</a:t>
            </a:r>
          </a:p>
        </p:txBody>
      </p:sp>
      <p:pic>
        <p:nvPicPr>
          <p:cNvPr id="607" name="Crop g3x-s8-s1"/>
          <p:cNvPicPr>
            <a:picLocks noChangeAspect="1"/>
          </p:cNvPicPr>
          <p:nvPr/>
        </p:nvPicPr>
        <p:blipFill>
          <a:blip r:embed="rId703"/>
          <a:stretch>
            <a:fillRect/>
          </a:stretch>
        </p:blipFill>
        <p:spPr>
          <a:xfrm>
            <a:off x="6336792" y="2793687"/>
            <a:ext cx="4846320" cy="571990"/>
          </a:xfrm>
          <a:prstGeom prst="rect">
            <a:avLst/>
          </a:prstGeom>
          <a:ln w="6350">
            <a:solidFill>
              <a:srgbClr val="D9D9D9"/>
            </a:solidFill>
          </a:ln>
        </p:spPr>
      </p:pic>
      <p:sp>
        <p:nvSpPr>
          <p:cNvPr id="608" name="Crop Label 608"/>
          <p:cNvSpPr txBox="1"/>
          <p:nvPr/>
        </p:nvSpPr>
        <p:spPr>
          <a:xfrm>
            <a:off x="6336792" y="3493693"/>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Hewitt 2016, UK (the real source): 74% overall</a:t>
            </a:r>
          </a:p>
        </p:txBody>
      </p:sp>
      <p:pic>
        <p:nvPicPr>
          <p:cNvPr id="609" name="Crop g3x-s8-s2"/>
          <p:cNvPicPr>
            <a:picLocks noChangeAspect="1"/>
          </p:cNvPicPr>
          <p:nvPr/>
        </p:nvPicPr>
        <p:blipFill>
          <a:blip r:embed="rId704"/>
          <a:stretch>
            <a:fillRect/>
          </a:stretch>
        </p:blipFill>
        <p:spPr>
          <a:xfrm>
            <a:off x="6336792" y="3713149"/>
            <a:ext cx="5029200" cy="259811"/>
          </a:xfrm>
          <a:prstGeom prst="rect">
            <a:avLst/>
          </a:prstGeom>
          <a:ln w="6350">
            <a:solidFill>
              <a:srgbClr val="D9D9D9"/>
            </a:solidFill>
          </a:ln>
        </p:spPr>
      </p:pic>
      <p:sp>
        <p:nvSpPr>
          <p:cNvPr id="610" name="Crop Label 610"/>
          <p:cNvSpPr txBox="1"/>
          <p:nvPr/>
        </p:nvSpPr>
        <p:spPr>
          <a:xfrm>
            <a:off x="6336792" y="4100976"/>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Hewitt 2016: 83.7% (77/92) of those over 85</a:t>
            </a:r>
          </a:p>
        </p:txBody>
      </p:sp>
      <p:pic>
        <p:nvPicPr>
          <p:cNvPr id="611" name="Crop g3x-s8-s3"/>
          <p:cNvPicPr>
            <a:picLocks noChangeAspect="1"/>
          </p:cNvPicPr>
          <p:nvPr/>
        </p:nvPicPr>
        <p:blipFill>
          <a:blip r:embed="rId705"/>
          <a:stretch>
            <a:fillRect/>
          </a:stretch>
        </p:blipFill>
        <p:spPr>
          <a:xfrm>
            <a:off x="6336792" y="4320432"/>
            <a:ext cx="4206240" cy="292520"/>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Ho VP et al. JAMA Surg 2022, https://pmc.ncbi.nlm.nih.gov/articles/PMC9047756/ ; Hewitt J et al. BMJ Open 2016, https://pmc.ncbi.nlm.nih.gov/articles/PMC4823401/ ; Kyle's memo (Slack F0BDU327GEP)</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01168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The risk cap</a:t>
            </a:r>
            <a:r>
              <a:rPr lang="en-US" sz="2800" dirty="0">
                <a:solidFill>
                  <a:srgbClr val="09254A"/>
                </a:solidFill>
                <a:latin typeface="urbanist"/>
                <a:ea typeface="urbanist"/>
                <a:cs typeface="urbanist"/>
              </a:rPr>
              <a:t> is 20%,</a:t>
            </a:r>
            <a:r>
              <a:rPr lang="en-US" sz="2800" dirty="0">
                <a:solidFill>
                  <a:srgbClr val="6DCFF6"/>
                </a:solidFill>
                <a:latin typeface="urbanist"/>
                <a:ea typeface="urbanist"/>
                <a:cs typeface="urbanist"/>
              </a:rPr>
              <a:t> not ±30%</a:t>
            </a:r>
            <a:endParaRPr lang="en-US" dirty="0"/>
          </a:p>
        </p:txBody>
      </p:sp>
      <p:sp>
        <p:nvSpPr>
          <p:cNvPr id="22" name="Status 22"/>
          <p:cNvSpPr/>
          <p:nvPr/>
        </p:nvSpPr>
        <p:spPr>
          <a:xfrm>
            <a:off x="301752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p.7</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89 FR 69661 + 42 CFR 512.550</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400" b="1" dirty="0">
                <a:solidFill>
                  <a:srgbClr val="6DCFF6"/>
                </a:solidFill>
                <a:latin typeface="urbanist"/>
                <a:ea typeface="urbanist"/>
                <a:cs typeface="urbanist"/>
              </a:rPr>
              <a:t>Fix: </a:t>
            </a:r>
            <a:r>
              <a:rPr lang="en-US" sz="1400" dirty="0">
                <a:solidFill>
                  <a:srgbClr val="FFFFFF"/>
                </a:solidFill>
                <a:latin typeface="Nunito Light"/>
                <a:ea typeface="Nunito Light"/>
                <a:cs typeface="Nunito Light"/>
              </a:rPr>
              <a:t>Track 3 gains and losses are capped at 20% in every year (2026-2030). Drop ±30%, the 20-to-30% climb in Fig 4, the ‘60-point spread’ (max is 40) and ‘30% of Medicare revenue at risk’.</a:t>
            </a:r>
            <a:endParaRPr lang="en-US" dirty="0"/>
          </a:p>
        </p:txBody>
      </p:sp>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TEAM Final Rule, 89 FR 68986 (Table X.A.-02), https://www.federalregister.gov/d/2024-17021 ; 42 CFR 512.550</a:t>
            </a:r>
            <a:endParaRPr lang="en-US" dirty="0"/>
          </a:p>
        </p:txBody>
      </p:sp>
      <p:sp>
        <p:nvSpPr>
          <p:cNvPr id="301" name="Crop Label 301"/>
          <p:cNvSpPr txBox="1"/>
          <p:nvPr/>
        </p:nvSpPr>
        <p:spPr>
          <a:xfrm>
            <a:off x="822960" y="215798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p.7 headline (also on the cover, p.1, and contents, p.2)</a:t>
            </a:r>
          </a:p>
        </p:txBody>
      </p:sp>
      <p:pic>
        <p:nvPicPr>
          <p:cNvPr id="302" name="Crop g2s6-r1"/>
          <p:cNvPicPr>
            <a:picLocks noChangeAspect="1"/>
          </p:cNvPicPr>
          <p:nvPr/>
        </p:nvPicPr>
        <p:blipFill>
          <a:blip r:embed="rId31"/>
          <a:stretch>
            <a:fillRect/>
          </a:stretch>
        </p:blipFill>
        <p:spPr>
          <a:xfrm>
            <a:off x="822960" y="2377439"/>
            <a:ext cx="4572000" cy="614596"/>
          </a:xfrm>
          <a:prstGeom prst="rect">
            <a:avLst/>
          </a:prstGeom>
          <a:ln w="6350">
            <a:solidFill>
              <a:srgbClr val="D9D9D9"/>
            </a:solidFill>
          </a:ln>
        </p:spPr>
      </p:pic>
      <p:sp>
        <p:nvSpPr>
          <p:cNvPr id="303" name="Crop Label 303"/>
          <p:cNvSpPr txBox="1"/>
          <p:nvPr/>
        </p:nvSpPr>
        <p:spPr>
          <a:xfrm>
            <a:off x="822960" y="3065188"/>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p.7, Fig 4: Track 3 band climbs from 20% to 30%</a:t>
            </a:r>
          </a:p>
        </p:txBody>
      </p:sp>
      <p:pic>
        <p:nvPicPr>
          <p:cNvPr id="304" name="Crop g2s6-r2"/>
          <p:cNvPicPr>
            <a:picLocks noChangeAspect="1"/>
          </p:cNvPicPr>
          <p:nvPr/>
        </p:nvPicPr>
        <p:blipFill>
          <a:blip r:embed="rId32"/>
          <a:stretch>
            <a:fillRect/>
          </a:stretch>
        </p:blipFill>
        <p:spPr>
          <a:xfrm>
            <a:off x="822960" y="3284644"/>
            <a:ext cx="3566160" cy="1033669"/>
          </a:xfrm>
          <a:prstGeom prst="rect">
            <a:avLst/>
          </a:prstGeom>
          <a:ln w="6350">
            <a:solidFill>
              <a:srgbClr val="D9D9D9"/>
            </a:solidFill>
          </a:ln>
        </p:spPr>
      </p:pic>
      <p:sp>
        <p:nvSpPr>
          <p:cNvPr id="305" name="Crop Label 305"/>
          <p:cNvSpPr txBox="1"/>
          <p:nvPr/>
        </p:nvSpPr>
        <p:spPr>
          <a:xfrm>
            <a:off x="822960" y="4391466"/>
            <a:ext cx="5029200" cy="182880"/>
          </a:xfrm>
          <a:prstGeom prst="rect">
            <a:avLst/>
          </a:prstGeom>
          <a:noFill/>
        </p:spPr>
        <p:txBody>
          <a:bodyPr wrap="square" lIns="0" tIns="0" rIns="0" bIns="0" anchor="b">
            <a:noAutofit/>
          </a:bodyPr>
          <a:lstStyle/>
          <a:p>
            <a:pPr algn="l"/>
            <a:r>
              <a:rPr lang="en-US" sz="1000" b="1" dirty="0">
                <a:solidFill>
                  <a:srgbClr val="C8382F"/>
                </a:solidFill>
                <a:latin typeface="urbanist"/>
                <a:ea typeface="urbanist"/>
                <a:cs typeface="urbanist"/>
              </a:rPr>
              <a:t>Same page contradicts it: p.7 subhead says “up to 20% … by PY3”</a:t>
            </a:r>
          </a:p>
        </p:txBody>
      </p:sp>
      <p:pic>
        <p:nvPicPr>
          <p:cNvPr id="306" name="Crop g2s6-r3"/>
          <p:cNvPicPr>
            <a:picLocks noChangeAspect="1"/>
          </p:cNvPicPr>
          <p:nvPr/>
        </p:nvPicPr>
        <p:blipFill>
          <a:blip r:embed="rId33"/>
          <a:stretch>
            <a:fillRect/>
          </a:stretch>
        </p:blipFill>
        <p:spPr>
          <a:xfrm>
            <a:off x="822960" y="4610922"/>
            <a:ext cx="5029200" cy="180033"/>
          </a:xfrm>
          <a:prstGeom prst="rect">
            <a:avLst/>
          </a:prstGeom>
          <a:ln w="6350">
            <a:solidFill>
              <a:srgbClr val="D9D9D9"/>
            </a:solidFill>
          </a:ln>
        </p:spPr>
      </p:pic>
      <p:sp>
        <p:nvSpPr>
          <p:cNvPr id="307" name="Crop Label 307"/>
          <p:cNvSpPr txBox="1"/>
          <p:nvPr/>
        </p:nvSpPr>
        <p:spPr>
          <a:xfrm>
            <a:off x="6336792" y="215798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TEAM Final Rule, Table X.A.-02 (89 FR 69661; eligibility column omitted)</a:t>
            </a:r>
          </a:p>
        </p:txBody>
      </p:sp>
      <p:pic>
        <p:nvPicPr>
          <p:cNvPr id="308" name="Crop g2s6-s1"/>
          <p:cNvPicPr>
            <a:picLocks noChangeAspect="1"/>
          </p:cNvPicPr>
          <p:nvPr/>
        </p:nvPicPr>
        <p:blipFill>
          <a:blip r:embed="rId34"/>
          <a:stretch>
            <a:fillRect/>
          </a:stretch>
        </p:blipFill>
        <p:spPr>
          <a:xfrm>
            <a:off x="6336792" y="2377439"/>
            <a:ext cx="5029200" cy="1005840"/>
          </a:xfrm>
          <a:prstGeom prst="rect">
            <a:avLst/>
          </a:prstGeom>
          <a:ln w="6350">
            <a:solidFill>
              <a:srgbClr val="D9D9D9"/>
            </a:solidFill>
          </a:ln>
        </p:spPr>
      </p:pic>
      <p:sp>
        <p:nvSpPr>
          <p:cNvPr id="309" name="Crop Label 309"/>
          <p:cNvSpPr txBox="1"/>
          <p:nvPr/>
        </p:nvSpPr>
        <p:spPr>
          <a:xfrm>
            <a:off x="6336792" y="3535159"/>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42 CFR 512.550(e): cap applied after the quality adjustment</a:t>
            </a:r>
          </a:p>
        </p:txBody>
      </p:sp>
      <p:pic>
        <p:nvPicPr>
          <p:cNvPr id="310" name="Crop g2s6-s2"/>
          <p:cNvPicPr>
            <a:picLocks noChangeAspect="1"/>
          </p:cNvPicPr>
          <p:nvPr/>
        </p:nvPicPr>
        <p:blipFill>
          <a:blip r:embed="rId35"/>
          <a:stretch>
            <a:fillRect/>
          </a:stretch>
        </p:blipFill>
        <p:spPr>
          <a:xfrm>
            <a:off x="6336792" y="3754615"/>
            <a:ext cx="5029200" cy="441933"/>
          </a:xfrm>
          <a:prstGeom prst="rect">
            <a:avLst/>
          </a:prstGeom>
          <a:ln w="6350">
            <a:solidFill>
              <a:srgbClr val="D9D9D9"/>
            </a:solid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01168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Yes</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California: </a:t>
            </a:r>
            <a:r>
              <a:rPr lang="en-US" sz="2800" dirty="0">
                <a:solidFill>
                  <a:srgbClr val="09254A"/>
                </a:solidFill>
                <a:latin typeface="urbanist"/>
                <a:ea typeface="urbanist"/>
                <a:cs typeface="urbanist"/>
              </a:rPr>
              <a:t>107 hospitals in 11 metro areas, </a:t>
            </a:r>
            <a:r>
              <a:rPr lang="en-US" sz="2800" dirty="0">
                <a:solidFill>
                  <a:srgbClr val="6DCFF6"/>
                </a:solidFill>
                <a:latin typeface="urbanist"/>
                <a:ea typeface="urbanist"/>
                <a:cs typeface="urbanist"/>
              </a:rPr>
              <a:t>not 110 in 26 counties</a:t>
            </a:r>
            <a:endParaRPr lang="en-US" dirty="0"/>
          </a:p>
        </p:txBody>
      </p:sp>
      <p:sp>
        <p:nvSpPr>
          <p:cNvPr id="22" name="Status 22"/>
          <p:cNvSpPr/>
          <p:nvPr/>
        </p:nvSpPr>
        <p:spPr>
          <a:xfrm>
            <a:off x="301752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p.8</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CMS TEAM Participant List</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Fix: </a:t>
            </a:r>
            <a:r>
              <a:rPr lang="en-US" sz="1300" dirty="0">
                <a:solidFill>
                  <a:srgbClr val="FFFFFF"/>
                </a:solidFill>
                <a:latin typeface="Nunito Light"/>
                <a:ea typeface="Nunito Light"/>
                <a:cs typeface="Nunito Light"/>
              </a:rPr>
              <a:t>107 mandated hospitals in 11 metro areas. LA-Long Beach-Anaheim isn't a mandatory area (Cedars-Sinai joined voluntarily). Rebuild the regional counts (they sum to 118). Kyle flagged 110 vs 118 on Jun 26; not fixed.</a:t>
            </a:r>
            <a:endParaRPr lang="en-US" dirty="0"/>
          </a:p>
        </p:txBody>
      </p:sp>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CMS TEAM Participant List spreadsheet (Aug 18, 2026); counts tallied from the CMS file. https://www.cms.gov/team-model-participant-list</a:t>
            </a:r>
            <a:endParaRPr lang="en-US" dirty="0"/>
          </a:p>
        </p:txBody>
      </p:sp>
      <p:sp>
        <p:nvSpPr>
          <p:cNvPr id="301" name="Crop Label 301"/>
          <p:cNvSpPr txBox="1"/>
          <p:nvPr/>
        </p:nvSpPr>
        <p:spPr>
          <a:xfrm>
            <a:off x="822960" y="215798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p.8 (California section)</a:t>
            </a:r>
          </a:p>
        </p:txBody>
      </p:sp>
      <p:pic>
        <p:nvPicPr>
          <p:cNvPr id="302" name="Crop g3s7-r1"/>
          <p:cNvPicPr>
            <a:picLocks noChangeAspect="1"/>
          </p:cNvPicPr>
          <p:nvPr/>
        </p:nvPicPr>
        <p:blipFill>
          <a:blip r:embed="rId31"/>
          <a:stretch>
            <a:fillRect/>
          </a:stretch>
        </p:blipFill>
        <p:spPr>
          <a:xfrm>
            <a:off x="822960" y="2377439"/>
            <a:ext cx="5029200" cy="724486"/>
          </a:xfrm>
          <a:prstGeom prst="rect">
            <a:avLst/>
          </a:prstGeom>
          <a:ln w="6350">
            <a:solidFill>
              <a:srgbClr val="D9D9D9"/>
            </a:solidFill>
          </a:ln>
        </p:spPr>
      </p:pic>
      <p:sp>
        <p:nvSpPr>
          <p:cNvPr id="303" name="Crop Label 303"/>
          <p:cNvSpPr txBox="1"/>
          <p:nvPr/>
        </p:nvSpPr>
        <p:spPr>
          <a:xfrm>
            <a:off x="822960" y="322994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p.8 (stat boxes)</a:t>
            </a:r>
          </a:p>
        </p:txBody>
      </p:sp>
      <p:pic>
        <p:nvPicPr>
          <p:cNvPr id="304" name="Crop g3s7-r2"/>
          <p:cNvPicPr>
            <a:picLocks noChangeAspect="1"/>
          </p:cNvPicPr>
          <p:nvPr/>
        </p:nvPicPr>
        <p:blipFill>
          <a:blip r:embed="rId32"/>
          <a:stretch>
            <a:fillRect/>
          </a:stretch>
        </p:blipFill>
        <p:spPr>
          <a:xfrm>
            <a:off x="822960" y="3449398"/>
            <a:ext cx="4206240" cy="1145699"/>
          </a:xfrm>
          <a:prstGeom prst="rect">
            <a:avLst/>
          </a:prstGeom>
          <a:ln w="6350">
            <a:solidFill>
              <a:srgbClr val="D9D9D9"/>
            </a:solidFill>
          </a:ln>
        </p:spPr>
      </p:pic>
      <p:sp>
        <p:nvSpPr>
          <p:cNvPr id="305" name="Crop Label 305"/>
          <p:cNvSpPr txBox="1"/>
          <p:nvPr/>
        </p:nvSpPr>
        <p:spPr>
          <a:xfrm>
            <a:off x="6336792" y="215798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CMS TEAM Participant List (Aug 18, 2026), California rows tallied from the CMS file</a:t>
            </a:r>
          </a:p>
        </p:txBody>
      </p:sp>
      <p:pic>
        <p:nvPicPr>
          <p:cNvPr id="306" name="Crop g3s7-s1"/>
          <p:cNvPicPr>
            <a:picLocks noChangeAspect="1"/>
          </p:cNvPicPr>
          <p:nvPr/>
        </p:nvPicPr>
        <p:blipFill>
          <a:blip r:embed="rId33"/>
          <a:stretch>
            <a:fillRect/>
          </a:stretch>
        </p:blipFill>
        <p:spPr>
          <a:xfrm>
            <a:off x="6336792" y="2377439"/>
            <a:ext cx="2743200" cy="2448146"/>
          </a:xfrm>
          <a:prstGeom prst="rect">
            <a:avLst/>
          </a:prstGeom>
          <a:ln w="6350">
            <a:solidFill>
              <a:srgbClr val="D9D9D9"/>
            </a:solidFill>
          </a:ln>
        </p:spPr>
      </p:pic>
      <p:pic>
        <p:nvPicPr>
          <p:cNvPr id="307" name="Crop g3s7-s2"/>
          <p:cNvPicPr>
            <a:picLocks noChangeAspect="1"/>
          </p:cNvPicPr>
          <p:nvPr/>
        </p:nvPicPr>
        <p:blipFill>
          <a:blip r:embed="rId34"/>
          <a:stretch>
            <a:fillRect/>
          </a:stretch>
        </p:blipFill>
        <p:spPr>
          <a:xfrm>
            <a:off x="9217152" y="2377439"/>
            <a:ext cx="2148840" cy="544278"/>
          </a:xfrm>
          <a:prstGeom prst="rect">
            <a:avLst/>
          </a:prstGeom>
          <a:ln w="6350">
            <a:solidFill>
              <a:srgbClr val="D9D9D9"/>
            </a:solid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Partly</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Fig 3 &amp; 204,014: </a:t>
            </a:r>
            <a:r>
              <a:rPr lang="en-US" sz="2800" dirty="0">
                <a:solidFill>
                  <a:srgbClr val="09254A"/>
                </a:solidFill>
                <a:latin typeface="urbanist"/>
                <a:ea typeface="urbanist"/>
                <a:cs typeface="urbanist"/>
              </a:rPr>
              <a:t>ACS averages, </a:t>
            </a:r>
            <a:r>
              <a:rPr lang="en-US" sz="2800" dirty="0">
                <a:solidFill>
                  <a:srgbClr val="6DCFF6"/>
                </a:solidFill>
                <a:latin typeface="urbanist"/>
                <a:ea typeface="urbanist"/>
                <a:cs typeface="urbanist"/>
              </a:rPr>
              <a:t>labeled as max win/loss</a:t>
            </a:r>
            <a:endParaRPr lang="en-US" dirty="0"/>
          </a:p>
        </p:txBody>
      </p:sp>
      <p:sp>
        <p:nvSpPr>
          <p:cNvPr id="22" name="Status 22"/>
          <p:cNvSpPr/>
          <p:nvPr/>
        </p:nvSpPr>
        <p:spPr>
          <a:xfrm>
            <a:off x="310896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p.6</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ACS / IAC Table 1 (2023)</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Fix: </a:t>
            </a:r>
            <a:r>
              <a:rPr lang="en-US" sz="1300" dirty="0">
                <a:solidFill>
                  <a:srgbClr val="FFFFFF"/>
                </a:solidFill>
                <a:latin typeface="Nunito Light"/>
                <a:ea typeface="Nunito Light"/>
                <a:cs typeface="Nunito Light"/>
              </a:rPr>
              <a:t>Retitle Fig 3 "Average gain vs loss per case (2023, uncapped)" and cite ACS/IAC; label 204,014 as "~204,000 qualifying Medicare episodes in 2023 (ACS/IAC)". Kyle asked to confirm the episode count on Jun 26; not done.</a:t>
            </a:r>
            <a:endParaRPr lang="en-US" dirty="0"/>
          </a:p>
        </p:txBody>
      </p:sp>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ACS / IAC, Transforming Episode Accountability Model: How TEAM could impact revenues, https://www.facs.org/advocacy/transforming-episode-accountability-model/</a:t>
            </a:r>
            <a:endParaRPr lang="en-US" dirty="0"/>
          </a:p>
        </p:txBody>
      </p:sp>
      <p:pic>
        <p:nvPicPr>
          <p:cNvPr id="301" name="Crop g3s8-r1"/>
          <p:cNvPicPr>
            <a:picLocks noChangeAspect="1"/>
          </p:cNvPicPr>
          <p:nvPr/>
        </p:nvPicPr>
        <p:blipFill>
          <a:blip r:embed="rId31"/>
          <a:stretch>
            <a:fillRect/>
          </a:stretch>
        </p:blipFill>
        <p:spPr>
          <a:xfrm>
            <a:off x="822960" y="2157984"/>
            <a:ext cx="1188720" cy="720024"/>
          </a:xfrm>
          <a:prstGeom prst="rect">
            <a:avLst/>
          </a:prstGeom>
          <a:ln w="6350">
            <a:solidFill>
              <a:srgbClr val="D9D9D9"/>
            </a:solidFill>
          </a:ln>
        </p:spPr>
      </p:pic>
      <p:sp>
        <p:nvSpPr>
          <p:cNvPr id="302" name="Crop Label 302"/>
          <p:cNvSpPr txBox="1"/>
          <p:nvPr/>
        </p:nvSpPr>
        <p:spPr>
          <a:xfrm>
            <a:off x="2148840" y="2448240"/>
            <a:ext cx="347472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p.6 stat box: “204,014” has no citation</a:t>
            </a:r>
          </a:p>
        </p:txBody>
      </p:sp>
      <p:sp>
        <p:nvSpPr>
          <p:cNvPr id="303" name="Crop Label 303"/>
          <p:cNvSpPr txBox="1"/>
          <p:nvPr/>
        </p:nvSpPr>
        <p:spPr>
          <a:xfrm>
            <a:off x="822960" y="2951160"/>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p.6, Fig 3 (caption cites refs 9 and 12)</a:t>
            </a:r>
          </a:p>
        </p:txBody>
      </p:sp>
      <p:pic>
        <p:nvPicPr>
          <p:cNvPr id="304" name="Crop g3s8-r2"/>
          <p:cNvPicPr>
            <a:picLocks noChangeAspect="1"/>
          </p:cNvPicPr>
          <p:nvPr/>
        </p:nvPicPr>
        <p:blipFill>
          <a:blip r:embed="rId32"/>
          <a:stretch>
            <a:fillRect/>
          </a:stretch>
        </p:blipFill>
        <p:spPr>
          <a:xfrm>
            <a:off x="822960" y="3170616"/>
            <a:ext cx="4389120" cy="1516539"/>
          </a:xfrm>
          <a:prstGeom prst="rect">
            <a:avLst/>
          </a:prstGeom>
          <a:ln w="6350">
            <a:solidFill>
              <a:srgbClr val="D9D9D9"/>
            </a:solidFill>
          </a:ln>
        </p:spPr>
      </p:pic>
      <p:pic>
        <p:nvPicPr>
          <p:cNvPr id="305" name="Crop g3s8-r3"/>
          <p:cNvPicPr>
            <a:picLocks noChangeAspect="1"/>
          </p:cNvPicPr>
          <p:nvPr/>
        </p:nvPicPr>
        <p:blipFill>
          <a:blip r:embed="rId33"/>
          <a:stretch>
            <a:fillRect/>
          </a:stretch>
        </p:blipFill>
        <p:spPr>
          <a:xfrm>
            <a:off x="822960" y="4760307"/>
            <a:ext cx="5029200" cy="266150"/>
          </a:xfrm>
          <a:prstGeom prst="rect">
            <a:avLst/>
          </a:prstGeom>
          <a:ln w="6350">
            <a:solidFill>
              <a:srgbClr val="D9D9D9"/>
            </a:solidFill>
          </a:ln>
        </p:spPr>
      </p:pic>
      <p:sp>
        <p:nvSpPr>
          <p:cNvPr id="306" name="Crop Label 306"/>
          <p:cNvSpPr txBox="1"/>
          <p:nvPr/>
        </p:nvSpPr>
        <p:spPr>
          <a:xfrm>
            <a:off x="6336792" y="215798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ACS / Institute for Accountable Care, Table 1 (2023 Medicare data)</a:t>
            </a:r>
          </a:p>
        </p:txBody>
      </p:sp>
      <p:pic>
        <p:nvPicPr>
          <p:cNvPr id="307" name="Crop g3s8-s1"/>
          <p:cNvPicPr>
            <a:picLocks noChangeAspect="1"/>
          </p:cNvPicPr>
          <p:nvPr/>
        </p:nvPicPr>
        <p:blipFill>
          <a:blip r:embed="rId34"/>
          <a:stretch>
            <a:fillRect/>
          </a:stretch>
        </p:blipFill>
        <p:spPr>
          <a:xfrm>
            <a:off x="6336792" y="2377439"/>
            <a:ext cx="5029200" cy="1213338"/>
          </a:xfrm>
          <a:prstGeom prst="rect">
            <a:avLst/>
          </a:prstGeom>
          <a:ln w="6350">
            <a:solidFill>
              <a:srgbClr val="D9D9D9"/>
            </a:solidFill>
          </a:ln>
        </p:spPr>
      </p:pic>
      <p:pic>
        <p:nvPicPr>
          <p:cNvPr id="308" name="Crop g3s8-s1b"/>
          <p:cNvPicPr>
            <a:picLocks noChangeAspect="1"/>
          </p:cNvPicPr>
          <p:nvPr/>
        </p:nvPicPr>
        <p:blipFill>
          <a:blip r:embed="rId35"/>
          <a:stretch>
            <a:fillRect/>
          </a:stretch>
        </p:blipFill>
        <p:spPr>
          <a:xfrm>
            <a:off x="6336792" y="3663930"/>
            <a:ext cx="4206240" cy="167980"/>
          </a:xfrm>
          <a:prstGeom prst="rect">
            <a:avLst/>
          </a:prstGeom>
          <a:ln w="6350">
            <a:solidFill>
              <a:srgbClr val="D9D9D9"/>
            </a:solidFill>
          </a:ln>
        </p:spPr>
      </p:pic>
      <p:sp>
        <p:nvSpPr>
          <p:cNvPr id="311" name="Ref 12 Note"/>
          <p:cNvSpPr txBox="1"/>
          <p:nvPr/>
        </p:nvSpPr>
        <p:spPr>
          <a:xfrm>
            <a:off x="6336792" y="4005072"/>
            <a:ext cx="5029200" cy="1005840"/>
          </a:xfrm>
          <a:prstGeom prst="rect">
            <a:avLst/>
          </a:prstGeom>
          <a:noFill/>
        </p:spPr>
        <p:txBody>
          <a:bodyPr wrap="square" lIns="0" tIns="0" rIns="0" bIns="0" anchor="t">
            <a:noAutofit/>
          </a:bodyPr>
          <a:lstStyle/>
          <a:p>
            <a:pPr algn="l"/>
            <a:r>
              <a:rPr lang="en-US" sz="1200" dirty="0">
                <a:solidFill>
                  <a:srgbClr val="09254A"/>
                </a:solidFill>
                <a:latin typeface="Nunito Light"/>
                <a:ea typeface="Nunito Light"/>
                <a:cs typeface="Nunito Light"/>
              </a:rPr>
              <a:t>All 10 Fig 3 dollar figures are this table's average gain or loss per case, with no caps, not "max" amounts. 204,014 is the table's 2023 case total, not annual episodes.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CJR-X </a:t>
            </a:r>
            <a:r>
              <a:rPr lang="en-US" sz="2800" dirty="0">
                <a:solidFill>
                  <a:srgbClr val="09254A"/>
                </a:solidFill>
                <a:latin typeface="urbanist"/>
                <a:ea typeface="urbanist"/>
                <a:cs typeface="urbanist"/>
              </a:rPr>
              <a:t>now starts </a:t>
            </a:r>
            <a:r>
              <a:rPr lang="en-US" sz="2800" dirty="0">
                <a:solidFill>
                  <a:srgbClr val="6DCFF6"/>
                </a:solidFill>
                <a:latin typeface="urbanist"/>
                <a:ea typeface="urbanist"/>
                <a:cs typeface="urbanist"/>
              </a:rPr>
              <a:t>Jan 1, 2028</a:t>
            </a:r>
            <a:endParaRPr lang="en-US" dirty="0"/>
          </a:p>
        </p:txBody>
      </p:sp>
      <p:sp>
        <p:nvSpPr>
          <p:cNvPr id="22" name="Status 22"/>
          <p:cNvSpPr/>
          <p:nvPr/>
        </p:nvSpPr>
        <p:spPr>
          <a:xfrm>
            <a:off x="3108960" y="534924"/>
            <a:ext cx="1463040" cy="310896"/>
          </a:xfrm>
          <a:prstGeom prst="roundRect">
            <a:avLst>
              <a:gd name="adj" fmla="val 50000"/>
            </a:avLst>
          </a:prstGeom>
          <a:solidFill>
            <a:srgbClr val="C47F00"/>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Outdated</a:t>
            </a:r>
          </a:p>
        </p:txBody>
      </p:sp>
      <p:sp>
        <p:nvSpPr>
          <p:cNvPr id="30" name="Report Header"/>
          <p:cNvSpPr/>
          <p:nvPr/>
        </p:nvSpPr>
        <p:spPr>
          <a:xfrm>
            <a:off x="685800"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p.3, p.11</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CJR-X Final Rule, Aug 4, 2026</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Fix: </a:t>
            </a:r>
            <a:r>
              <a:rPr lang="en-US" sz="1300" dirty="0">
                <a:solidFill>
                  <a:srgbClr val="FFFFFF"/>
                </a:solidFill>
                <a:latin typeface="Nunito Light"/>
                <a:ea typeface="Nunito Light"/>
                <a:cs typeface="Nunito Light"/>
              </a:rPr>
              <a:t>Say CJR-X was finalized (CMS-1849-F, Aug 4, 2026) to start Jan 1, 2028 with ~2,200 hospitals (2,217 on the Sept 30 list, not 2,500+); stat box "~2,200 via CJR-X (2028)"; cite the final rule, not the Apr 10 proposed rule.</a:t>
            </a:r>
            <a:endParaRPr lang="en-US" dirty="0"/>
          </a:p>
        </p:txBody>
      </p:sp>
      <p:sp>
        <p:nvSpPr>
          <p:cNvPr id="600" name="Crop Label 600"/>
          <p:cNvSpPr txBox="1"/>
          <p:nvPr/>
        </p:nvSpPr>
        <p:spPr>
          <a:xfrm>
            <a:off x="822960" y="2194560"/>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p.3: written before the final rule (Aug 4, after the Jul 27 release)</a:t>
            </a:r>
          </a:p>
        </p:txBody>
      </p:sp>
      <p:pic>
        <p:nvPicPr>
          <p:cNvPr id="601" name="Crop g3s9-r1"/>
          <p:cNvPicPr>
            <a:picLocks noChangeAspect="1"/>
          </p:cNvPicPr>
          <p:nvPr/>
        </p:nvPicPr>
        <p:blipFill>
          <a:blip r:embed="rId700"/>
          <a:stretch>
            <a:fillRect/>
          </a:stretch>
        </p:blipFill>
        <p:spPr>
          <a:xfrm>
            <a:off x="822960" y="2414015"/>
            <a:ext cx="3840480" cy="1356969"/>
          </a:xfrm>
          <a:prstGeom prst="rect">
            <a:avLst/>
          </a:prstGeom>
          <a:ln w="6350">
            <a:solidFill>
              <a:srgbClr val="D9D9D9"/>
            </a:solidFill>
          </a:ln>
        </p:spPr>
      </p:pic>
      <p:sp>
        <p:nvSpPr>
          <p:cNvPr id="602" name="Crop Label 602"/>
          <p:cNvSpPr txBox="1"/>
          <p:nvPr/>
        </p:nvSpPr>
        <p:spPr>
          <a:xfrm>
            <a:off x="822960" y="3862425"/>
            <a:ext cx="13716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p.3 stat box</a:t>
            </a:r>
          </a:p>
        </p:txBody>
      </p:sp>
      <p:pic>
        <p:nvPicPr>
          <p:cNvPr id="603" name="Crop g3s9-r2"/>
          <p:cNvPicPr>
            <a:picLocks noChangeAspect="1"/>
          </p:cNvPicPr>
          <p:nvPr/>
        </p:nvPicPr>
        <p:blipFill>
          <a:blip r:embed="rId701"/>
          <a:stretch>
            <a:fillRect/>
          </a:stretch>
        </p:blipFill>
        <p:spPr>
          <a:xfrm>
            <a:off x="822960" y="4081881"/>
            <a:ext cx="1188720" cy="936117"/>
          </a:xfrm>
          <a:prstGeom prst="rect">
            <a:avLst/>
          </a:prstGeom>
          <a:ln w="6350">
            <a:solidFill>
              <a:srgbClr val="D9D9D9"/>
            </a:solidFill>
          </a:ln>
        </p:spPr>
      </p:pic>
      <p:sp>
        <p:nvSpPr>
          <p:cNvPr id="604" name="Crop Label 604"/>
          <p:cNvSpPr txBox="1"/>
          <p:nvPr/>
        </p:nvSpPr>
        <p:spPr>
          <a:xfrm>
            <a:off x="2194560" y="3862425"/>
            <a:ext cx="356616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p.11 ref 10: still the Apr 10 proposed rule</a:t>
            </a:r>
          </a:p>
        </p:txBody>
      </p:sp>
      <p:pic>
        <p:nvPicPr>
          <p:cNvPr id="605" name="Crop g7x-s19-r3"/>
          <p:cNvPicPr>
            <a:picLocks noChangeAspect="1"/>
          </p:cNvPicPr>
          <p:nvPr/>
        </p:nvPicPr>
        <p:blipFill>
          <a:blip r:embed="rId702"/>
          <a:stretch>
            <a:fillRect/>
          </a:stretch>
        </p:blipFill>
        <p:spPr>
          <a:xfrm>
            <a:off x="2194560" y="4081881"/>
            <a:ext cx="3566160" cy="617045"/>
          </a:xfrm>
          <a:prstGeom prst="rect">
            <a:avLst/>
          </a:prstGeom>
          <a:ln w="6350">
            <a:solidFill>
              <a:srgbClr val="D9D9D9"/>
            </a:solidFill>
          </a:ln>
        </p:spPr>
      </p:pic>
      <p:sp>
        <p:nvSpPr>
          <p:cNvPr id="606" name="Crop Label 606"/>
          <p:cNvSpPr txBox="1"/>
          <p:nvPr/>
        </p:nvSpPr>
        <p:spPr>
          <a:xfrm>
            <a:off x="6336792" y="2194560"/>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CJR-X Final Rule (CMS-1849-F), 91 FR 49574, Aug 4, 2026</a:t>
            </a:r>
          </a:p>
        </p:txBody>
      </p:sp>
      <p:pic>
        <p:nvPicPr>
          <p:cNvPr id="607" name="Crop g3s9-s0"/>
          <p:cNvPicPr>
            <a:picLocks noChangeAspect="1"/>
          </p:cNvPicPr>
          <p:nvPr/>
        </p:nvPicPr>
        <p:blipFill>
          <a:blip r:embed="rId703"/>
          <a:stretch>
            <a:fillRect/>
          </a:stretch>
        </p:blipFill>
        <p:spPr>
          <a:xfrm>
            <a:off x="6336792" y="2413768"/>
            <a:ext cx="5029200" cy="228352"/>
          </a:xfrm>
          <a:prstGeom prst="rect">
            <a:avLst/>
          </a:prstGeom>
          <a:ln w="6350">
            <a:solidFill>
              <a:srgbClr val="D9D9D9"/>
            </a:solidFill>
          </a:ln>
        </p:spPr>
      </p:pic>
      <p:pic>
        <p:nvPicPr>
          <p:cNvPr id="609" name="Crop g3s9-s1"/>
          <p:cNvPicPr>
            <a:picLocks noChangeAspect="1"/>
          </p:cNvPicPr>
          <p:nvPr/>
        </p:nvPicPr>
        <p:blipFill>
          <a:blip r:embed="rId704"/>
          <a:stretch>
            <a:fillRect/>
          </a:stretch>
        </p:blipFill>
        <p:spPr>
          <a:xfrm>
            <a:off x="6336792" y="2724912"/>
            <a:ext cx="2377440" cy="1671044"/>
          </a:xfrm>
          <a:prstGeom prst="rect">
            <a:avLst/>
          </a:prstGeom>
          <a:ln w="6350">
            <a:solidFill>
              <a:srgbClr val="D9D9D9"/>
            </a:solidFill>
          </a:ln>
        </p:spPr>
      </p:pic>
      <p:sp>
        <p:nvSpPr>
          <p:cNvPr id="610" name="Crop Label 610"/>
          <p:cNvSpPr txBox="1"/>
          <p:nvPr/>
        </p:nvSpPr>
        <p:spPr>
          <a:xfrm>
            <a:off x="8915400" y="2724912"/>
            <a:ext cx="219456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Same page, next column</a:t>
            </a:r>
          </a:p>
        </p:txBody>
      </p:sp>
      <p:pic>
        <p:nvPicPr>
          <p:cNvPr id="611" name="Crop g3s9-s2"/>
          <p:cNvPicPr>
            <a:picLocks noChangeAspect="1"/>
          </p:cNvPicPr>
          <p:nvPr/>
        </p:nvPicPr>
        <p:blipFill>
          <a:blip r:embed="rId705"/>
          <a:stretch>
            <a:fillRect/>
          </a:stretch>
        </p:blipFill>
        <p:spPr>
          <a:xfrm>
            <a:off x="8915400" y="2944368"/>
            <a:ext cx="2194560" cy="380245"/>
          </a:xfrm>
          <a:prstGeom prst="rect">
            <a:avLst/>
          </a:prstGeom>
          <a:ln w="6350">
            <a:solidFill>
              <a:srgbClr val="D9D9D9"/>
            </a:solidFill>
          </a:ln>
        </p:spPr>
      </p:pic>
      <p:sp>
        <p:nvSpPr>
          <p:cNvPr id="612" name="Crop Label 612"/>
          <p:cNvSpPr txBox="1"/>
          <p:nvPr/>
        </p:nvSpPr>
        <p:spPr>
          <a:xfrm>
            <a:off x="8915400" y="3429000"/>
            <a:ext cx="237744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91 FR 50439: CMS's own estimate</a:t>
            </a:r>
          </a:p>
        </p:txBody>
      </p:sp>
      <p:pic>
        <p:nvPicPr>
          <p:cNvPr id="613" name="Crop g7x-s19-s3"/>
          <p:cNvPicPr>
            <a:picLocks noChangeAspect="1"/>
          </p:cNvPicPr>
          <p:nvPr/>
        </p:nvPicPr>
        <p:blipFill>
          <a:blip r:embed="rId706"/>
          <a:stretch>
            <a:fillRect/>
          </a:stretch>
        </p:blipFill>
        <p:spPr>
          <a:xfrm>
            <a:off x="8915400" y="3648456"/>
            <a:ext cx="2377440" cy="365760"/>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CJR-X Final Rule (CMS-1849-F), 91 FR 49574, 50439, Aug 4, 2026, https://www.federalregister.gov/d/2026-15833 ; ref 10 = proposed rule CMS-1849-P</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01168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Yes</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40%: </a:t>
            </a:r>
            <a:r>
              <a:rPr lang="en-US" sz="2800" dirty="0">
                <a:solidFill>
                  <a:srgbClr val="09254A"/>
                </a:solidFill>
                <a:latin typeface="urbanist"/>
                <a:ea typeface="urbanist"/>
                <a:cs typeface="urbanist"/>
              </a:rPr>
              <a:t>Etzioni counts all hospital stays, </a:t>
            </a:r>
            <a:r>
              <a:rPr lang="en-US" sz="2800" dirty="0">
                <a:solidFill>
                  <a:srgbClr val="6DCFF6"/>
                </a:solidFill>
                <a:latin typeface="urbanist"/>
                <a:ea typeface="urbanist"/>
                <a:cs typeface="urbanist"/>
              </a:rPr>
              <a:t>not surgeries</a:t>
            </a:r>
            <a:endParaRPr lang="en-US" dirty="0"/>
          </a:p>
        </p:txBody>
      </p:sp>
      <p:sp>
        <p:nvSpPr>
          <p:cNvPr id="22" name="Status 22"/>
          <p:cNvSpPr/>
          <p:nvPr/>
        </p:nvSpPr>
        <p:spPr>
          <a:xfrm>
            <a:off x="301752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p.3, p.11</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Etzioni 2003 + AHRQ HCUP</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400" b="1" dirty="0">
                <a:solidFill>
                  <a:srgbClr val="6DCFF6"/>
                </a:solidFill>
                <a:latin typeface="urbanist"/>
                <a:ea typeface="urbanist"/>
                <a:cs typeface="urbanist"/>
              </a:rPr>
              <a:t>Fix: </a:t>
            </a:r>
            <a:r>
              <a:rPr lang="en-US" sz="1400" dirty="0">
                <a:solidFill>
                  <a:srgbClr val="FFFFFF"/>
                </a:solidFill>
                <a:latin typeface="Nunito Light"/>
                <a:ea typeface="Nunito Light"/>
                <a:cs typeface="Nunito Light"/>
              </a:rPr>
              <a:t>Say adults 65+ account for "more than a third (~37%) of inpatient surgical stays", cite AHRQ HCUP Statistical Brief #281 (2018 data), and change the ≈40% stat box to ~37%.</a:t>
            </a:r>
            <a:endParaRPr lang="en-US" dirty="0"/>
          </a:p>
        </p:txBody>
      </p:sp>
      <p:sp>
        <p:nvSpPr>
          <p:cNvPr id="600" name="Crop Label 600"/>
          <p:cNvSpPr txBox="1"/>
          <p:nvPr/>
        </p:nvSpPr>
        <p:spPr>
          <a:xfrm>
            <a:off x="822960" y="2167127"/>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p.3 text</a:t>
            </a:r>
          </a:p>
        </p:txBody>
      </p:sp>
      <p:pic>
        <p:nvPicPr>
          <p:cNvPr id="601" name="Crop g4s10-r1b"/>
          <p:cNvPicPr>
            <a:picLocks noChangeAspect="1"/>
          </p:cNvPicPr>
          <p:nvPr/>
        </p:nvPicPr>
        <p:blipFill>
          <a:blip r:embed="rId700"/>
          <a:stretch>
            <a:fillRect/>
          </a:stretch>
        </p:blipFill>
        <p:spPr>
          <a:xfrm>
            <a:off x="822960" y="2386583"/>
            <a:ext cx="5029200" cy="539343"/>
          </a:xfrm>
          <a:prstGeom prst="rect">
            <a:avLst/>
          </a:prstGeom>
          <a:ln w="6350">
            <a:solidFill>
              <a:srgbClr val="D9D9D9"/>
            </a:solidFill>
          </a:ln>
        </p:spPr>
      </p:pic>
      <p:sp>
        <p:nvSpPr>
          <p:cNvPr id="602" name="Crop Label 602"/>
          <p:cNvSpPr txBox="1"/>
          <p:nvPr/>
        </p:nvSpPr>
        <p:spPr>
          <a:xfrm>
            <a:off x="822960" y="3035655"/>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p.3 stat box</a:t>
            </a:r>
          </a:p>
        </p:txBody>
      </p:sp>
      <p:pic>
        <p:nvPicPr>
          <p:cNvPr id="603" name="Crop g4s10-r2b"/>
          <p:cNvPicPr>
            <a:picLocks noChangeAspect="1"/>
          </p:cNvPicPr>
          <p:nvPr/>
        </p:nvPicPr>
        <p:blipFill>
          <a:blip r:embed="rId701"/>
          <a:stretch>
            <a:fillRect/>
          </a:stretch>
        </p:blipFill>
        <p:spPr>
          <a:xfrm>
            <a:off x="822960" y="3255111"/>
            <a:ext cx="1280160" cy="924560"/>
          </a:xfrm>
          <a:prstGeom prst="rect">
            <a:avLst/>
          </a:prstGeom>
          <a:ln w="6350">
            <a:solidFill>
              <a:srgbClr val="D9D9D9"/>
            </a:solidFill>
          </a:ln>
        </p:spPr>
      </p:pic>
      <p:sp>
        <p:nvSpPr>
          <p:cNvPr id="604" name="Crop Label 604"/>
          <p:cNvSpPr txBox="1"/>
          <p:nvPr/>
        </p:nvSpPr>
        <p:spPr>
          <a:xfrm>
            <a:off x="822960" y="4289399"/>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p.11: ref 2, swapped in for Becher on Jun 29</a:t>
            </a:r>
          </a:p>
        </p:txBody>
      </p:sp>
      <p:pic>
        <p:nvPicPr>
          <p:cNvPr id="605" name="Crop g4s10-r3b"/>
          <p:cNvPicPr>
            <a:picLocks noChangeAspect="1"/>
          </p:cNvPicPr>
          <p:nvPr/>
        </p:nvPicPr>
        <p:blipFill>
          <a:blip r:embed="rId702"/>
          <a:stretch>
            <a:fillRect/>
          </a:stretch>
        </p:blipFill>
        <p:spPr>
          <a:xfrm>
            <a:off x="822960" y="4508855"/>
            <a:ext cx="4206240" cy="610864"/>
          </a:xfrm>
          <a:prstGeom prst="rect">
            <a:avLst/>
          </a:prstGeom>
          <a:ln w="6350">
            <a:solidFill>
              <a:srgbClr val="D9D9D9"/>
            </a:solidFill>
          </a:ln>
        </p:spPr>
      </p:pic>
      <p:sp>
        <p:nvSpPr>
          <p:cNvPr id="606" name="Crop Label 606"/>
          <p:cNvSpPr txBox="1"/>
          <p:nvPr/>
        </p:nvSpPr>
        <p:spPr>
          <a:xfrm>
            <a:off x="6336792" y="2629621"/>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Etzioni 2003 (cited): 40% of all hospital discharges in 1999</a:t>
            </a:r>
          </a:p>
        </p:txBody>
      </p:sp>
      <p:pic>
        <p:nvPicPr>
          <p:cNvPr id="607" name="Crop g4s10-s1b"/>
          <p:cNvPicPr>
            <a:picLocks noChangeAspect="1"/>
          </p:cNvPicPr>
          <p:nvPr/>
        </p:nvPicPr>
        <p:blipFill>
          <a:blip r:embed="rId703"/>
          <a:stretch>
            <a:fillRect/>
          </a:stretch>
        </p:blipFill>
        <p:spPr>
          <a:xfrm>
            <a:off x="6336792" y="2849077"/>
            <a:ext cx="5029200" cy="518160"/>
          </a:xfrm>
          <a:prstGeom prst="rect">
            <a:avLst/>
          </a:prstGeom>
          <a:ln w="6350">
            <a:solidFill>
              <a:srgbClr val="D9D9D9"/>
            </a:solidFill>
          </a:ln>
        </p:spPr>
      </p:pic>
      <p:sp>
        <p:nvSpPr>
          <p:cNvPr id="608" name="Crop Label 608"/>
          <p:cNvSpPr txBox="1"/>
          <p:nvPr/>
        </p:nvSpPr>
        <p:spPr>
          <a:xfrm>
            <a:off x="6336792" y="3476965"/>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Etzioni 2003 methods: surgery rates from 1996 survey data</a:t>
            </a:r>
          </a:p>
        </p:txBody>
      </p:sp>
      <p:pic>
        <p:nvPicPr>
          <p:cNvPr id="609" name="Crop g4s10-s2b"/>
          <p:cNvPicPr>
            <a:picLocks noChangeAspect="1"/>
          </p:cNvPicPr>
          <p:nvPr/>
        </p:nvPicPr>
        <p:blipFill>
          <a:blip r:embed="rId704"/>
          <a:stretch>
            <a:fillRect/>
          </a:stretch>
        </p:blipFill>
        <p:spPr>
          <a:xfrm>
            <a:off x="6336792" y="3696421"/>
            <a:ext cx="5029200" cy="188595"/>
          </a:xfrm>
          <a:prstGeom prst="rect">
            <a:avLst/>
          </a:prstGeom>
          <a:ln w="6350">
            <a:solidFill>
              <a:srgbClr val="D9D9D9"/>
            </a:solidFill>
          </a:ln>
        </p:spPr>
      </p:pic>
      <p:sp>
        <p:nvSpPr>
          <p:cNvPr id="610" name="Crop Label 610"/>
          <p:cNvSpPr txBox="1"/>
          <p:nvPr/>
        </p:nvSpPr>
        <p:spPr>
          <a:xfrm>
            <a:off x="6336792" y="399474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AHRQ HCUP SB #281 (2018): 65-74 = 19.7% + 75+ = 16.8% = 36.5% of surgical stays</a:t>
            </a:r>
          </a:p>
        </p:txBody>
      </p:sp>
      <p:pic>
        <p:nvPicPr>
          <p:cNvPr id="611" name="Crop g4s10-s3b"/>
          <p:cNvPicPr>
            <a:picLocks noChangeAspect="1"/>
          </p:cNvPicPr>
          <p:nvPr/>
        </p:nvPicPr>
        <p:blipFill>
          <a:blip r:embed="rId705"/>
          <a:stretch>
            <a:fillRect/>
          </a:stretch>
        </p:blipFill>
        <p:spPr>
          <a:xfrm>
            <a:off x="6336792" y="4214200"/>
            <a:ext cx="5029200" cy="361650"/>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Etzioni DA et al. Ann Surg 2003, https://pmc.ncbi.nlm.nih.gov/articles/PMC1422682/ ; AHRQ HCUP SB #281, https://hcup-us.ahrq.gov/reports/statbriefs/sb281-Operating-Room-Procedures-During-Hospitalization-2018.pdf</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01168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Yes</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Kyle caught </a:t>
            </a:r>
            <a:r>
              <a:rPr lang="en-US" sz="2800" dirty="0">
                <a:solidFill>
                  <a:srgbClr val="09254A"/>
                </a:solidFill>
                <a:latin typeface="urbanist"/>
                <a:ea typeface="urbanist"/>
                <a:cs typeface="urbanist"/>
              </a:rPr>
              <a:t>4 bad references </a:t>
            </a:r>
            <a:r>
              <a:rPr lang="en-US" sz="2800" dirty="0">
                <a:solidFill>
                  <a:srgbClr val="6DCFF6"/>
                </a:solidFill>
                <a:latin typeface="urbanist"/>
                <a:ea typeface="urbanist"/>
                <a:cs typeface="urbanist"/>
              </a:rPr>
              <a:t>on Jun 26</a:t>
            </a:r>
            <a:endParaRPr lang="en-US" dirty="0"/>
          </a:p>
        </p:txBody>
      </p:sp>
      <p:sp>
        <p:nvSpPr>
          <p:cNvPr id="22" name="Status 22"/>
          <p:cNvSpPr/>
          <p:nvPr/>
        </p:nvSpPr>
        <p:spPr>
          <a:xfrm>
            <a:off x="3017520" y="534924"/>
            <a:ext cx="2240280" cy="310896"/>
          </a:xfrm>
          <a:prstGeom prst="roundRect">
            <a:avLst>
              <a:gd name="adj" fmla="val 50000"/>
            </a:avLst>
          </a:prstGeom>
          <a:solidFill>
            <a:srgbClr val="2E8B57"/>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Caught before publishing</a:t>
            </a:r>
          </a:p>
        </p:txBody>
      </p:sp>
      <p:sp>
        <p:nvSpPr>
          <p:cNvPr id="30" name="Report Header"/>
          <p:cNvSpPr/>
          <p:nvPr/>
        </p:nvSpPr>
        <p:spPr>
          <a:xfrm>
            <a:off x="685800"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Kyle's Source &amp; Citation Review</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dated Jun 26</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The 4 bad references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memo table + Tarazi search</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What happened next (Jun 29): </a:t>
            </a:r>
            <a:r>
              <a:rPr lang="en-US" sz="1300" dirty="0">
                <a:solidFill>
                  <a:srgbClr val="FFFFFF"/>
                </a:solidFill>
                <a:latin typeface="Nunito Light"/>
                <a:ea typeface="Nunito Light"/>
                <a:cs typeface="Nunito Light"/>
              </a:rPr>
              <a:t>Tarazi → Ho 2022 (no 74% in it) · Becher → Etzioni 2003 · Bandeen-Roche deleted, 19.4% left uncited · AAMC kept, numbers never updated</a:t>
            </a:r>
            <a:endParaRPr lang="en-US" dirty="0"/>
          </a:p>
        </p:txBody>
      </p:sp>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Slack, Kyle's memo screenshots F0BDJRVJ955 / F0BDU327GEP (shared Jun 29, 2:40 / 2:58 PM PT); Tarazi search F0BDJJ6T3GA (Jun 26, 3:37 PM PT); Christina's DMs Jun 29, 3:04 / 3:39 PM PT; published PDF p.11</a:t>
            </a:r>
            <a:endParaRPr lang="en-US" dirty="0"/>
          </a:p>
        </p:txBody>
      </p:sp>
      <p:sp>
        <p:nvSpPr>
          <p:cNvPr id="301" name="Crop Label 301"/>
          <p:cNvSpPr txBox="1"/>
          <p:nvPr/>
        </p:nvSpPr>
        <p:spPr>
          <a:xfrm>
            <a:off x="822960" y="217627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Kyle's one-page memo (shared in Slack Jun 29)</a:t>
            </a:r>
          </a:p>
        </p:txBody>
      </p:sp>
      <p:pic>
        <p:nvPicPr>
          <p:cNvPr id="302" name="Crop g1s3-memo"/>
          <p:cNvPicPr>
            <a:picLocks noChangeAspect="1"/>
          </p:cNvPicPr>
          <p:nvPr/>
        </p:nvPicPr>
        <p:blipFill>
          <a:blip r:embed="rId31"/>
          <a:stretch>
            <a:fillRect/>
          </a:stretch>
        </p:blipFill>
        <p:spPr>
          <a:xfrm>
            <a:off x="1281823" y="2414016"/>
            <a:ext cx="4111472" cy="2670048"/>
          </a:xfrm>
          <a:prstGeom prst="rect">
            <a:avLst/>
          </a:prstGeom>
          <a:ln w="6350">
            <a:solidFill>
              <a:srgbClr val="D9D9D9"/>
            </a:solidFill>
          </a:ln>
        </p:spPr>
      </p:pic>
      <p:sp>
        <p:nvSpPr>
          <p:cNvPr id="305" name="Crop Label 305"/>
          <p:cNvSpPr txBox="1"/>
          <p:nvPr/>
        </p:nvSpPr>
        <p:spPr>
          <a:xfrm>
            <a:off x="6336792" y="217627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Memo table: as printed vs. what the source says, with verdicts</a:t>
            </a:r>
          </a:p>
        </p:txBody>
      </p:sp>
      <p:pic>
        <p:nvPicPr>
          <p:cNvPr id="306" name="Crop g1s3-table"/>
          <p:cNvPicPr>
            <a:picLocks noChangeAspect="1"/>
          </p:cNvPicPr>
          <p:nvPr/>
        </p:nvPicPr>
        <p:blipFill>
          <a:blip r:embed="rId33"/>
          <a:stretch>
            <a:fillRect/>
          </a:stretch>
        </p:blipFill>
        <p:spPr>
          <a:xfrm>
            <a:off x="6336792" y="2414016"/>
            <a:ext cx="5029200" cy="1782812"/>
          </a:xfrm>
          <a:prstGeom prst="rect">
            <a:avLst/>
          </a:prstGeom>
          <a:ln w="6350">
            <a:solidFill>
              <a:srgbClr val="D9D9D9"/>
            </a:solidFill>
          </a:ln>
        </p:spPr>
      </p:pic>
      <p:sp>
        <p:nvSpPr>
          <p:cNvPr id="307" name="Crop Label 307"/>
          <p:cNvSpPr txBox="1"/>
          <p:nvPr/>
        </p:nvSpPr>
        <p:spPr>
          <a:xfrm>
            <a:off x="6336792" y="427939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Jun 26, 3:37 PM: Kyle's Tarazi search; results show only other papers</a:t>
            </a:r>
          </a:p>
        </p:txBody>
      </p:sp>
      <p:pic>
        <p:nvPicPr>
          <p:cNvPr id="308" name="Crop g1s3-tarazi"/>
          <p:cNvPicPr>
            <a:picLocks noChangeAspect="1"/>
          </p:cNvPicPr>
          <p:nvPr/>
        </p:nvPicPr>
        <p:blipFill>
          <a:blip r:embed="rId34"/>
          <a:stretch>
            <a:fillRect/>
          </a:stretch>
        </p:blipFill>
        <p:spPr>
          <a:xfrm>
            <a:off x="6336792" y="4498848"/>
            <a:ext cx="5029200" cy="481839"/>
          </a:xfrm>
          <a:prstGeom prst="rect">
            <a:avLst/>
          </a:prstGeom>
          <a:ln w="6350">
            <a:solidFill>
              <a:srgbClr val="D9D9D9"/>
            </a:solid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1248156"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Scorecard</a:t>
            </a:r>
          </a:p>
        </p:txBody>
      </p:sp>
      <p:sp>
        <p:nvSpPr>
          <p:cNvPr id="4" name="Text 2"/>
          <p:cNvSpPr txBox="1"/>
          <p:nvPr/>
        </p:nvSpPr>
        <p:spPr>
          <a:xfrm>
            <a:off x="685800" y="822960"/>
            <a:ext cx="5852160" cy="731520"/>
          </a:xfrm>
          <a:prstGeom prst="rect">
            <a:avLst/>
          </a:prstGeom>
          <a:noFill/>
          <a:ln/>
        </p:spPr>
        <p:txBody>
          <a:bodyPr wrap="square" rtlCol="0" anchor="t"/>
          <a:lstStyle/>
          <a:p>
            <a:pPr algn="l" marL="0" indent="0">
              <a:buNone/>
            </a:pPr>
            <a:r>
              <a:rPr lang="en-US" sz="4000" b="1" dirty="0">
                <a:solidFill>
                  <a:srgbClr val="09254A"/>
                </a:solidFill>
                <a:latin typeface="urbanist"/>
                <a:ea typeface="urbanist"/>
                <a:cs typeface="urbanist"/>
              </a:rPr>
              <a:t>104 claims: 74 need a fix</a:t>
            </a:r>
            <a:endParaRPr lang="en-US" dirty="0"/>
          </a:p>
        </p:txBody>
      </p:sp>
      <p:sp>
        <p:nvSpPr>
          <p:cNvPr id="5" name="Text 3"/>
          <p:cNvSpPr txBox="1"/>
          <p:nvPr/>
        </p:nvSpPr>
        <p:spPr>
          <a:xfrm>
            <a:off x="7114032" y="868680"/>
            <a:ext cx="4389120" cy="640080"/>
          </a:xfrm>
          <a:prstGeom prst="rect">
            <a:avLst/>
          </a:prstGeom>
          <a:noFill/>
          <a:ln/>
        </p:spPr>
        <p:txBody>
          <a:bodyPr wrap="square" rtlCol="0" anchor="ctr"/>
          <a:lstStyle/>
          <a:p>
            <a:pPr algn="l" marL="0" indent="0">
              <a:lnSpc>
                <a:spcPct val="130000"/>
              </a:lnSpc>
              <a:buNone/>
            </a:pPr>
            <a:r>
              <a:rPr lang="en-US" sz="1300" dirty="0">
                <a:solidFill>
                  <a:srgbClr val="7A748A"/>
                </a:solidFill>
                <a:latin typeface="Nunito Light"/>
                <a:ea typeface="Nunito Light"/>
                <a:cs typeface="Nunito Light"/>
              </a:rPr>
              <a:t>Red = wrong. Amber = unsupported, internal-only or outdated. Green = verified. Grey = not checked.</a:t>
            </a:r>
          </a:p>
        </p:txBody>
      </p:sp>
      <p:sp>
        <p:nvSpPr>
          <p:cNvPr id="40" name="Head"/>
          <p:cNvSpPr/>
          <p:nvPr/>
        </p:nvSpPr>
        <p:spPr>
          <a:xfrm>
            <a:off x="1097280" y="1627632"/>
            <a:ext cx="3794760" cy="274320"/>
          </a:xfrm>
          <a:prstGeom prst="rect">
            <a:avLst/>
          </a:prstGeom>
          <a:noFill/>
          <a:ln>
            <a:noFill/>
          </a:ln>
        </p:spPr>
        <p:txBody>
          <a:bodyPr wrap="square" lIns="45720" tIns="36576" rIns="45720" bIns="36576" anchor="ctr">
            <a:normAutofit/>
          </a:bodyPr>
          <a:lstStyle/>
          <a:p>
            <a:pPr algn="l" marL="0" indent="0">
              <a:buNone/>
            </a:pPr>
            <a:r>
              <a:rPr lang="en-US" sz="1100" b="1" dirty="0">
                <a:solidFill>
                  <a:srgbClr val="7A748A"/>
                </a:solidFill>
                <a:latin typeface="urbanist"/>
                <a:ea typeface="urbanist"/>
                <a:cs typeface="urbanist"/>
              </a:rPr>
              <a:t>Status · claims</a:t>
            </a:r>
            <a:endParaRPr lang="en-US" dirty="0"/>
          </a:p>
        </p:txBody>
      </p:sp>
      <p:sp>
        <p:nvSpPr>
          <p:cNvPr id="41" name="Head"/>
          <p:cNvSpPr/>
          <p:nvPr/>
        </p:nvSpPr>
        <p:spPr>
          <a:xfrm>
            <a:off x="5029200" y="1627632"/>
            <a:ext cx="3931920" cy="274320"/>
          </a:xfrm>
          <a:prstGeom prst="rect">
            <a:avLst/>
          </a:prstGeom>
          <a:noFill/>
          <a:ln>
            <a:noFill/>
          </a:ln>
        </p:spPr>
        <p:txBody>
          <a:bodyPr wrap="square" lIns="45720" tIns="36576" rIns="45720" bIns="36576" anchor="ctr">
            <a:normAutofit/>
          </a:bodyPr>
          <a:lstStyle/>
          <a:p>
            <a:pPr algn="l" marL="0" indent="0">
              <a:buNone/>
            </a:pPr>
            <a:r>
              <a:rPr lang="en-US" sz="1100" b="1" dirty="0">
                <a:solidFill>
                  <a:srgbClr val="7A748A"/>
                </a:solidFill>
                <a:latin typeface="urbanist"/>
                <a:ea typeface="urbanist"/>
                <a:cs typeface="urbanist"/>
              </a:rPr>
              <a:t>What it means</a:t>
            </a:r>
            <a:endParaRPr lang="en-US" dirty="0"/>
          </a:p>
        </p:txBody>
      </p:sp>
      <p:sp>
        <p:nvSpPr>
          <p:cNvPr id="42" name="Head"/>
          <p:cNvSpPr/>
          <p:nvPr/>
        </p:nvSpPr>
        <p:spPr>
          <a:xfrm>
            <a:off x="9098280" y="1627632"/>
            <a:ext cx="2331720" cy="274320"/>
          </a:xfrm>
          <a:prstGeom prst="rect">
            <a:avLst/>
          </a:prstGeom>
          <a:noFill/>
          <a:ln>
            <a:noFill/>
          </a:ln>
        </p:spPr>
        <p:txBody>
          <a:bodyPr wrap="square" lIns="45720" tIns="36576" rIns="45720" bIns="36576" anchor="ctr">
            <a:normAutofit/>
          </a:bodyPr>
          <a:lstStyle/>
          <a:p>
            <a:pPr algn="l" marL="0" indent="0">
              <a:buNone/>
            </a:pPr>
            <a:r>
              <a:rPr lang="en-US" sz="1100" b="1" dirty="0">
                <a:solidFill>
                  <a:srgbClr val="7A748A"/>
                </a:solidFill>
                <a:latin typeface="urbanist"/>
                <a:ea typeface="urbanist"/>
                <a:cs typeface="urbanist"/>
              </a:rPr>
              <a:t>Pages with the most</a:t>
            </a:r>
            <a:endParaRPr lang="en-US" dirty="0"/>
          </a:p>
        </p:txBody>
      </p:sp>
      <p:sp>
        <p:nvSpPr>
          <p:cNvPr id="43" name="Row"/>
          <p:cNvSpPr/>
          <p:nvPr/>
        </p:nvSpPr>
        <p:spPr>
          <a:xfrm>
            <a:off x="685800" y="1938528"/>
            <a:ext cx="10817352" cy="448056"/>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44" name="Dot"/>
          <p:cNvSpPr/>
          <p:nvPr/>
        </p:nvSpPr>
        <p:spPr>
          <a:xfrm>
            <a:off x="804672" y="2089404"/>
            <a:ext cx="146304" cy="146304"/>
          </a:xfrm>
          <a:prstGeom prst="ellipse">
            <a:avLst/>
          </a:prstGeom>
          <a:solidFill>
            <a:srgbClr val="C8382F"/>
          </a:solidFill>
          <a:ln>
            <a:noFill/>
          </a:ln>
        </p:spPr>
        <p:txBody>
          <a:bodyPr wrap="square" lIns="109728" tIns="36576" rIns="109728" bIns="36576" anchor="ctr"/>
          <a:lstStyle/>
          <a:p>
            <a:pPr algn="l" marL="0" indent="0">
              <a:buNone/>
            </a:pPr>
            <a:endParaRPr lang="en-US" dirty="0"/>
          </a:p>
        </p:txBody>
      </p:sp>
      <p:sp>
        <p:nvSpPr>
          <p:cNvPr id="45" name="Cell"/>
          <p:cNvSpPr/>
          <p:nvPr/>
        </p:nvSpPr>
        <p:spPr>
          <a:xfrm>
            <a:off x="1097280" y="1938528"/>
            <a:ext cx="3794760" cy="448056"/>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Wrong · 41</a:t>
            </a:r>
            <a:endParaRPr lang="en-US" dirty="0"/>
          </a:p>
        </p:txBody>
      </p:sp>
      <p:sp>
        <p:nvSpPr>
          <p:cNvPr id="46" name="Cell"/>
          <p:cNvSpPr/>
          <p:nvPr/>
        </p:nvSpPr>
        <p:spPr>
          <a:xfrm>
            <a:off x="5029200" y="1938528"/>
            <a:ext cx="3931920" cy="448056"/>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False, misquoted, wrong source or wrong citation</a:t>
            </a:r>
            <a:endParaRPr lang="en-US" dirty="0"/>
          </a:p>
        </p:txBody>
      </p:sp>
      <p:sp>
        <p:nvSpPr>
          <p:cNvPr id="47" name="Cell"/>
          <p:cNvSpPr/>
          <p:nvPr/>
        </p:nvSpPr>
        <p:spPr>
          <a:xfrm>
            <a:off x="9098280" y="1938528"/>
            <a:ext cx="2331720" cy="448056"/>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p.3 (9) · p.11 (7) · p.7 (6)</a:t>
            </a:r>
            <a:endParaRPr lang="en-US" dirty="0"/>
          </a:p>
        </p:txBody>
      </p:sp>
      <p:sp>
        <p:nvSpPr>
          <p:cNvPr id="48" name="Row"/>
          <p:cNvSpPr/>
          <p:nvPr/>
        </p:nvSpPr>
        <p:spPr>
          <a:xfrm>
            <a:off x="685800" y="2427732"/>
            <a:ext cx="10817352" cy="448056"/>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49" name="Dot"/>
          <p:cNvSpPr/>
          <p:nvPr/>
        </p:nvSpPr>
        <p:spPr>
          <a:xfrm>
            <a:off x="804672" y="2578608"/>
            <a:ext cx="146304" cy="146304"/>
          </a:xfrm>
          <a:prstGeom prst="ellipse">
            <a:avLst/>
          </a:prstGeom>
          <a:solidFill>
            <a:srgbClr val="C47F00"/>
          </a:solidFill>
          <a:ln>
            <a:noFill/>
          </a:ln>
        </p:spPr>
        <p:txBody>
          <a:bodyPr wrap="square" lIns="109728" tIns="36576" rIns="109728" bIns="36576" anchor="ctr"/>
          <a:lstStyle/>
          <a:p>
            <a:pPr algn="l" marL="0" indent="0">
              <a:buNone/>
            </a:pPr>
            <a:endParaRPr lang="en-US" dirty="0"/>
          </a:p>
        </p:txBody>
      </p:sp>
      <p:sp>
        <p:nvSpPr>
          <p:cNvPr id="50" name="Cell"/>
          <p:cNvSpPr/>
          <p:nvPr/>
        </p:nvSpPr>
        <p:spPr>
          <a:xfrm>
            <a:off x="1097280" y="2427732"/>
            <a:ext cx="3794760" cy="448056"/>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Unsupported · 17</a:t>
            </a:r>
            <a:endParaRPr lang="en-US" dirty="0"/>
          </a:p>
        </p:txBody>
      </p:sp>
      <p:sp>
        <p:nvSpPr>
          <p:cNvPr id="51" name="Cell"/>
          <p:cNvSpPr/>
          <p:nvPr/>
        </p:nvSpPr>
        <p:spPr>
          <a:xfrm>
            <a:off x="5029200" y="2427732"/>
            <a:ext cx="3931920" cy="448056"/>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No source given, or the source doesn't back it</a:t>
            </a:r>
            <a:endParaRPr lang="en-US" dirty="0"/>
          </a:p>
        </p:txBody>
      </p:sp>
      <p:sp>
        <p:nvSpPr>
          <p:cNvPr id="52" name="Cell"/>
          <p:cNvSpPr/>
          <p:nvPr/>
        </p:nvSpPr>
        <p:spPr>
          <a:xfrm>
            <a:off x="9098280" y="2427732"/>
            <a:ext cx="2331720" cy="448056"/>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p.5 (4) · p.10 (4) · p.3 (3)</a:t>
            </a:r>
            <a:endParaRPr lang="en-US" dirty="0"/>
          </a:p>
        </p:txBody>
      </p:sp>
      <p:sp>
        <p:nvSpPr>
          <p:cNvPr id="53" name="Row"/>
          <p:cNvSpPr/>
          <p:nvPr/>
        </p:nvSpPr>
        <p:spPr>
          <a:xfrm>
            <a:off x="685800" y="2916936"/>
            <a:ext cx="10817352" cy="448056"/>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54" name="Dot"/>
          <p:cNvSpPr/>
          <p:nvPr/>
        </p:nvSpPr>
        <p:spPr>
          <a:xfrm>
            <a:off x="804672" y="3067812"/>
            <a:ext cx="146304" cy="146304"/>
          </a:xfrm>
          <a:prstGeom prst="ellipse">
            <a:avLst/>
          </a:prstGeom>
          <a:solidFill>
            <a:srgbClr val="C47F00"/>
          </a:solidFill>
          <a:ln>
            <a:noFill/>
          </a:ln>
        </p:spPr>
        <p:txBody>
          <a:bodyPr wrap="square" lIns="109728" tIns="36576" rIns="109728" bIns="36576" anchor="ctr"/>
          <a:lstStyle/>
          <a:p>
            <a:pPr algn="l" marL="0" indent="0">
              <a:buNone/>
            </a:pPr>
            <a:endParaRPr lang="en-US" dirty="0"/>
          </a:p>
        </p:txBody>
      </p:sp>
      <p:sp>
        <p:nvSpPr>
          <p:cNvPr id="55" name="Cell"/>
          <p:cNvSpPr/>
          <p:nvPr/>
        </p:nvSpPr>
        <p:spPr>
          <a:xfrm>
            <a:off x="1097280" y="2916936"/>
            <a:ext cx="3794760" cy="448056"/>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Unverifiable (internal) · 9</a:t>
            </a:r>
            <a:endParaRPr lang="en-US" dirty="0"/>
          </a:p>
        </p:txBody>
      </p:sp>
      <p:sp>
        <p:nvSpPr>
          <p:cNvPr id="56" name="Cell"/>
          <p:cNvSpPr/>
          <p:nvPr/>
        </p:nvSpPr>
        <p:spPr>
          <a:xfrm>
            <a:off x="5029200" y="2916936"/>
            <a:ext cx="3931920" cy="448056"/>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Rests on Rainfall's own internal or self-reported material</a:t>
            </a:r>
            <a:endParaRPr lang="en-US" dirty="0"/>
          </a:p>
        </p:txBody>
      </p:sp>
      <p:sp>
        <p:nvSpPr>
          <p:cNvPr id="57" name="Cell"/>
          <p:cNvSpPr/>
          <p:nvPr/>
        </p:nvSpPr>
        <p:spPr>
          <a:xfrm>
            <a:off x="9098280" y="2916936"/>
            <a:ext cx="2331720" cy="448056"/>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p.9 (3) · p.10 (2) · p.11 (2)</a:t>
            </a:r>
            <a:endParaRPr lang="en-US" dirty="0"/>
          </a:p>
        </p:txBody>
      </p:sp>
      <p:sp>
        <p:nvSpPr>
          <p:cNvPr id="58" name="Row"/>
          <p:cNvSpPr/>
          <p:nvPr/>
        </p:nvSpPr>
        <p:spPr>
          <a:xfrm>
            <a:off x="685800" y="3406140"/>
            <a:ext cx="10817352" cy="448056"/>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59" name="Dot"/>
          <p:cNvSpPr/>
          <p:nvPr/>
        </p:nvSpPr>
        <p:spPr>
          <a:xfrm>
            <a:off x="804672" y="3557016"/>
            <a:ext cx="146304" cy="146304"/>
          </a:xfrm>
          <a:prstGeom prst="ellipse">
            <a:avLst/>
          </a:prstGeom>
          <a:solidFill>
            <a:srgbClr val="C47F00"/>
          </a:solidFill>
          <a:ln>
            <a:noFill/>
          </a:ln>
        </p:spPr>
        <p:txBody>
          <a:bodyPr wrap="square" lIns="109728" tIns="36576" rIns="109728" bIns="36576" anchor="ctr"/>
          <a:lstStyle/>
          <a:p>
            <a:pPr algn="l" marL="0" indent="0">
              <a:buNone/>
            </a:pPr>
            <a:endParaRPr lang="en-US" dirty="0"/>
          </a:p>
        </p:txBody>
      </p:sp>
      <p:sp>
        <p:nvSpPr>
          <p:cNvPr id="60" name="Cell"/>
          <p:cNvSpPr/>
          <p:nvPr/>
        </p:nvSpPr>
        <p:spPr>
          <a:xfrm>
            <a:off x="1097280" y="3406140"/>
            <a:ext cx="3794760" cy="448056"/>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Outdated · 7</a:t>
            </a:r>
            <a:endParaRPr lang="en-US" dirty="0"/>
          </a:p>
        </p:txBody>
      </p:sp>
      <p:sp>
        <p:nvSpPr>
          <p:cNvPr id="61" name="Cell"/>
          <p:cNvSpPr/>
          <p:nvPr/>
        </p:nvSpPr>
        <p:spPr>
          <a:xfrm>
            <a:off x="5029200" y="3406140"/>
            <a:ext cx="3931920" cy="448056"/>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True when written, superseded now</a:t>
            </a:r>
            <a:endParaRPr lang="en-US" dirty="0"/>
          </a:p>
        </p:txBody>
      </p:sp>
      <p:sp>
        <p:nvSpPr>
          <p:cNvPr id="62" name="Cell"/>
          <p:cNvSpPr/>
          <p:nvPr/>
        </p:nvSpPr>
        <p:spPr>
          <a:xfrm>
            <a:off x="9098280" y="3406140"/>
            <a:ext cx="2331720" cy="448056"/>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p.3 (3) · p.4 (2)</a:t>
            </a:r>
            <a:endParaRPr lang="en-US" dirty="0"/>
          </a:p>
        </p:txBody>
      </p:sp>
      <p:sp>
        <p:nvSpPr>
          <p:cNvPr id="63" name="Row"/>
          <p:cNvSpPr/>
          <p:nvPr/>
        </p:nvSpPr>
        <p:spPr>
          <a:xfrm>
            <a:off x="685800" y="3895344"/>
            <a:ext cx="10817352" cy="448056"/>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64" name="Dot"/>
          <p:cNvSpPr/>
          <p:nvPr/>
        </p:nvSpPr>
        <p:spPr>
          <a:xfrm>
            <a:off x="804672" y="4046220"/>
            <a:ext cx="146304" cy="146304"/>
          </a:xfrm>
          <a:prstGeom prst="ellipse">
            <a:avLst/>
          </a:prstGeom>
          <a:solidFill>
            <a:srgbClr val="2E8B57"/>
          </a:solidFill>
          <a:ln>
            <a:noFill/>
          </a:ln>
        </p:spPr>
        <p:txBody>
          <a:bodyPr wrap="square" lIns="109728" tIns="36576" rIns="109728" bIns="36576" anchor="ctr"/>
          <a:lstStyle/>
          <a:p>
            <a:pPr algn="l" marL="0" indent="0">
              <a:buNone/>
            </a:pPr>
            <a:endParaRPr lang="en-US" dirty="0"/>
          </a:p>
        </p:txBody>
      </p:sp>
      <p:sp>
        <p:nvSpPr>
          <p:cNvPr id="65" name="Cell"/>
          <p:cNvSpPr/>
          <p:nvPr/>
        </p:nvSpPr>
        <p:spPr>
          <a:xfrm>
            <a:off x="1097280" y="3895344"/>
            <a:ext cx="3794760" cy="448056"/>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Verified · 28</a:t>
            </a:r>
            <a:endParaRPr lang="en-US" dirty="0"/>
          </a:p>
        </p:txBody>
      </p:sp>
      <p:sp>
        <p:nvSpPr>
          <p:cNvPr id="66" name="Cell"/>
          <p:cNvSpPr/>
          <p:nvPr/>
        </p:nvSpPr>
        <p:spPr>
          <a:xfrm>
            <a:off x="5029200" y="3895344"/>
            <a:ext cx="3931920" cy="448056"/>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Checks out against the primary source</a:t>
            </a:r>
            <a:endParaRPr lang="en-US" dirty="0"/>
          </a:p>
        </p:txBody>
      </p:sp>
      <p:sp>
        <p:nvSpPr>
          <p:cNvPr id="67" name="Cell"/>
          <p:cNvSpPr/>
          <p:nvPr/>
        </p:nvSpPr>
        <p:spPr>
          <a:xfrm>
            <a:off x="9098280" y="3895344"/>
            <a:ext cx="2331720" cy="448056"/>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p.3 (6) · p.6 (5) · p.11 (5)</a:t>
            </a:r>
            <a:endParaRPr lang="en-US" dirty="0"/>
          </a:p>
        </p:txBody>
      </p:sp>
      <p:sp>
        <p:nvSpPr>
          <p:cNvPr id="68" name="Row"/>
          <p:cNvSpPr/>
          <p:nvPr/>
        </p:nvSpPr>
        <p:spPr>
          <a:xfrm>
            <a:off x="685800" y="4384548"/>
            <a:ext cx="10817352" cy="448056"/>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69" name="Dot"/>
          <p:cNvSpPr/>
          <p:nvPr/>
        </p:nvSpPr>
        <p:spPr>
          <a:xfrm>
            <a:off x="804672" y="4535424"/>
            <a:ext cx="146304" cy="146304"/>
          </a:xfrm>
          <a:prstGeom prst="ellipse">
            <a:avLst/>
          </a:prstGeom>
          <a:solidFill>
            <a:srgbClr val="7A748A"/>
          </a:solidFill>
          <a:ln>
            <a:noFill/>
          </a:ln>
        </p:spPr>
        <p:txBody>
          <a:bodyPr wrap="square" lIns="109728" tIns="36576" rIns="109728" bIns="36576" anchor="ctr"/>
          <a:lstStyle/>
          <a:p>
            <a:pPr algn="l" marL="0" indent="0">
              <a:buNone/>
            </a:pPr>
            <a:endParaRPr lang="en-US" dirty="0"/>
          </a:p>
        </p:txBody>
      </p:sp>
      <p:sp>
        <p:nvSpPr>
          <p:cNvPr id="70" name="Cell"/>
          <p:cNvSpPr/>
          <p:nvPr/>
        </p:nvSpPr>
        <p:spPr>
          <a:xfrm>
            <a:off x="1097280" y="4384548"/>
            <a:ext cx="3794760" cy="448056"/>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Not checked · 2</a:t>
            </a:r>
            <a:endParaRPr lang="en-US" dirty="0"/>
          </a:p>
        </p:txBody>
      </p:sp>
      <p:sp>
        <p:nvSpPr>
          <p:cNvPr id="71" name="Cell"/>
          <p:cNvSpPr/>
          <p:nvPr/>
        </p:nvSpPr>
        <p:spPr>
          <a:xfrm>
            <a:off x="5029200" y="4384548"/>
            <a:ext cx="3931920" cy="448056"/>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Not verified in this audit</a:t>
            </a:r>
            <a:endParaRPr lang="en-US" dirty="0"/>
          </a:p>
        </p:txBody>
      </p:sp>
      <p:sp>
        <p:nvSpPr>
          <p:cNvPr id="72" name="Cell"/>
          <p:cNvSpPr/>
          <p:nvPr/>
        </p:nvSpPr>
        <p:spPr>
          <a:xfrm>
            <a:off x="9098280" y="4384548"/>
            <a:ext cx="2331720" cy="448056"/>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p.4 (1) · p.6 (1)</a:t>
            </a:r>
            <a:endParaRPr lang="en-US" dirty="0"/>
          </a:p>
        </p:txBody>
      </p:sp>
      <p:sp>
        <p:nvSpPr>
          <p:cNvPr id="73" name="Row"/>
          <p:cNvSpPr/>
          <p:nvPr/>
        </p:nvSpPr>
        <p:spPr>
          <a:xfrm>
            <a:off x="685800" y="4873752"/>
            <a:ext cx="10817352" cy="448056"/>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74" name="Dot"/>
          <p:cNvSpPr/>
          <p:nvPr/>
        </p:nvSpPr>
        <p:spPr>
          <a:xfrm>
            <a:off x="804672" y="5024628"/>
            <a:ext cx="146304" cy="146304"/>
          </a:xfrm>
          <a:prstGeom prst="ellipse">
            <a:avLst/>
          </a:prstGeom>
          <a:solidFill>
            <a:srgbClr val="C8382F"/>
          </a:solidFill>
          <a:ln>
            <a:noFill/>
          </a:ln>
        </p:spPr>
        <p:txBody>
          <a:bodyPr wrap="square" lIns="109728" tIns="36576" rIns="109728" bIns="36576" anchor="ctr"/>
          <a:lstStyle/>
          <a:p>
            <a:pPr algn="l" marL="0" indent="0">
              <a:buNone/>
            </a:pPr>
            <a:endParaRPr lang="en-US" dirty="0"/>
          </a:p>
        </p:txBody>
      </p:sp>
      <p:sp>
        <p:nvSpPr>
          <p:cNvPr id="75" name="Cell"/>
          <p:cNvSpPr/>
          <p:nvPr/>
        </p:nvSpPr>
        <p:spPr>
          <a:xfrm>
            <a:off x="1097280" y="4873752"/>
            <a:ext cx="3794760" cy="448056"/>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Need a fix · 74 of 104</a:t>
            </a:r>
            <a:endParaRPr lang="en-US" dirty="0"/>
          </a:p>
        </p:txBody>
      </p:sp>
      <p:sp>
        <p:nvSpPr>
          <p:cNvPr id="76" name="Cell"/>
          <p:cNvSpPr/>
          <p:nvPr/>
        </p:nvSpPr>
        <p:spPr>
          <a:xfrm>
            <a:off x="5029200" y="4873752"/>
            <a:ext cx="3931920" cy="448056"/>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Wrong + unsupported + internal-only + outdated</a:t>
            </a:r>
            <a:endParaRPr lang="en-US" dirty="0"/>
          </a:p>
        </p:txBody>
      </p:sp>
      <p:sp>
        <p:nvSpPr>
          <p:cNvPr id="77" name="Cell"/>
          <p:cNvSpPr/>
          <p:nvPr/>
        </p:nvSpPr>
        <p:spPr>
          <a:xfrm>
            <a:off x="9098280" y="4873752"/>
            <a:ext cx="2331720" cy="448056"/>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p.3 (15) · p.11 (10)</a:t>
            </a:r>
            <a:endParaRPr lang="en-US" dirty="0"/>
          </a:p>
        </p:txBody>
      </p:sp>
      <p:sp>
        <p:nvSpPr>
          <p:cNvPr id="78" name="Row"/>
          <p:cNvSpPr/>
          <p:nvPr/>
        </p:nvSpPr>
        <p:spPr>
          <a:xfrm>
            <a:off x="685800" y="5362956"/>
            <a:ext cx="10817352" cy="448056"/>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79" name="Dot"/>
          <p:cNvSpPr/>
          <p:nvPr/>
        </p:nvSpPr>
        <p:spPr>
          <a:xfrm>
            <a:off x="804672" y="5513832"/>
            <a:ext cx="146304" cy="146304"/>
          </a:xfrm>
          <a:prstGeom prst="ellipse">
            <a:avLst/>
          </a:prstGeom>
          <a:solidFill>
            <a:srgbClr val="C47F00"/>
          </a:solidFill>
          <a:ln>
            <a:noFill/>
          </a:ln>
        </p:spPr>
        <p:txBody>
          <a:bodyPr wrap="square" lIns="109728" tIns="36576" rIns="109728" bIns="36576" anchor="ctr"/>
          <a:lstStyle/>
          <a:p>
            <a:pPr algn="l" marL="0" indent="0">
              <a:buNone/>
            </a:pPr>
            <a:endParaRPr lang="en-US" dirty="0"/>
          </a:p>
        </p:txBody>
      </p:sp>
      <p:sp>
        <p:nvSpPr>
          <p:cNvPr id="80" name="Cell"/>
          <p:cNvSpPr/>
          <p:nvPr/>
        </p:nvSpPr>
        <p:spPr>
          <a:xfrm>
            <a:off x="1097280" y="5362956"/>
            <a:ext cx="3794760" cy="448056"/>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Verified, citation still needed · ~9</a:t>
            </a:r>
            <a:endParaRPr lang="en-US" dirty="0"/>
          </a:p>
        </p:txBody>
      </p:sp>
      <p:sp>
        <p:nvSpPr>
          <p:cNvPr id="81" name="Cell"/>
          <p:cNvSpPr/>
          <p:nvPr/>
        </p:nvSpPr>
        <p:spPr>
          <a:xfrm>
            <a:off x="5029200" y="5362956"/>
            <a:ext cx="3931920" cy="448056"/>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True, but uncited, loosely cited, or the ref doesn't back it</a:t>
            </a:r>
            <a:endParaRPr lang="en-US" dirty="0"/>
          </a:p>
        </p:txBody>
      </p:sp>
      <p:sp>
        <p:nvSpPr>
          <p:cNvPr id="82" name="Cell"/>
          <p:cNvSpPr/>
          <p:nvPr/>
        </p:nvSpPr>
        <p:spPr>
          <a:xfrm>
            <a:off x="9098280" y="5362956"/>
            <a:ext cx="2331720" cy="448056"/>
          </a:xfrm>
          <a:prstGeom prst="rect">
            <a:avLst/>
          </a:prstGeom>
          <a:noFill/>
          <a:ln>
            <a:noFill/>
          </a:ln>
        </p:spPr>
        <p:txBody>
          <a:bodyPr wrap="square" lIns="45720" tIns="0" rIns="45720" bIns="0" anchor="ctr">
            <a:normAutofit/>
          </a:bodyPr>
          <a:lstStyle/>
          <a:p>
            <a:pPr algn="l" marL="0" indent="0">
              <a:buNone/>
            </a:pPr>
            <a:r>
              <a:rPr lang="en-US" sz="1100" b="1" dirty="0">
                <a:solidFill>
                  <a:srgbClr val="09254A"/>
                </a:solidFill>
                <a:latin typeface="urbanist"/>
                <a:ea typeface="urbanist"/>
                <a:cs typeface="urbanist"/>
              </a:rPr>
              <a:t>e.g. 19.4%, 71M, Age-Friendly measure</a:t>
            </a:r>
            <a:endParaRPr lang="en-US" dirty="0"/>
          </a:p>
        </p:txBody>
      </p:sp>
      <p:sp>
        <p:nvSpPr>
          <p:cNvPr id="83" name="Row"/>
          <p:cNvSpPr/>
          <p:nvPr/>
        </p:nvSpPr>
        <p:spPr>
          <a:xfrm>
            <a:off x="685800" y="5852160"/>
            <a:ext cx="10817352" cy="448056"/>
          </a:xfrm>
          <a:prstGeom prst="roundRect">
            <a:avLst>
              <a:gd name="adj" fmla="val 16000"/>
            </a:avLst>
          </a:prstGeom>
          <a:solidFill>
            <a:srgbClr val="F5F5F5"/>
          </a:solidFill>
          <a:ln>
            <a:noFill/>
          </a:ln>
        </p:spPr>
        <p:txBody>
          <a:bodyPr wrap="square" lIns="109728" tIns="36576" rIns="109728" bIns="36576" anchor="ctr">
            <a:normAutofit/>
          </a:bodyPr>
          <a:lstStyle/>
          <a:p>
            <a:pPr algn="l" marL="0" indent="0">
              <a:buNone/>
            </a:pPr>
            <a:endParaRPr lang="en-US" dirty="0"/>
          </a:p>
        </p:txBody>
      </p:sp>
      <p:sp>
        <p:nvSpPr>
          <p:cNvPr id="84" name="Dot"/>
          <p:cNvSpPr/>
          <p:nvPr/>
        </p:nvSpPr>
        <p:spPr>
          <a:xfrm>
            <a:off x="804672" y="6003036"/>
            <a:ext cx="146304" cy="146304"/>
          </a:xfrm>
          <a:prstGeom prst="ellipse">
            <a:avLst/>
          </a:prstGeom>
          <a:solidFill>
            <a:srgbClr val="09254A"/>
          </a:solidFill>
          <a:ln>
            <a:noFill/>
          </a:ln>
        </p:spPr>
        <p:txBody>
          <a:bodyPr wrap="square" lIns="109728" tIns="36576" rIns="109728" bIns="36576" anchor="ctr"/>
          <a:lstStyle/>
          <a:p>
            <a:pPr algn="l" marL="0" indent="0">
              <a:buNone/>
            </a:pPr>
            <a:endParaRPr lang="en-US" dirty="0"/>
          </a:p>
        </p:txBody>
      </p:sp>
      <p:sp>
        <p:nvSpPr>
          <p:cNvPr id="85" name="Cell"/>
          <p:cNvSpPr/>
          <p:nvPr/>
        </p:nvSpPr>
        <p:spPr>
          <a:xfrm>
            <a:off x="1097280" y="5852160"/>
            <a:ext cx="3794760" cy="448056"/>
          </a:xfrm>
          <a:prstGeom prst="rect">
            <a:avLst/>
          </a:prstGeom>
          <a:noFill/>
          <a:ln>
            <a:noFill/>
          </a:ln>
        </p:spPr>
        <p:txBody>
          <a:bodyPr wrap="square" lIns="45720" tIns="0" rIns="45720" bIns="0" anchor="ctr">
            <a:normAutofit/>
          </a:bodyPr>
          <a:lstStyle/>
          <a:p>
            <a:pPr algn="l" marL="0" indent="0">
              <a:buNone/>
            </a:pPr>
            <a:r>
              <a:rPr lang="en-US" sz="1100" dirty="0">
                <a:solidFill>
                  <a:srgbClr val="09254A"/>
                </a:solidFill>
                <a:latin typeface="urbanist"/>
                <a:ea typeface="urbanist"/>
                <a:cs typeface="urbanist"/>
              </a:rPr>
              <a:t>Fixes needed, by page</a:t>
            </a:r>
            <a:endParaRPr lang="en-US" dirty="0"/>
          </a:p>
        </p:txBody>
      </p:sp>
      <p:sp>
        <p:nvSpPr>
          <p:cNvPr id="86" name="Cell"/>
          <p:cNvSpPr/>
          <p:nvPr/>
        </p:nvSpPr>
        <p:spPr>
          <a:xfrm>
            <a:off x="5029200" y="5852160"/>
            <a:ext cx="6400800" cy="448056"/>
          </a:xfrm>
          <a:prstGeom prst="rect">
            <a:avLst/>
          </a:prstGeom>
          <a:noFill/>
          <a:ln>
            <a:noFill/>
          </a:ln>
        </p:spPr>
        <p:txBody>
          <a:bodyPr wrap="square" lIns="45720" tIns="0" rIns="45720" bIns="0" anchor="ctr">
            <a:normAutofit/>
          </a:bodyPr>
          <a:lstStyle/>
          <a:p>
            <a:pPr algn="l" marL="0" indent="0">
              <a:buNone/>
            </a:pPr>
            <a:r>
              <a:rPr lang="en-US" sz="1100" dirty="0">
                <a:solidFill>
                  <a:srgbClr val="4F4A5E"/>
                </a:solidFill>
                <a:latin typeface="Nunito Light"/>
                <a:ea typeface="Nunito Light"/>
                <a:cs typeface="Nunito Light"/>
              </a:rPr>
              <a:t>p.1: 4 · p.2: 5 · p.3: 15 · p.4: 6 · p.5: 7 · p.6: 4 · p.7: 7 · p.8: 3 · p.9: 6 · p.10: 7 · p.11: 10</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01168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Yes</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AAMC: </a:t>
            </a:r>
            <a:r>
              <a:rPr lang="en-US" sz="2800" dirty="0">
                <a:solidFill>
                  <a:srgbClr val="09254A"/>
                </a:solidFill>
                <a:latin typeface="urbanist"/>
                <a:ea typeface="urbanist"/>
                <a:cs typeface="urbanist"/>
              </a:rPr>
              <a:t>2018 numbers, </a:t>
            </a:r>
            <a:r>
              <a:rPr lang="en-US" sz="2800" dirty="0">
                <a:solidFill>
                  <a:srgbClr val="6DCFF6"/>
                </a:solidFill>
                <a:latin typeface="urbanist"/>
                <a:ea typeface="urbanist"/>
                <a:cs typeface="urbanist"/>
              </a:rPr>
              <a:t>cited to the 2024 report</a:t>
            </a:r>
            <a:endParaRPr lang="en-US" dirty="0"/>
          </a:p>
        </p:txBody>
      </p:sp>
      <p:sp>
        <p:nvSpPr>
          <p:cNvPr id="22" name="Status 22"/>
          <p:cNvSpPr/>
          <p:nvPr/>
        </p:nvSpPr>
        <p:spPr>
          <a:xfrm>
            <a:off x="301752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p.3, p.11</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AAMC 2024 vs 2018</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400" b="1" dirty="0">
                <a:solidFill>
                  <a:srgbClr val="6DCFF6"/>
                </a:solidFill>
                <a:latin typeface="urbanist"/>
                <a:ea typeface="urbanist"/>
                <a:cs typeface="urbanist"/>
              </a:rPr>
              <a:t>Fix: </a:t>
            </a:r>
            <a:r>
              <a:rPr lang="en-US" sz="1400" dirty="0">
                <a:solidFill>
                  <a:srgbClr val="FFFFFF"/>
                </a:solidFill>
                <a:latin typeface="Nunito Light"/>
                <a:ea typeface="Nunito Light"/>
                <a:cs typeface="Nunito Light"/>
              </a:rPr>
              <a:t>Use the cited 2024 report: a shortage of up to 86,000 physicians by 2036 (13,500-86,000), including up to 19,900 surgeons (10,100-19,900).</a:t>
            </a:r>
            <a:endParaRPr lang="en-US" dirty="0"/>
          </a:p>
        </p:txBody>
      </p:sp>
      <p:sp>
        <p:nvSpPr>
          <p:cNvPr id="600" name="Crop Label 600"/>
          <p:cNvSpPr txBox="1"/>
          <p:nvPr/>
        </p:nvSpPr>
        <p:spPr>
          <a:xfrm>
            <a:off x="822960" y="2368353"/>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p.3</a:t>
            </a:r>
          </a:p>
        </p:txBody>
      </p:sp>
      <p:pic>
        <p:nvPicPr>
          <p:cNvPr id="601" name="Crop g3x-s9-r1"/>
          <p:cNvPicPr>
            <a:picLocks noChangeAspect="1"/>
          </p:cNvPicPr>
          <p:nvPr/>
        </p:nvPicPr>
        <p:blipFill>
          <a:blip r:embed="rId700"/>
          <a:stretch>
            <a:fillRect/>
          </a:stretch>
        </p:blipFill>
        <p:spPr>
          <a:xfrm>
            <a:off x="822960" y="2587809"/>
            <a:ext cx="5029200" cy="532338"/>
          </a:xfrm>
          <a:prstGeom prst="rect">
            <a:avLst/>
          </a:prstGeom>
          <a:ln w="6350">
            <a:solidFill>
              <a:srgbClr val="D9D9D9"/>
            </a:solidFill>
          </a:ln>
        </p:spPr>
      </p:pic>
      <p:sp>
        <p:nvSpPr>
          <p:cNvPr id="602" name="Crop Label 602"/>
          <p:cNvSpPr txBox="1"/>
          <p:nvPr/>
        </p:nvSpPr>
        <p:spPr>
          <a:xfrm>
            <a:off x="822960" y="3211588"/>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p.11: ref 7 is the 2024 AAMC report</a:t>
            </a:r>
          </a:p>
        </p:txBody>
      </p:sp>
      <p:pic>
        <p:nvPicPr>
          <p:cNvPr id="603" name="Crop g3x-s9-r2"/>
          <p:cNvPicPr>
            <a:picLocks noChangeAspect="1"/>
          </p:cNvPicPr>
          <p:nvPr/>
        </p:nvPicPr>
        <p:blipFill>
          <a:blip r:embed="rId701"/>
          <a:stretch>
            <a:fillRect/>
          </a:stretch>
        </p:blipFill>
        <p:spPr>
          <a:xfrm>
            <a:off x="822960" y="3431044"/>
            <a:ext cx="5029200" cy="730381"/>
          </a:xfrm>
          <a:prstGeom prst="rect">
            <a:avLst/>
          </a:prstGeom>
          <a:ln w="6350">
            <a:solidFill>
              <a:srgbClr val="D9D9D9"/>
            </a:solidFill>
          </a:ln>
        </p:spPr>
      </p:pic>
      <p:sp>
        <p:nvSpPr>
          <p:cNvPr id="604" name="Crop Label 604"/>
          <p:cNvSpPr txBox="1"/>
          <p:nvPr/>
        </p:nvSpPr>
        <p:spPr>
          <a:xfrm>
            <a:off x="822960" y="4252866"/>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Kyle's Jun 26 memo: flagged as "Superseded"</a:t>
            </a:r>
          </a:p>
        </p:txBody>
      </p:sp>
      <p:pic>
        <p:nvPicPr>
          <p:cNvPr id="605" name="Crop g3x-s9-r3"/>
          <p:cNvPicPr>
            <a:picLocks noChangeAspect="1"/>
          </p:cNvPicPr>
          <p:nvPr/>
        </p:nvPicPr>
        <p:blipFill>
          <a:blip r:embed="rId702"/>
          <a:stretch>
            <a:fillRect/>
          </a:stretch>
        </p:blipFill>
        <p:spPr>
          <a:xfrm>
            <a:off x="822960" y="4472322"/>
            <a:ext cx="5029200" cy="383083"/>
          </a:xfrm>
          <a:prstGeom prst="rect">
            <a:avLst/>
          </a:prstGeom>
          <a:ln w="6350">
            <a:solidFill>
              <a:srgbClr val="D9D9D9"/>
            </a:solidFill>
          </a:ln>
        </p:spPr>
      </p:pic>
      <p:sp>
        <p:nvSpPr>
          <p:cNvPr id="606" name="Crop Label 606"/>
          <p:cNvSpPr txBox="1"/>
          <p:nvPr/>
        </p:nvSpPr>
        <p:spPr>
          <a:xfrm>
            <a:off x="6336792" y="2585227"/>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AAMC 2024 (cited): 13,500-86,000 physicians by 2036</a:t>
            </a:r>
          </a:p>
        </p:txBody>
      </p:sp>
      <p:pic>
        <p:nvPicPr>
          <p:cNvPr id="607" name="Crop g3x-s9-s1"/>
          <p:cNvPicPr>
            <a:picLocks noChangeAspect="1"/>
          </p:cNvPicPr>
          <p:nvPr/>
        </p:nvPicPr>
        <p:blipFill>
          <a:blip r:embed="rId703"/>
          <a:stretch>
            <a:fillRect/>
          </a:stretch>
        </p:blipFill>
        <p:spPr>
          <a:xfrm>
            <a:off x="6336792" y="2804683"/>
            <a:ext cx="5029200" cy="152400"/>
          </a:xfrm>
          <a:prstGeom prst="rect">
            <a:avLst/>
          </a:prstGeom>
          <a:ln w="6350">
            <a:solidFill>
              <a:srgbClr val="D9D9D9"/>
            </a:solidFill>
          </a:ln>
        </p:spPr>
      </p:pic>
      <p:sp>
        <p:nvSpPr>
          <p:cNvPr id="608" name="Crop Label 608"/>
          <p:cNvSpPr txBox="1"/>
          <p:nvPr/>
        </p:nvSpPr>
        <p:spPr>
          <a:xfrm>
            <a:off x="6336792" y="3085099"/>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AAMC 2024: surgeons 10,100-19,900</a:t>
            </a:r>
          </a:p>
        </p:txBody>
      </p:sp>
      <p:pic>
        <p:nvPicPr>
          <p:cNvPr id="609" name="Crop g3x-s9-s2"/>
          <p:cNvPicPr>
            <a:picLocks noChangeAspect="1"/>
          </p:cNvPicPr>
          <p:nvPr/>
        </p:nvPicPr>
        <p:blipFill>
          <a:blip r:embed="rId704"/>
          <a:stretch>
            <a:fillRect/>
          </a:stretch>
        </p:blipFill>
        <p:spPr>
          <a:xfrm>
            <a:off x="6336792" y="3304555"/>
            <a:ext cx="4206240" cy="240356"/>
          </a:xfrm>
          <a:prstGeom prst="rect">
            <a:avLst/>
          </a:prstGeom>
          <a:ln w="6350">
            <a:solidFill>
              <a:srgbClr val="D9D9D9"/>
            </a:solidFill>
          </a:ln>
        </p:spPr>
      </p:pic>
      <p:sp>
        <p:nvSpPr>
          <p:cNvPr id="610" name="Crop Label 610"/>
          <p:cNvSpPr txBox="1"/>
          <p:nvPr/>
        </p:nvSpPr>
        <p:spPr>
          <a:xfrm>
            <a:off x="6336792" y="3672928"/>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AAMC 2018 update (the real origin): 42,600-121,300 by 2030</a:t>
            </a:r>
          </a:p>
        </p:txBody>
      </p:sp>
      <p:pic>
        <p:nvPicPr>
          <p:cNvPr id="611" name="Crop g3x-s9-s3"/>
          <p:cNvPicPr>
            <a:picLocks noChangeAspect="1"/>
          </p:cNvPicPr>
          <p:nvPr/>
        </p:nvPicPr>
        <p:blipFill>
          <a:blip r:embed="rId705"/>
          <a:stretch>
            <a:fillRect/>
          </a:stretch>
        </p:blipFill>
        <p:spPr>
          <a:xfrm>
            <a:off x="6336792" y="3892384"/>
            <a:ext cx="5029200" cy="181707"/>
          </a:xfrm>
          <a:prstGeom prst="rect">
            <a:avLst/>
          </a:prstGeom>
          <a:ln w="6350">
            <a:solidFill>
              <a:srgbClr val="D9D9D9"/>
            </a:solidFill>
          </a:ln>
        </p:spPr>
      </p:pic>
      <p:sp>
        <p:nvSpPr>
          <p:cNvPr id="612" name="Crop Label 612"/>
          <p:cNvSpPr txBox="1"/>
          <p:nvPr/>
        </p:nvSpPr>
        <p:spPr>
          <a:xfrm>
            <a:off x="6336792" y="4202108"/>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AAMC 2018: surgeons 20,700-30,500 in 2030</a:t>
            </a:r>
          </a:p>
        </p:txBody>
      </p:sp>
      <p:pic>
        <p:nvPicPr>
          <p:cNvPr id="613" name="Crop g3x-s9-s4"/>
          <p:cNvPicPr>
            <a:picLocks noChangeAspect="1"/>
          </p:cNvPicPr>
          <p:nvPr/>
        </p:nvPicPr>
        <p:blipFill>
          <a:blip r:embed="rId706"/>
          <a:stretch>
            <a:fillRect/>
          </a:stretch>
        </p:blipFill>
        <p:spPr>
          <a:xfrm>
            <a:off x="6336792" y="4421564"/>
            <a:ext cx="4572000" cy="180391"/>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AAMC, Projections from 2021 to 2036 (March 2024), https://www.aamc.org/data-reports/workforce/report/physician-workforce-projections ; AAMC/IHS Markit 2018 Update (2016-2030)</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Yes</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Ref 8: </a:t>
            </a:r>
            <a:r>
              <a:rPr lang="en-US" sz="2800" dirty="0">
                <a:solidFill>
                  <a:srgbClr val="09254A"/>
                </a:solidFill>
                <a:latin typeface="urbanist"/>
                <a:ea typeface="urbanist"/>
                <a:cs typeface="urbanist"/>
              </a:rPr>
              <a:t>right numbers, </a:t>
            </a:r>
            <a:r>
              <a:rPr lang="en-US" sz="2800" dirty="0">
                <a:solidFill>
                  <a:srgbClr val="6DCFF6"/>
                </a:solidFill>
                <a:latin typeface="urbanist"/>
                <a:ea typeface="urbanist"/>
                <a:cs typeface="urbanist"/>
              </a:rPr>
              <a:t>a CMS study that doesn't exist</a:t>
            </a:r>
            <a:endParaRPr lang="en-US" dirty="0"/>
          </a:p>
        </p:txBody>
      </p:sp>
      <p:sp>
        <p:nvSpPr>
          <p:cNvPr id="22" name="Status 22"/>
          <p:cNvSpPr/>
          <p:nvPr/>
        </p:nvSpPr>
        <p:spPr>
          <a:xfrm>
            <a:off x="310896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p.3, p.11</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759952" y="1737360"/>
            <a:ext cx="265176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AJRR 2024 + Burnett 2023</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Fix: </a:t>
            </a:r>
            <a:r>
              <a:rPr lang="en-US" sz="1300" dirty="0">
                <a:solidFill>
                  <a:srgbClr val="FFFFFF"/>
                </a:solidFill>
                <a:latin typeface="Nunito Light"/>
                <a:ea typeface="Nunito Light"/>
                <a:cs typeface="Nunito Light"/>
              </a:rPr>
              <a:t>Cite AJRR 2024 Annual Report (Fig 2.3) for 3.0 → 1.1 days and Burnett RA et al. J Arthroplasty 2023;38(6):992-997 for 57.2% of Medicare knee replacements billed as outpatient by 2020. Kyle flagged it Jun 26; not fixed.</a:t>
            </a:r>
            <a:endParaRPr lang="en-US" dirty="0"/>
          </a:p>
        </p:txBody>
      </p:sp>
      <p:sp>
        <p:nvSpPr>
          <p:cNvPr id="201" name="Crop Label 201"/>
          <p:cNvSpPr txBox="1"/>
          <p:nvPr/>
        </p:nvSpPr>
        <p:spPr>
          <a:xfrm>
            <a:off x="822960" y="2157984"/>
            <a:ext cx="18288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p.3</a:t>
            </a:r>
          </a:p>
        </p:txBody>
      </p:sp>
      <p:pic>
        <p:nvPicPr>
          <p:cNvPr id="202" name="Crop g1s3-r1"/>
          <p:cNvPicPr>
            <a:picLocks noChangeAspect="1"/>
          </p:cNvPicPr>
          <p:nvPr/>
        </p:nvPicPr>
        <p:blipFill>
          <a:blip r:embed="rId21"/>
          <a:stretch>
            <a:fillRect/>
          </a:stretch>
        </p:blipFill>
        <p:spPr>
          <a:xfrm>
            <a:off x="822960" y="2377440"/>
            <a:ext cx="5029200" cy="1382174"/>
          </a:xfrm>
          <a:prstGeom prst="rect">
            <a:avLst/>
          </a:prstGeom>
          <a:ln w="6350">
            <a:solidFill>
              <a:srgbClr val="D9D9D9"/>
            </a:solidFill>
          </a:ln>
        </p:spPr>
      </p:pic>
      <p:sp>
        <p:nvSpPr>
          <p:cNvPr id="203" name="Crop Label 203"/>
          <p:cNvSpPr txBox="1"/>
          <p:nvPr/>
        </p:nvSpPr>
        <p:spPr>
          <a:xfrm>
            <a:off x="822960" y="3814478"/>
            <a:ext cx="2743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p.11 (reference list)</a:t>
            </a:r>
          </a:p>
        </p:txBody>
      </p:sp>
      <p:pic>
        <p:nvPicPr>
          <p:cNvPr id="204" name="Crop g1s3-r2"/>
          <p:cNvPicPr>
            <a:picLocks noChangeAspect="1"/>
          </p:cNvPicPr>
          <p:nvPr/>
        </p:nvPicPr>
        <p:blipFill>
          <a:blip r:embed="rId22"/>
          <a:stretch>
            <a:fillRect/>
          </a:stretch>
        </p:blipFill>
        <p:spPr>
          <a:xfrm>
            <a:off x="822960" y="4033934"/>
            <a:ext cx="5029200" cy="1034785"/>
          </a:xfrm>
          <a:prstGeom prst="rect">
            <a:avLst/>
          </a:prstGeom>
          <a:ln w="6350">
            <a:solidFill>
              <a:srgbClr val="D9D9D9"/>
            </a:solidFill>
          </a:ln>
        </p:spPr>
      </p:pic>
      <p:sp>
        <p:nvSpPr>
          <p:cNvPr id="205" name="Crop Label 205"/>
          <p:cNvSpPr txBox="1"/>
          <p:nvPr/>
        </p:nvSpPr>
        <p:spPr>
          <a:xfrm>
            <a:off x="6336792" y="2157984"/>
            <a:ext cx="36576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AJRR 2024 Annual Report, Fig 2.3 (p.26)</a:t>
            </a:r>
          </a:p>
        </p:txBody>
      </p:sp>
      <p:pic>
        <p:nvPicPr>
          <p:cNvPr id="206" name="Crop g1s3-s1title"/>
          <p:cNvPicPr>
            <a:picLocks noChangeAspect="1"/>
          </p:cNvPicPr>
          <p:nvPr/>
        </p:nvPicPr>
        <p:blipFill>
          <a:blip r:embed="rId23"/>
          <a:stretch>
            <a:fillRect/>
          </a:stretch>
        </p:blipFill>
        <p:spPr>
          <a:xfrm>
            <a:off x="6336792" y="2377440"/>
            <a:ext cx="4206240" cy="294236"/>
          </a:xfrm>
          <a:prstGeom prst="rect">
            <a:avLst/>
          </a:prstGeom>
          <a:ln w="6350">
            <a:solidFill>
              <a:srgbClr val="D9D9D9"/>
            </a:solidFill>
          </a:ln>
        </p:spPr>
      </p:pic>
      <p:pic>
        <p:nvPicPr>
          <p:cNvPr id="207" name="Crop g1s3-s1left"/>
          <p:cNvPicPr>
            <a:picLocks noChangeAspect="1"/>
          </p:cNvPicPr>
          <p:nvPr/>
        </p:nvPicPr>
        <p:blipFill>
          <a:blip r:embed="rId24"/>
          <a:stretch>
            <a:fillRect/>
          </a:stretch>
        </p:blipFill>
        <p:spPr>
          <a:xfrm>
            <a:off x="6336792" y="2670048"/>
            <a:ext cx="2377965" cy="1143000"/>
          </a:xfrm>
          <a:prstGeom prst="rect">
            <a:avLst/>
          </a:prstGeom>
          <a:ln w="6350">
            <a:solidFill>
              <a:srgbClr val="D9D9D9"/>
            </a:solidFill>
          </a:ln>
        </p:spPr>
      </p:pic>
      <p:pic>
        <p:nvPicPr>
          <p:cNvPr id="208" name="Crop g1s3-s1right"/>
          <p:cNvPicPr>
            <a:picLocks noChangeAspect="1"/>
          </p:cNvPicPr>
          <p:nvPr/>
        </p:nvPicPr>
        <p:blipFill>
          <a:blip r:embed="rId25"/>
          <a:stretch>
            <a:fillRect/>
          </a:stretch>
        </p:blipFill>
        <p:spPr>
          <a:xfrm>
            <a:off x="9375595" y="2670048"/>
            <a:ext cx="1990396" cy="1143000"/>
          </a:xfrm>
          <a:prstGeom prst="rect">
            <a:avLst/>
          </a:prstGeom>
          <a:ln w="6350">
            <a:solidFill>
              <a:srgbClr val="D9D9D9"/>
            </a:solidFill>
          </a:ln>
        </p:spPr>
      </p:pic>
      <p:pic>
        <p:nvPicPr>
          <p:cNvPr id="209" name="Crop g1s3-s1legend"/>
          <p:cNvPicPr>
            <a:picLocks noChangeAspect="1"/>
          </p:cNvPicPr>
          <p:nvPr/>
        </p:nvPicPr>
        <p:blipFill>
          <a:blip r:embed="rId26"/>
          <a:stretch>
            <a:fillRect/>
          </a:stretch>
        </p:blipFill>
        <p:spPr>
          <a:xfrm>
            <a:off x="10177272" y="3849624"/>
            <a:ext cx="1188720" cy="221500"/>
          </a:xfrm>
          <a:prstGeom prst="rect">
            <a:avLst/>
          </a:prstGeom>
          <a:ln w="6350">
            <a:solidFill>
              <a:srgbClr val="D9D9D9"/>
            </a:solidFill>
          </a:ln>
        </p:spPr>
      </p:pic>
      <p:sp>
        <p:nvSpPr>
          <p:cNvPr id="210" name="Crop Label 210"/>
          <p:cNvSpPr txBox="1"/>
          <p:nvPr/>
        </p:nvSpPr>
        <p:spPr>
          <a:xfrm>
            <a:off x="6336792" y="4114800"/>
            <a:ext cx="41148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Burnett RA et al. J Arthroplasty. 2023 (abstract)</a:t>
            </a:r>
          </a:p>
        </p:txBody>
      </p:sp>
      <p:pic>
        <p:nvPicPr>
          <p:cNvPr id="211" name="Crop g1s3-s2"/>
          <p:cNvPicPr>
            <a:picLocks noChangeAspect="1"/>
          </p:cNvPicPr>
          <p:nvPr/>
        </p:nvPicPr>
        <p:blipFill>
          <a:blip r:embed="rId27"/>
          <a:stretch>
            <a:fillRect/>
          </a:stretch>
        </p:blipFill>
        <p:spPr>
          <a:xfrm>
            <a:off x="6336792" y="4334256"/>
            <a:ext cx="4572000" cy="815661"/>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AJRR 2024 Annual Report, https://www.aaos.org/registries/publications/ajrr-annual-report/ ; Burnett RA et al. J Arthroplasty. 2023, doi:10.1016/j.arth.2022.12.029</a:t>
            </a:r>
            <a:endParaRPr lang="en-US" dirty="0"/>
          </a:p>
        </p:txBody>
      </p:sp>
      <p:sp>
        <p:nvSpPr>
          <p:cNvPr id="250" name="Gap Label"/>
          <p:cNvSpPr txBox="1"/>
          <p:nvPr/>
        </p:nvSpPr>
        <p:spPr>
          <a:xfrm>
            <a:off x="8714757" y="2670048"/>
            <a:ext cx="660837" cy="1143000"/>
          </a:xfrm>
          <a:prstGeom prst="rect">
            <a:avLst/>
          </a:prstGeom>
          <a:noFill/>
        </p:spPr>
        <p:txBody>
          <a:bodyPr wrap="square" lIns="0" tIns="0" rIns="0" bIns="0" anchor="ctr">
            <a:noAutofit/>
          </a:bodyPr>
          <a:lstStyle/>
          <a:p>
            <a:pPr algn="ctr"/>
            <a:r>
              <a:rPr lang="en-US" sz="1600" dirty="0">
                <a:solidFill>
                  <a:srgbClr val="7A748A"/>
                </a:solidFill>
                <a:latin typeface="urbanist"/>
                <a:ea typeface="urbanist"/>
                <a:cs typeface="urbanist"/>
              </a:rPr>
              <a:t>…</a:t>
            </a:r>
          </a:p>
          <a:p>
            <a:pPr algn="ctr"/>
            <a:r>
              <a:rPr lang="en-US" sz="800" dirty="0">
                <a:solidFill>
                  <a:srgbClr val="7A748A"/>
                </a:solidFill>
                <a:latin typeface="urbanist"/>
                <a:ea typeface="urbanist"/>
                <a:cs typeface="urbanist"/>
              </a:rPr>
              <a:t>2016-2019</a:t>
            </a:r>
          </a:p>
          <a:p>
            <a:pPr algn="ctr"/>
            <a:r>
              <a:rPr lang="en-US" sz="800" dirty="0">
                <a:solidFill>
                  <a:srgbClr val="7A748A"/>
                </a:solidFill>
                <a:latin typeface="urbanist"/>
                <a:ea typeface="urbanist"/>
                <a:cs typeface="urbanist"/>
              </a:rPr>
              <a:t>omitted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Ref 11: </a:t>
            </a:r>
            <a:r>
              <a:rPr lang="en-US" sz="2800" dirty="0">
                <a:solidFill>
                  <a:srgbClr val="09254A"/>
                </a:solidFill>
                <a:latin typeface="urbanist"/>
                <a:ea typeface="urbanist"/>
                <a:cs typeface="urbanist"/>
              </a:rPr>
              <a:t>source not found, </a:t>
            </a:r>
            <a:r>
              <a:rPr lang="en-US" sz="2800" dirty="0">
                <a:solidFill>
                  <a:srgbClr val="6DCFF6"/>
                </a:solidFill>
                <a:latin typeface="urbanist"/>
                <a:ea typeface="urbanist"/>
                <a:cs typeface="urbanist"/>
              </a:rPr>
              <a:t>not cited in the text</a:t>
            </a:r>
            <a:endParaRPr lang="en-US" dirty="0"/>
          </a:p>
        </p:txBody>
      </p:sp>
      <p:sp>
        <p:nvSpPr>
          <p:cNvPr id="22" name="Status 22"/>
          <p:cNvSpPr/>
          <p:nvPr/>
        </p:nvSpPr>
        <p:spPr>
          <a:xfrm>
            <a:off x="310896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p.5, p.11</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AHRQ HCUP Statistical Brief #281</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Fix: </a:t>
            </a:r>
            <a:r>
              <a:rPr lang="en-US" sz="1300" dirty="0">
                <a:solidFill>
                  <a:srgbClr val="FFFFFF"/>
                </a:solidFill>
                <a:latin typeface="Nunito Light"/>
                <a:ea typeface="Nunito Light"/>
                <a:cs typeface="Nunito Light"/>
              </a:rPr>
              <a:t>Cite AHRQ HCUP Statistical Brief #281 and add the missing superscript 11 on the Fig 2 source line. Keep joint replacement ~60%; lower spinal fusion to ~30-40%; source or drop hip fracture 78%, bowel 47%, CABG 58%; drop "majority of all five".</a:t>
            </a:r>
            <a:endParaRPr lang="en-US" dirty="0"/>
          </a:p>
        </p:txBody>
      </p:sp>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AHRQ HCUP Statistical Brief #281, https://hcup-us.ahrq.gov/reports/statbriefs/sb281-Operating-Room-Procedures-During-Hospitalization-2018.jsp</a:t>
            </a:r>
            <a:endParaRPr lang="en-US" dirty="0"/>
          </a:p>
        </p:txBody>
      </p:sp>
      <p:sp>
        <p:nvSpPr>
          <p:cNvPr id="301" name="Crop Label 301"/>
          <p:cNvSpPr txBox="1"/>
          <p:nvPr/>
        </p:nvSpPr>
        <p:spPr>
          <a:xfrm>
            <a:off x="822960" y="215798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p.5, Fig 2</a:t>
            </a:r>
          </a:p>
        </p:txBody>
      </p:sp>
      <p:pic>
        <p:nvPicPr>
          <p:cNvPr id="302" name="Crop g4s10-r1"/>
          <p:cNvPicPr>
            <a:picLocks noChangeAspect="1"/>
          </p:cNvPicPr>
          <p:nvPr/>
        </p:nvPicPr>
        <p:blipFill>
          <a:blip r:embed="rId31"/>
          <a:stretch>
            <a:fillRect/>
          </a:stretch>
        </p:blipFill>
        <p:spPr>
          <a:xfrm>
            <a:off x="822960" y="2377439"/>
            <a:ext cx="2560320" cy="1526530"/>
          </a:xfrm>
          <a:prstGeom prst="rect">
            <a:avLst/>
          </a:prstGeom>
          <a:ln w="6350">
            <a:solidFill>
              <a:srgbClr val="D9D9D9"/>
            </a:solidFill>
          </a:ln>
        </p:spPr>
      </p:pic>
      <p:sp>
        <p:nvSpPr>
          <p:cNvPr id="303" name="Crop Label 303"/>
          <p:cNvSpPr txBox="1"/>
          <p:nvPr/>
        </p:nvSpPr>
        <p:spPr>
          <a:xfrm>
            <a:off x="3566160" y="2514082"/>
            <a:ext cx="2240280" cy="822960"/>
          </a:xfrm>
          <a:prstGeom prst="rect">
            <a:avLst/>
          </a:prstGeom>
          <a:noFill/>
        </p:spPr>
        <p:txBody>
          <a:bodyPr wrap="square" lIns="0" tIns="0" rIns="0" bIns="0" anchor="b">
            <a:noAutofit/>
          </a:bodyPr>
          <a:lstStyle/>
          <a:p>
            <a:pPr algn="l"/>
            <a:r>
              <a:rPr lang="en-US" sz="1100" b="1" dirty="0">
                <a:solidFill>
                  <a:srgbClr val="C8382F"/>
                </a:solidFill>
                <a:latin typeface="urbanist"/>
                <a:ea typeface="urbanist"/>
                <a:cs typeface="urbanist"/>
              </a:rPr>
              <a:t>Ref 11 isn't cited in the published text: no superscript 11; the numbering jumps from 10 to 12.</a:t>
            </a:r>
          </a:p>
        </p:txBody>
      </p:sp>
      <p:sp>
        <p:nvSpPr>
          <p:cNvPr id="304" name="Crop Label 304"/>
          <p:cNvSpPr txBox="1"/>
          <p:nvPr/>
        </p:nvSpPr>
        <p:spPr>
          <a:xfrm>
            <a:off x="822960" y="397712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p.5, Fig 2 “Sources:” line (the only place ACS NSQIP is named)</a:t>
            </a:r>
          </a:p>
        </p:txBody>
      </p:sp>
      <p:pic>
        <p:nvPicPr>
          <p:cNvPr id="305" name="Crop g4s10-r2"/>
          <p:cNvPicPr>
            <a:picLocks noChangeAspect="1"/>
          </p:cNvPicPr>
          <p:nvPr/>
        </p:nvPicPr>
        <p:blipFill>
          <a:blip r:embed="rId32"/>
          <a:stretch>
            <a:fillRect/>
          </a:stretch>
        </p:blipFill>
        <p:spPr>
          <a:xfrm>
            <a:off x="822960" y="4196578"/>
            <a:ext cx="5029200" cy="315400"/>
          </a:xfrm>
          <a:prstGeom prst="rect">
            <a:avLst/>
          </a:prstGeom>
          <a:ln w="6350">
            <a:solidFill>
              <a:srgbClr val="D9D9D9"/>
            </a:solidFill>
          </a:ln>
        </p:spPr>
      </p:pic>
      <p:sp>
        <p:nvSpPr>
          <p:cNvPr id="306" name="Crop Label 306"/>
          <p:cNvSpPr txBox="1"/>
          <p:nvPr/>
        </p:nvSpPr>
        <p:spPr>
          <a:xfrm>
            <a:off x="822960" y="4585130"/>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p.11, ref 11 entry (source not found)</a:t>
            </a:r>
          </a:p>
        </p:txBody>
      </p:sp>
      <p:pic>
        <p:nvPicPr>
          <p:cNvPr id="307" name="Crop g4s10-r3"/>
          <p:cNvPicPr>
            <a:picLocks noChangeAspect="1"/>
          </p:cNvPicPr>
          <p:nvPr/>
        </p:nvPicPr>
        <p:blipFill>
          <a:blip r:embed="rId33"/>
          <a:stretch>
            <a:fillRect/>
          </a:stretch>
        </p:blipFill>
        <p:spPr>
          <a:xfrm>
            <a:off x="822960" y="4804586"/>
            <a:ext cx="2423160" cy="379133"/>
          </a:xfrm>
          <a:prstGeom prst="rect">
            <a:avLst/>
          </a:prstGeom>
          <a:ln w="6350">
            <a:solidFill>
              <a:srgbClr val="D9D9D9"/>
            </a:solidFill>
          </a:ln>
        </p:spPr>
      </p:pic>
      <p:sp>
        <p:nvSpPr>
          <p:cNvPr id="308" name="Crop Label 308"/>
          <p:cNvSpPr txBox="1"/>
          <p:nvPr/>
        </p:nvSpPr>
        <p:spPr>
          <a:xfrm>
            <a:off x="6336792" y="215798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AHRQ HCUP Statistical Brief #281, Table 3 (2018), males</a:t>
            </a:r>
          </a:p>
        </p:txBody>
      </p:sp>
      <p:pic>
        <p:nvPicPr>
          <p:cNvPr id="309" name="Crop g4s10-s1"/>
          <p:cNvPicPr>
            <a:picLocks noChangeAspect="1"/>
          </p:cNvPicPr>
          <p:nvPr/>
        </p:nvPicPr>
        <p:blipFill>
          <a:blip r:embed="rId34"/>
          <a:stretch>
            <a:fillRect/>
          </a:stretch>
        </p:blipFill>
        <p:spPr>
          <a:xfrm>
            <a:off x="6336792" y="2377439"/>
            <a:ext cx="3566160" cy="2379865"/>
          </a:xfrm>
          <a:prstGeom prst="rect">
            <a:avLst/>
          </a:prstGeom>
          <a:ln w="6350">
            <a:solidFill>
              <a:srgbClr val="D9D9D9"/>
            </a:solid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Partly</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Ref 12: </a:t>
            </a:r>
            <a:r>
              <a:rPr lang="en-US" sz="2800" dirty="0">
                <a:solidFill>
                  <a:srgbClr val="09254A"/>
                </a:solidFill>
                <a:latin typeface="urbanist"/>
                <a:ea typeface="urbanist"/>
                <a:cs typeface="urbanist"/>
              </a:rPr>
              <a:t>56% and $1.2M are real; </a:t>
            </a:r>
            <a:r>
              <a:rPr lang="en-US" sz="2800" dirty="0">
                <a:solidFill>
                  <a:srgbClr val="6DCFF6"/>
                </a:solidFill>
                <a:latin typeface="urbanist"/>
                <a:ea typeface="urbanist"/>
                <a:cs typeface="urbanist"/>
              </a:rPr>
              <a:t>the rest isn't Optum's</a:t>
            </a:r>
            <a:endParaRPr lang="en-US" dirty="0"/>
          </a:p>
        </p:txBody>
      </p:sp>
      <p:sp>
        <p:nvSpPr>
          <p:cNvPr id="22" name="Status 22"/>
          <p:cNvSpPr/>
          <p:nvPr/>
        </p:nvSpPr>
        <p:spPr>
          <a:xfrm>
            <a:off x="310896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p.6, p.7</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Advisory Board + Rainfall PR</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Fix: </a:t>
            </a:r>
            <a:r>
              <a:rPr lang="en-US" sz="1300" dirty="0">
                <a:solidFill>
                  <a:srgbClr val="FFFFFF"/>
                </a:solidFill>
                <a:latin typeface="Nunito Light"/>
                <a:ea typeface="Nunito Light"/>
                <a:cs typeface="Nunito Light"/>
              </a:rPr>
              <a:t>Cite Nation R, et al., Advisory Board, Nov 25, 2025 for 56% and $1.2M; drop "Year 1" and "first reconciliation cycle"; label the $14M and the −$6M "Optum" figure as Rainfall estimates. The ref 12 title doesn't exist.</a:t>
            </a:r>
            <a:endParaRPr lang="en-US" dirty="0"/>
          </a:p>
        </p:txBody>
      </p:sp>
      <p:sp>
        <p:nvSpPr>
          <p:cNvPr id="600" name="Crop Label 600"/>
          <p:cNvSpPr txBox="1"/>
          <p:nvPr/>
        </p:nvSpPr>
        <p:spPr>
          <a:xfrm>
            <a:off x="822960" y="2344578"/>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p.6: 56%, "first reconciliation cycle", $1.2M and $14M, all cited to ref 12</a:t>
            </a:r>
          </a:p>
        </p:txBody>
      </p:sp>
      <p:pic>
        <p:nvPicPr>
          <p:cNvPr id="601" name="Crop g6x-s16-r1"/>
          <p:cNvPicPr>
            <a:picLocks noChangeAspect="1"/>
          </p:cNvPicPr>
          <p:nvPr/>
        </p:nvPicPr>
        <p:blipFill>
          <a:blip r:embed="rId700"/>
          <a:stretch>
            <a:fillRect/>
          </a:stretch>
        </p:blipFill>
        <p:spPr>
          <a:xfrm>
            <a:off x="822960" y="2564034"/>
            <a:ext cx="5029200" cy="489685"/>
          </a:xfrm>
          <a:prstGeom prst="rect">
            <a:avLst/>
          </a:prstGeom>
          <a:ln w="6350">
            <a:solidFill>
              <a:srgbClr val="D9D9D9"/>
            </a:solidFill>
          </a:ln>
        </p:spPr>
      </p:pic>
      <p:sp>
        <p:nvSpPr>
          <p:cNvPr id="602" name="Crop Label 602"/>
          <p:cNvSpPr txBox="1"/>
          <p:nvPr/>
        </p:nvSpPr>
        <p:spPr>
          <a:xfrm>
            <a:off x="822960" y="3163447"/>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p.6 stat boxes</a:t>
            </a:r>
          </a:p>
        </p:txBody>
      </p:sp>
      <p:pic>
        <p:nvPicPr>
          <p:cNvPr id="603" name="Crop g6x-s16-r2"/>
          <p:cNvPicPr>
            <a:picLocks noChangeAspect="1"/>
          </p:cNvPicPr>
          <p:nvPr/>
        </p:nvPicPr>
        <p:blipFill>
          <a:blip r:embed="rId701"/>
          <a:stretch>
            <a:fillRect/>
          </a:stretch>
        </p:blipFill>
        <p:spPr>
          <a:xfrm>
            <a:off x="822960" y="3382903"/>
            <a:ext cx="2651760" cy="778233"/>
          </a:xfrm>
          <a:prstGeom prst="rect">
            <a:avLst/>
          </a:prstGeom>
          <a:ln w="6350">
            <a:solidFill>
              <a:srgbClr val="D9D9D9"/>
            </a:solidFill>
          </a:ln>
        </p:spPr>
      </p:pic>
      <p:sp>
        <p:nvSpPr>
          <p:cNvPr id="604" name="Crop Label 604"/>
          <p:cNvSpPr txBox="1"/>
          <p:nvPr/>
        </p:nvSpPr>
        <p:spPr>
          <a:xfrm>
            <a:off x="822960" y="4270865"/>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p.7 Fig 4 caption: −$6M credited to Optum</a:t>
            </a:r>
          </a:p>
        </p:txBody>
      </p:sp>
      <p:pic>
        <p:nvPicPr>
          <p:cNvPr id="605" name="Crop g6x-s16-r3"/>
          <p:cNvPicPr>
            <a:picLocks noChangeAspect="1"/>
          </p:cNvPicPr>
          <p:nvPr/>
        </p:nvPicPr>
        <p:blipFill>
          <a:blip r:embed="rId702"/>
          <a:stretch>
            <a:fillRect/>
          </a:stretch>
        </p:blipFill>
        <p:spPr>
          <a:xfrm>
            <a:off x="822960" y="4490321"/>
            <a:ext cx="5029200" cy="370572"/>
          </a:xfrm>
          <a:prstGeom prst="rect">
            <a:avLst/>
          </a:prstGeom>
          <a:ln w="6350">
            <a:solidFill>
              <a:srgbClr val="D9D9D9"/>
            </a:solidFill>
          </a:ln>
        </p:spPr>
      </p:pic>
      <p:sp>
        <p:nvSpPr>
          <p:cNvPr id="606" name="Crop Label 606"/>
          <p:cNvSpPr txBox="1"/>
          <p:nvPr/>
        </p:nvSpPr>
        <p:spPr>
          <a:xfrm>
            <a:off x="6336792" y="2551426"/>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Advisory Board, Nov 25, 2025: 56% and $1.2M are real</a:t>
            </a:r>
          </a:p>
        </p:txBody>
      </p:sp>
      <p:pic>
        <p:nvPicPr>
          <p:cNvPr id="607" name="Crop g6x-s16-s1"/>
          <p:cNvPicPr>
            <a:picLocks noChangeAspect="1"/>
          </p:cNvPicPr>
          <p:nvPr/>
        </p:nvPicPr>
        <p:blipFill>
          <a:blip r:embed="rId703"/>
          <a:stretch>
            <a:fillRect/>
          </a:stretch>
        </p:blipFill>
        <p:spPr>
          <a:xfrm>
            <a:off x="6336792" y="2770882"/>
            <a:ext cx="5029200" cy="347840"/>
          </a:xfrm>
          <a:prstGeom prst="rect">
            <a:avLst/>
          </a:prstGeom>
          <a:ln w="6350">
            <a:solidFill>
              <a:srgbClr val="D9D9D9"/>
            </a:solidFill>
          </a:ln>
        </p:spPr>
      </p:pic>
      <p:sp>
        <p:nvSpPr>
          <p:cNvPr id="608" name="Crop Label 608"/>
          <p:cNvSpPr txBox="1"/>
          <p:nvPr/>
        </p:nvSpPr>
        <p:spPr>
          <a:xfrm>
            <a:off x="6336792" y="3228451"/>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Same article: no mandatory downside risk for 2026</a:t>
            </a:r>
          </a:p>
        </p:txBody>
      </p:sp>
      <p:pic>
        <p:nvPicPr>
          <p:cNvPr id="609" name="Crop g6x-s16-s2"/>
          <p:cNvPicPr>
            <a:picLocks noChangeAspect="1"/>
          </p:cNvPicPr>
          <p:nvPr/>
        </p:nvPicPr>
        <p:blipFill>
          <a:blip r:embed="rId704"/>
          <a:stretch>
            <a:fillRect/>
          </a:stretch>
        </p:blipFill>
        <p:spPr>
          <a:xfrm>
            <a:off x="6336792" y="3447907"/>
            <a:ext cx="3291840" cy="513014"/>
          </a:xfrm>
          <a:prstGeom prst="rect">
            <a:avLst/>
          </a:prstGeom>
          <a:ln w="6350">
            <a:solidFill>
              <a:srgbClr val="D9D9D9"/>
            </a:solidFill>
          </a:ln>
        </p:spPr>
      </p:pic>
      <p:sp>
        <p:nvSpPr>
          <p:cNvPr id="610" name="Crop Label 610"/>
          <p:cNvSpPr txBox="1"/>
          <p:nvPr/>
        </p:nvSpPr>
        <p:spPr>
          <a:xfrm>
            <a:off x="6336792" y="4070649"/>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Rainfall's Jul 27 press release: the $14M is Rainfall's own projection</a:t>
            </a:r>
          </a:p>
        </p:txBody>
      </p:sp>
      <p:pic>
        <p:nvPicPr>
          <p:cNvPr id="611" name="Crop g6x-s16-s3"/>
          <p:cNvPicPr>
            <a:picLocks noChangeAspect="1"/>
          </p:cNvPicPr>
          <p:nvPr/>
        </p:nvPicPr>
        <p:blipFill>
          <a:blip r:embed="rId705"/>
          <a:stretch>
            <a:fillRect/>
          </a:stretch>
        </p:blipFill>
        <p:spPr>
          <a:xfrm>
            <a:off x="6336792" y="4290105"/>
            <a:ext cx="4572000" cy="363940"/>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https://www.advisory.com/topics/policy-and-payment/hospitals-need-to-know-team ; https://www.prnewswire.com/news-releases/rainfall-health-outlines-multi-million-dollar-opportunity-for-hospitals-impacted-by-cms-team-mandate-302834322.html</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$14.5M: </a:t>
            </a:r>
            <a:r>
              <a:rPr lang="en-US" sz="2800" dirty="0">
                <a:solidFill>
                  <a:srgbClr val="09254A"/>
                </a:solidFill>
                <a:latin typeface="urbanist"/>
                <a:ea typeface="urbanist"/>
                <a:cs typeface="urbanist"/>
              </a:rPr>
              <a:t>one number, </a:t>
            </a:r>
            <a:r>
              <a:rPr lang="en-US" sz="2800" dirty="0">
                <a:solidFill>
                  <a:srgbClr val="6DCFF6"/>
                </a:solidFill>
                <a:latin typeface="urbanist"/>
                <a:ea typeface="urbanist"/>
                <a:cs typeface="urbanist"/>
              </a:rPr>
              <a:t>three meanings</a:t>
            </a:r>
            <a:endParaRPr lang="en-US" dirty="0"/>
          </a:p>
        </p:txBody>
      </p:sp>
      <p:sp>
        <p:nvSpPr>
          <p:cNvPr id="22" name="Status 22"/>
          <p:cNvSpPr/>
          <p:nvPr/>
        </p:nvSpPr>
        <p:spPr>
          <a:xfrm>
            <a:off x="3108960" y="534924"/>
            <a:ext cx="1463040" cy="310896"/>
          </a:xfrm>
          <a:prstGeom prst="roundRect">
            <a:avLst>
              <a:gd name="adj" fmla="val 50000"/>
            </a:avLst>
          </a:prstGeom>
          <a:solidFill>
            <a:srgbClr val="C47F00"/>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Unverifiable</a:t>
            </a:r>
          </a:p>
        </p:txBody>
      </p:sp>
      <p:sp>
        <p:nvSpPr>
          <p:cNvPr id="30" name="Report Header"/>
          <p:cNvSpPr/>
          <p:nvPr/>
        </p:nvSpPr>
        <p:spPr>
          <a:xfrm>
            <a:off x="685800"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p.6, p.7, p.9</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09254A"/>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Slack shows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Jun 29, layout note only</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400" b="1" dirty="0">
                <a:solidFill>
                  <a:srgbClr val="6DCFF6"/>
                </a:solidFill>
                <a:latin typeface="urbanist"/>
                <a:ea typeface="urbanist"/>
                <a:cs typeface="urbanist"/>
              </a:rPr>
              <a:t>Fix: </a:t>
            </a:r>
            <a:r>
              <a:rPr lang="en-US" sz="1400" dirty="0">
                <a:solidFill>
                  <a:srgbClr val="FFFFFF"/>
                </a:solidFill>
                <a:latin typeface="Nunito Light"/>
                <a:ea typeface="Nunito Light"/>
                <a:cs typeface="Nunito Light"/>
              </a:rPr>
              <a:t>Pick one definition, attribute it to Rainfall's internal model (ref 14) with a method note, drop "Optum", and add the missing "M" on p.9.</a:t>
            </a:r>
            <a:endParaRPr lang="en-US" dirty="0"/>
          </a:p>
        </p:txBody>
      </p:sp>
      <p:sp>
        <p:nvSpPr>
          <p:cNvPr id="600" name="Crop Label 600"/>
          <p:cNvSpPr txBox="1"/>
          <p:nvPr/>
        </p:nvSpPr>
        <p:spPr>
          <a:xfrm>
            <a:off x="822960" y="2167127"/>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p.6: "$14M" five-year exposure for a system (cited to ref 12)</a:t>
            </a:r>
          </a:p>
        </p:txBody>
      </p:sp>
      <p:pic>
        <p:nvPicPr>
          <p:cNvPr id="601" name="Crop g6x-s17-r1"/>
          <p:cNvPicPr>
            <a:picLocks noChangeAspect="1"/>
          </p:cNvPicPr>
          <p:nvPr/>
        </p:nvPicPr>
        <p:blipFill>
          <a:blip r:embed="rId700"/>
          <a:stretch>
            <a:fillRect/>
          </a:stretch>
        </p:blipFill>
        <p:spPr>
          <a:xfrm>
            <a:off x="822960" y="2386583"/>
            <a:ext cx="5029200" cy="238225"/>
          </a:xfrm>
          <a:prstGeom prst="rect">
            <a:avLst/>
          </a:prstGeom>
          <a:ln w="6350">
            <a:solidFill>
              <a:srgbClr val="D9D9D9"/>
            </a:solidFill>
          </a:ln>
        </p:spPr>
      </p:pic>
      <p:sp>
        <p:nvSpPr>
          <p:cNvPr id="602" name="Crop Label 602"/>
          <p:cNvSpPr txBox="1"/>
          <p:nvPr/>
        </p:nvSpPr>
        <p:spPr>
          <a:xfrm>
            <a:off x="822960" y="2734537"/>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p.7 Fig 4: ±$14.5M for one mid-volume hospital, −$6M "Optum"</a:t>
            </a:r>
          </a:p>
        </p:txBody>
      </p:sp>
      <p:pic>
        <p:nvPicPr>
          <p:cNvPr id="603" name="Crop g6x-s17-r2"/>
          <p:cNvPicPr>
            <a:picLocks noChangeAspect="1"/>
          </p:cNvPicPr>
          <p:nvPr/>
        </p:nvPicPr>
        <p:blipFill>
          <a:blip r:embed="rId701"/>
          <a:stretch>
            <a:fillRect/>
          </a:stretch>
        </p:blipFill>
        <p:spPr>
          <a:xfrm>
            <a:off x="822960" y="2953993"/>
            <a:ext cx="5029200" cy="370572"/>
          </a:xfrm>
          <a:prstGeom prst="rect">
            <a:avLst/>
          </a:prstGeom>
          <a:ln w="6350">
            <a:solidFill>
              <a:srgbClr val="D9D9D9"/>
            </a:solidFill>
          </a:ln>
        </p:spPr>
      </p:pic>
      <p:sp>
        <p:nvSpPr>
          <p:cNvPr id="604" name="Crop Label 604"/>
          <p:cNvSpPr txBox="1"/>
          <p:nvPr/>
        </p:nvSpPr>
        <p:spPr>
          <a:xfrm>
            <a:off x="822960" y="3434293"/>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p.9: $14.5M peak across 17 California systems (ref 14)</a:t>
            </a:r>
          </a:p>
        </p:txBody>
      </p:sp>
      <p:pic>
        <p:nvPicPr>
          <p:cNvPr id="605" name="Crop g6x-s17-r3"/>
          <p:cNvPicPr>
            <a:picLocks noChangeAspect="1"/>
          </p:cNvPicPr>
          <p:nvPr/>
        </p:nvPicPr>
        <p:blipFill>
          <a:blip r:embed="rId702"/>
          <a:stretch>
            <a:fillRect/>
          </a:stretch>
        </p:blipFill>
        <p:spPr>
          <a:xfrm>
            <a:off x="822960" y="3653749"/>
            <a:ext cx="3657600" cy="284085"/>
          </a:xfrm>
          <a:prstGeom prst="rect">
            <a:avLst/>
          </a:prstGeom>
          <a:ln w="6350">
            <a:solidFill>
              <a:srgbClr val="D9D9D9"/>
            </a:solidFill>
          </a:ln>
        </p:spPr>
      </p:pic>
      <p:sp>
        <p:nvSpPr>
          <p:cNvPr id="606" name="Crop Label 606"/>
          <p:cNvSpPr txBox="1"/>
          <p:nvPr/>
        </p:nvSpPr>
        <p:spPr>
          <a:xfrm>
            <a:off x="822960" y="4047563"/>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p.9 stat box: "$14.5" maximum</a:t>
            </a:r>
          </a:p>
        </p:txBody>
      </p:sp>
      <p:pic>
        <p:nvPicPr>
          <p:cNvPr id="607" name="Crop g6x-s17-r4"/>
          <p:cNvPicPr>
            <a:picLocks noChangeAspect="1"/>
          </p:cNvPicPr>
          <p:nvPr/>
        </p:nvPicPr>
        <p:blipFill>
          <a:blip r:embed="rId703"/>
          <a:stretch>
            <a:fillRect/>
          </a:stretch>
        </p:blipFill>
        <p:spPr>
          <a:xfrm>
            <a:off x="822960" y="4267019"/>
            <a:ext cx="1143000" cy="872836"/>
          </a:xfrm>
          <a:prstGeom prst="rect">
            <a:avLst/>
          </a:prstGeom>
          <a:ln w="6350">
            <a:solidFill>
              <a:srgbClr val="D9D9D9"/>
            </a:solidFill>
          </a:ln>
        </p:spPr>
      </p:pic>
      <p:sp>
        <p:nvSpPr>
          <p:cNvPr id="608" name="Crop Label 608"/>
          <p:cNvSpPr txBox="1"/>
          <p:nvPr/>
        </p:nvSpPr>
        <p:spPr>
          <a:xfrm>
            <a:off x="6336792" y="2531481"/>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Mia Kelly, Jun 29 (v3 draft): the $14.5M label runs past the chart border</a:t>
            </a:r>
          </a:p>
        </p:txBody>
      </p:sp>
      <p:sp>
        <p:nvSpPr>
          <p:cNvPr id="690" name="Slack Note"/>
          <p:cNvSpPr txBox="1"/>
          <p:nvPr/>
        </p:nvSpPr>
        <p:spPr>
          <a:xfrm>
            <a:off x="8641080" y="2750937"/>
            <a:ext cx="2743200" cy="1920240"/>
          </a:xfrm>
          <a:prstGeom prst="rect">
            <a:avLst/>
          </a:prstGeom>
          <a:noFill/>
        </p:spPr>
        <p:txBody>
          <a:bodyPr wrap="square" lIns="0" tIns="0" rIns="0" bIns="0" anchor="b">
            <a:noAutofit/>
          </a:bodyPr>
          <a:lstStyle/>
          <a:p>
            <a:pPr algn="l"/>
            <a:r>
              <a:rPr lang="en-US" sz="1200" b="0" dirty="0">
                <a:solidFill>
                  <a:srgbClr val="4F4A5E"/>
                </a:solidFill>
                <a:latin typeface="urbanist"/>
                <a:ea typeface="urbanist"/>
                <a:cs typeface="urbanist"/>
              </a:rPr>
              <a:t>Kyle replied "Omg I noticed the 14.5 M overlap too" and fixed the label on Jun 30.</a:t>
            </a:r>
          </a:p>
          <a:p>
            <a:pPr algn="l"/>
            <a:r>
              <a:rPr lang="en-US" sz="1200" b="0" dirty="0">
                <a:solidFill>
                  <a:srgbClr val="4F4A5E"/>
                </a:solidFill>
                <a:latin typeface="urbanist"/>
                <a:ea typeface="urbanist"/>
                <a:cs typeface="urbanist"/>
              </a:rPr>
              <a:t>That was about the label overflowing the chart. Nobody flagged that $14.5M means three different things.</a:t>
            </a:r>
          </a:p>
        </p:txBody>
      </p:sp>
      <p:pic>
        <p:nvPicPr>
          <p:cNvPr id="609" name="Crop g6x-s17-s1"/>
          <p:cNvPicPr>
            <a:picLocks noChangeAspect="1"/>
          </p:cNvPicPr>
          <p:nvPr/>
        </p:nvPicPr>
        <p:blipFill>
          <a:blip r:embed="rId704"/>
          <a:stretch>
            <a:fillRect/>
          </a:stretch>
        </p:blipFill>
        <p:spPr>
          <a:xfrm>
            <a:off x="6336792" y="2750937"/>
            <a:ext cx="2103120" cy="1941341"/>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published report pp.6, 7, 9; Slack DM Jun 29, 6:50 PM / 7:51 PM PT (Mia Kelly, Kyle), screenshot F0BEVQY5YM6; full-audit.md issue #11</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"First mandatory": </a:t>
            </a:r>
            <a:r>
              <a:rPr lang="en-US" sz="2800" dirty="0">
                <a:solidFill>
                  <a:srgbClr val="09254A"/>
                </a:solidFill>
                <a:latin typeface="urbanist"/>
                <a:ea typeface="urbanist"/>
                <a:cs typeface="urbanist"/>
              </a:rPr>
              <a:t>CJR was mandatory </a:t>
            </a:r>
            <a:r>
              <a:rPr lang="en-US" sz="2800" dirty="0">
                <a:solidFill>
                  <a:srgbClr val="6DCFF6"/>
                </a:solidFill>
                <a:latin typeface="urbanist"/>
                <a:ea typeface="urbanist"/>
                <a:cs typeface="urbanist"/>
              </a:rPr>
              <a:t>from 2016</a:t>
            </a:r>
            <a:endParaRPr lang="en-US" dirty="0"/>
          </a:p>
        </p:txBody>
      </p:sp>
      <p:sp>
        <p:nvSpPr>
          <p:cNvPr id="22" name="Status 22"/>
          <p:cNvSpPr/>
          <p:nvPr/>
        </p:nvSpPr>
        <p:spPr>
          <a:xfrm>
            <a:off x="310896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p.1, p.3</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TEAM Final Rule, 89 FR 69636</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Fix: </a:t>
            </a:r>
            <a:r>
              <a:rPr lang="en-US" sz="1300" dirty="0">
                <a:solidFill>
                  <a:srgbClr val="FFFFFF"/>
                </a:solidFill>
                <a:latin typeface="Nunito Light"/>
                <a:ea typeface="Nunito Light"/>
                <a:cs typeface="Nunito Light"/>
              </a:rPr>
              <a:t>Say "CMS's first mandatory multi-procedure surgical episode model" (cover, p.2) and drop "first wave" (p.3). The phrase was on p.2 since the Jun 25 Word draft; 120/80 put it on the cover Jul 1.</a:t>
            </a:r>
            <a:endParaRPr lang="en-US" dirty="0"/>
          </a:p>
        </p:txBody>
      </p:sp>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TEAM Final Rule, 89 FR 68986 (CJR passage at 89 FR 69636), https://www.federalregister.gov/d/2024-17021</a:t>
            </a:r>
            <a:endParaRPr lang="en-US" dirty="0"/>
          </a:p>
        </p:txBody>
      </p:sp>
      <p:sp>
        <p:nvSpPr>
          <p:cNvPr id="301" name="Crop Label 301"/>
          <p:cNvSpPr txBox="1"/>
          <p:nvPr/>
        </p:nvSpPr>
        <p:spPr>
          <a:xfrm>
            <a:off x="822960" y="215798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 (cover)</a:t>
            </a:r>
          </a:p>
        </p:txBody>
      </p:sp>
      <p:pic>
        <p:nvPicPr>
          <p:cNvPr id="302" name="Crop g2s5-r1"/>
          <p:cNvPicPr>
            <a:picLocks noChangeAspect="1"/>
          </p:cNvPicPr>
          <p:nvPr/>
        </p:nvPicPr>
        <p:blipFill>
          <a:blip r:embed="rId31"/>
          <a:stretch>
            <a:fillRect/>
          </a:stretch>
        </p:blipFill>
        <p:spPr>
          <a:xfrm>
            <a:off x="822960" y="2377439"/>
            <a:ext cx="4480560" cy="1539240"/>
          </a:xfrm>
          <a:prstGeom prst="rect">
            <a:avLst/>
          </a:prstGeom>
          <a:ln w="6350">
            <a:solidFill>
              <a:srgbClr val="D9D9D9"/>
            </a:solidFill>
          </a:ln>
        </p:spPr>
      </p:pic>
      <p:sp>
        <p:nvSpPr>
          <p:cNvPr id="303" name="Crop Label 303"/>
          <p:cNvSpPr txBox="1"/>
          <p:nvPr/>
        </p:nvSpPr>
        <p:spPr>
          <a:xfrm>
            <a:off x="822960" y="398983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p.3</a:t>
            </a:r>
          </a:p>
        </p:txBody>
      </p:sp>
      <p:pic>
        <p:nvPicPr>
          <p:cNvPr id="304" name="Crop g2s5-r2"/>
          <p:cNvPicPr>
            <a:picLocks noChangeAspect="1"/>
          </p:cNvPicPr>
          <p:nvPr/>
        </p:nvPicPr>
        <p:blipFill>
          <a:blip r:embed="rId32"/>
          <a:stretch>
            <a:fillRect/>
          </a:stretch>
        </p:blipFill>
        <p:spPr>
          <a:xfrm>
            <a:off x="822960" y="4209288"/>
            <a:ext cx="5029200" cy="649605"/>
          </a:xfrm>
          <a:prstGeom prst="rect">
            <a:avLst/>
          </a:prstGeom>
          <a:ln w="6350">
            <a:solidFill>
              <a:srgbClr val="D9D9D9"/>
            </a:solidFill>
          </a:ln>
        </p:spPr>
      </p:pic>
      <p:sp>
        <p:nvSpPr>
          <p:cNvPr id="305" name="Crop Label 305"/>
          <p:cNvSpPr txBox="1"/>
          <p:nvPr/>
        </p:nvSpPr>
        <p:spPr>
          <a:xfrm>
            <a:off x="6336792" y="215798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TEAM Final Rule, 89 FR 69636</a:t>
            </a:r>
          </a:p>
        </p:txBody>
      </p:sp>
      <p:pic>
        <p:nvPicPr>
          <p:cNvPr id="306" name="Crop g2s5-s1hdr"/>
          <p:cNvPicPr>
            <a:picLocks noChangeAspect="1"/>
          </p:cNvPicPr>
          <p:nvPr/>
        </p:nvPicPr>
        <p:blipFill>
          <a:blip r:embed="rId33"/>
          <a:stretch>
            <a:fillRect/>
          </a:stretch>
        </p:blipFill>
        <p:spPr>
          <a:xfrm>
            <a:off x="6336792" y="2377439"/>
            <a:ext cx="5029200" cy="227125"/>
          </a:xfrm>
          <a:prstGeom prst="rect">
            <a:avLst/>
          </a:prstGeom>
          <a:ln w="6350">
            <a:solidFill>
              <a:srgbClr val="D9D9D9"/>
            </a:solidFill>
          </a:ln>
        </p:spPr>
      </p:pic>
      <p:pic>
        <p:nvPicPr>
          <p:cNvPr id="307" name="Crop g2s5-s1"/>
          <p:cNvPicPr>
            <a:picLocks noChangeAspect="1"/>
          </p:cNvPicPr>
          <p:nvPr/>
        </p:nvPicPr>
        <p:blipFill>
          <a:blip r:embed="rId34"/>
          <a:stretch>
            <a:fillRect/>
          </a:stretch>
        </p:blipFill>
        <p:spPr>
          <a:xfrm>
            <a:off x="6748272" y="2677717"/>
            <a:ext cx="4206240" cy="1799200"/>
          </a:xfrm>
          <a:prstGeom prst="rect">
            <a:avLst/>
          </a:prstGeom>
          <a:ln w="6350">
            <a:solidFill>
              <a:srgbClr val="D9D9D9"/>
            </a:solid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Fig 1: </a:t>
            </a:r>
            <a:r>
              <a:rPr lang="en-US" sz="2800" dirty="0">
                <a:solidFill>
                  <a:srgbClr val="09254A"/>
                </a:solidFill>
                <a:latin typeface="urbanist"/>
                <a:ea typeface="urbanist"/>
                <a:cs typeface="urbanist"/>
              </a:rPr>
              <a:t>2017 Census numbers; </a:t>
            </a:r>
            <a:r>
              <a:rPr lang="en-US" sz="2800" dirty="0">
                <a:solidFill>
                  <a:srgbClr val="6DCFF6"/>
                </a:solidFill>
                <a:latin typeface="urbanist"/>
                <a:ea typeface="urbanist"/>
                <a:cs typeface="urbanist"/>
              </a:rPr>
              <a:t>21.0% and 22.4% match neither</a:t>
            </a:r>
            <a:endParaRPr lang="en-US" dirty="0"/>
          </a:p>
        </p:txBody>
      </p:sp>
      <p:sp>
        <p:nvSpPr>
          <p:cNvPr id="22" name="Status 22"/>
          <p:cNvSpPr/>
          <p:nvPr/>
        </p:nvSpPr>
        <p:spPr>
          <a:xfrm>
            <a:off x="3108960" y="534924"/>
            <a:ext cx="1920240" cy="310896"/>
          </a:xfrm>
          <a:prstGeom prst="roundRect">
            <a:avLst>
              <a:gd name="adj" fmla="val 50000"/>
            </a:avLst>
          </a:prstGeom>
          <a:solidFill>
            <a:srgbClr val="C47F00"/>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Outdated / Wrong</a:t>
            </a:r>
          </a:p>
        </p:txBody>
      </p:sp>
      <p:sp>
        <p:nvSpPr>
          <p:cNvPr id="30" name="Report Header"/>
          <p:cNvSpPr/>
          <p:nvPr/>
        </p:nvSpPr>
        <p:spPr>
          <a:xfrm>
            <a:off x="685800"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p.4</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U.S. Census Bureau projections</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Fix: </a:t>
            </a:r>
            <a:r>
              <a:rPr lang="en-US" sz="1300" dirty="0">
                <a:solidFill>
                  <a:srgbClr val="FFFFFF"/>
                </a:solidFill>
                <a:latin typeface="Nunito Light"/>
                <a:ea typeface="Nunito Light"/>
                <a:cs typeface="Nunito Light"/>
              </a:rPr>
              <a:t>Redraw Fig 1 with the 2023 series (71.2M / 78.3M / 82.1M; 20.6% / 22.0% / 22.8%), say ≈71M by 2030 to match p.3, change "cross 21% before this decade ends" to "exceed 20% by 2030", and add a Census citation.</a:t>
            </a:r>
            <a:endParaRPr lang="en-US" dirty="0"/>
          </a:p>
        </p:txBody>
      </p:sp>
      <p:sp>
        <p:nvSpPr>
          <p:cNvPr id="600" name="Crop Label 600"/>
          <p:cNvSpPr txBox="1"/>
          <p:nvPr/>
        </p:nvSpPr>
        <p:spPr>
          <a:xfrm>
            <a:off x="822960" y="217627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p.4 Fig 1: 73.1 / 80.8 / 85.7M and 21.0% / 22.4% / 22.8%</a:t>
            </a:r>
          </a:p>
        </p:txBody>
      </p:sp>
      <p:pic>
        <p:nvPicPr>
          <p:cNvPr id="601" name="Crop g7x-s20-r1"/>
          <p:cNvPicPr>
            <a:picLocks noChangeAspect="1"/>
          </p:cNvPicPr>
          <p:nvPr/>
        </p:nvPicPr>
        <p:blipFill>
          <a:blip r:embed="rId700"/>
          <a:stretch>
            <a:fillRect/>
          </a:stretch>
        </p:blipFill>
        <p:spPr>
          <a:xfrm>
            <a:off x="822960" y="2395728"/>
            <a:ext cx="3657600" cy="2005181"/>
          </a:xfrm>
          <a:prstGeom prst="rect">
            <a:avLst/>
          </a:prstGeom>
          <a:ln w="6350">
            <a:solidFill>
              <a:srgbClr val="D9D9D9"/>
            </a:solidFill>
          </a:ln>
        </p:spPr>
      </p:pic>
      <p:sp>
        <p:nvSpPr>
          <p:cNvPr id="602" name="Crop Label 602"/>
          <p:cNvSpPr txBox="1"/>
          <p:nvPr/>
        </p:nvSpPr>
        <p:spPr>
          <a:xfrm>
            <a:off x="822960" y="4492349"/>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p.4 text: "exceed 73 million" (p.3 says "nearly 71 million")</a:t>
            </a:r>
          </a:p>
        </p:txBody>
      </p:sp>
      <p:pic>
        <p:nvPicPr>
          <p:cNvPr id="603" name="Crop g7x-s20-r2"/>
          <p:cNvPicPr>
            <a:picLocks noChangeAspect="1"/>
          </p:cNvPicPr>
          <p:nvPr/>
        </p:nvPicPr>
        <p:blipFill>
          <a:blip r:embed="rId701"/>
          <a:stretch>
            <a:fillRect/>
          </a:stretch>
        </p:blipFill>
        <p:spPr>
          <a:xfrm>
            <a:off x="822960" y="4711805"/>
            <a:ext cx="5029200" cy="417102"/>
          </a:xfrm>
          <a:prstGeom prst="rect">
            <a:avLst/>
          </a:prstGeom>
          <a:ln w="6350">
            <a:solidFill>
              <a:srgbClr val="D9D9D9"/>
            </a:solidFill>
          </a:ln>
        </p:spPr>
      </p:pic>
      <p:sp>
        <p:nvSpPr>
          <p:cNvPr id="604" name="Crop Label 604"/>
          <p:cNvSpPr txBox="1"/>
          <p:nvPr/>
        </p:nvSpPr>
        <p:spPr>
          <a:xfrm>
            <a:off x="6336792" y="276784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Census 2017 vs 2023 projections, Table 2 (65+, millions and share)</a:t>
            </a:r>
          </a:p>
        </p:txBody>
      </p:sp>
      <p:pic>
        <p:nvPicPr>
          <p:cNvPr id="605" name="Crop g7x-s20-s1"/>
          <p:cNvPicPr>
            <a:picLocks noChangeAspect="1"/>
          </p:cNvPicPr>
          <p:nvPr/>
        </p:nvPicPr>
        <p:blipFill>
          <a:blip r:embed="rId702"/>
          <a:stretch>
            <a:fillRect/>
          </a:stretch>
        </p:blipFill>
        <p:spPr>
          <a:xfrm>
            <a:off x="6336792" y="2987300"/>
            <a:ext cx="5029200" cy="745066"/>
          </a:xfrm>
          <a:prstGeom prst="rect">
            <a:avLst/>
          </a:prstGeom>
          <a:ln w="6350">
            <a:solidFill>
              <a:srgbClr val="D9D9D9"/>
            </a:solidFill>
          </a:ln>
        </p:spPr>
      </p:pic>
      <p:sp>
        <p:nvSpPr>
          <p:cNvPr id="606" name="Crop Label 606"/>
          <p:cNvSpPr txBox="1"/>
          <p:nvPr/>
        </p:nvSpPr>
        <p:spPr>
          <a:xfrm>
            <a:off x="6336792" y="3823807"/>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What it shows</a:t>
            </a:r>
          </a:p>
        </p:txBody>
      </p:sp>
      <p:pic>
        <p:nvPicPr>
          <p:cNvPr id="607" name="Crop g7x-s20-s2"/>
          <p:cNvPicPr>
            <a:picLocks noChangeAspect="1"/>
          </p:cNvPicPr>
          <p:nvPr/>
        </p:nvPicPr>
        <p:blipFill>
          <a:blip r:embed="rId703"/>
          <a:stretch>
            <a:fillRect/>
          </a:stretch>
        </p:blipFill>
        <p:spPr>
          <a:xfrm>
            <a:off x="6336792" y="4043263"/>
            <a:ext cx="5029200" cy="412652"/>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U.S. Census Bureau 2023 and 2017 National Population Projections, Table 2 (np2023-t2.xlsx, np2017-t2.xlsx), www2.census.gov; shares = 65+ ÷ total</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Refs 4-6: </a:t>
            </a:r>
            <a:r>
              <a:rPr lang="en-US" sz="2800" dirty="0">
                <a:solidFill>
                  <a:srgbClr val="09254A"/>
                </a:solidFill>
                <a:latin typeface="urbanist"/>
                <a:ea typeface="urbanist"/>
                <a:cs typeface="urbanist"/>
              </a:rPr>
              <a:t>frailty and dementia, </a:t>
            </a:r>
            <a:r>
              <a:rPr lang="en-US" sz="2800" dirty="0">
                <a:solidFill>
                  <a:srgbClr val="6DCFF6"/>
                </a:solidFill>
                <a:latin typeface="urbanist"/>
                <a:ea typeface="urbanist"/>
                <a:cs typeface="urbanist"/>
              </a:rPr>
              <a:t>not polypharmacy</a:t>
            </a:r>
            <a:endParaRPr lang="en-US" dirty="0"/>
          </a:p>
        </p:txBody>
      </p:sp>
      <p:sp>
        <p:nvSpPr>
          <p:cNvPr id="22" name="Status 22"/>
          <p:cNvSpPr/>
          <p:nvPr/>
        </p:nvSpPr>
        <p:spPr>
          <a:xfrm>
            <a:off x="3108960" y="534924"/>
            <a:ext cx="1463040" cy="310896"/>
          </a:xfrm>
          <a:prstGeom prst="roundRect">
            <a:avLst>
              <a:gd name="adj" fmla="val 50000"/>
            </a:avLst>
          </a:prstGeom>
          <a:solidFill>
            <a:srgbClr val="C47F00"/>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Unsupported</a:t>
            </a:r>
          </a:p>
        </p:txBody>
      </p:sp>
      <p:sp>
        <p:nvSpPr>
          <p:cNvPr id="30" name="Report Header"/>
          <p:cNvSpPr/>
          <p:nvPr/>
        </p:nvSpPr>
        <p:spPr>
          <a:xfrm>
            <a:off x="685800"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p.3, p.11</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Deiner 2014 · Gill 2022 · Tang 2020</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Fix: </a:t>
            </a:r>
            <a:r>
              <a:rPr lang="en-US" sz="1300" dirty="0">
                <a:solidFill>
                  <a:srgbClr val="FFFFFF"/>
                </a:solidFill>
                <a:latin typeface="Nunito Light"/>
                <a:ea typeface="Nunito Light"/>
                <a:cs typeface="Nunito Light"/>
              </a:rPr>
              <a:t>"Frailty, dementia and polypharmacy are common and sharply raise surgical risk"; add Hewitt 2016 for polypharmacy (67.9%); drop "social vulnerability" or source it; update Gill to JAMA Surg. 2022;157(12):e225155.</a:t>
            </a:r>
            <a:endParaRPr lang="en-US" dirty="0"/>
          </a:p>
        </p:txBody>
      </p:sp>
      <p:sp>
        <p:nvSpPr>
          <p:cNvPr id="600" name="Crop Label 600"/>
          <p:cNvSpPr txBox="1"/>
          <p:nvPr/>
        </p:nvSpPr>
        <p:spPr>
          <a:xfrm>
            <a:off x="822960" y="217627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p.3: the sentence refs 4-6 were added to</a:t>
            </a:r>
          </a:p>
        </p:txBody>
      </p:sp>
      <p:pic>
        <p:nvPicPr>
          <p:cNvPr id="601" name="Crop g7x-s21-r1"/>
          <p:cNvPicPr>
            <a:picLocks noChangeAspect="1"/>
          </p:cNvPicPr>
          <p:nvPr/>
        </p:nvPicPr>
        <p:blipFill>
          <a:blip r:embed="rId700"/>
          <a:stretch>
            <a:fillRect/>
          </a:stretch>
        </p:blipFill>
        <p:spPr>
          <a:xfrm>
            <a:off x="822960" y="2395728"/>
            <a:ext cx="4206240" cy="678020"/>
          </a:xfrm>
          <a:prstGeom prst="rect">
            <a:avLst/>
          </a:prstGeom>
          <a:ln w="6350">
            <a:solidFill>
              <a:srgbClr val="D9D9D9"/>
            </a:solidFill>
          </a:ln>
        </p:spPr>
      </p:pic>
      <p:sp>
        <p:nvSpPr>
          <p:cNvPr id="602" name="Crop Label 602"/>
          <p:cNvSpPr txBox="1"/>
          <p:nvPr/>
        </p:nvSpPr>
        <p:spPr>
          <a:xfrm>
            <a:off x="822960" y="3165188"/>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p.11: refs 4-6, added by Christina on Jun 29</a:t>
            </a:r>
          </a:p>
        </p:txBody>
      </p:sp>
      <p:pic>
        <p:nvPicPr>
          <p:cNvPr id="603" name="Crop g7x-s21-r2"/>
          <p:cNvPicPr>
            <a:picLocks noChangeAspect="1"/>
          </p:cNvPicPr>
          <p:nvPr/>
        </p:nvPicPr>
        <p:blipFill>
          <a:blip r:embed="rId701"/>
          <a:stretch>
            <a:fillRect/>
          </a:stretch>
        </p:blipFill>
        <p:spPr>
          <a:xfrm>
            <a:off x="822960" y="3384644"/>
            <a:ext cx="3200400" cy="1776453"/>
          </a:xfrm>
          <a:prstGeom prst="rect">
            <a:avLst/>
          </a:prstGeom>
          <a:ln w="6350">
            <a:solidFill>
              <a:srgbClr val="D9D9D9"/>
            </a:solidFill>
          </a:ln>
        </p:spPr>
      </p:pic>
      <p:sp>
        <p:nvSpPr>
          <p:cNvPr id="604" name="Crop Label 604"/>
          <p:cNvSpPr txBox="1"/>
          <p:nvPr/>
        </p:nvSpPr>
        <p:spPr>
          <a:xfrm>
            <a:off x="6336792" y="2330531"/>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Term counts in each paper's full text</a:t>
            </a:r>
          </a:p>
        </p:txBody>
      </p:sp>
      <p:pic>
        <p:nvPicPr>
          <p:cNvPr id="605" name="Crop g7x-s21-s1"/>
          <p:cNvPicPr>
            <a:picLocks noChangeAspect="1"/>
          </p:cNvPicPr>
          <p:nvPr/>
        </p:nvPicPr>
        <p:blipFill>
          <a:blip r:embed="rId702"/>
          <a:stretch>
            <a:fillRect/>
          </a:stretch>
        </p:blipFill>
        <p:spPr>
          <a:xfrm>
            <a:off x="6336792" y="2549987"/>
            <a:ext cx="4389120" cy="912024"/>
          </a:xfrm>
          <a:prstGeom prst="rect">
            <a:avLst/>
          </a:prstGeom>
          <a:ln w="6350">
            <a:solidFill>
              <a:srgbClr val="D9D9D9"/>
            </a:solidFill>
          </a:ln>
        </p:spPr>
      </p:pic>
      <p:sp>
        <p:nvSpPr>
          <p:cNvPr id="606" name="Crop Label 606"/>
          <p:cNvSpPr txBox="1"/>
          <p:nvPr/>
        </p:nvSpPr>
        <p:spPr>
          <a:xfrm>
            <a:off x="6336792" y="355345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Gill 2022, Key Points: frailty and dementia, 1-year mortality</a:t>
            </a:r>
          </a:p>
        </p:txBody>
      </p:sp>
      <p:pic>
        <p:nvPicPr>
          <p:cNvPr id="607" name="Crop g7x-s21-s2"/>
          <p:cNvPicPr>
            <a:picLocks noChangeAspect="1"/>
          </p:cNvPicPr>
          <p:nvPr/>
        </p:nvPicPr>
        <p:blipFill>
          <a:blip r:embed="rId703"/>
          <a:stretch>
            <a:fillRect/>
          </a:stretch>
        </p:blipFill>
        <p:spPr>
          <a:xfrm>
            <a:off x="6336792" y="3772908"/>
            <a:ext cx="4572000" cy="508000"/>
          </a:xfrm>
          <a:prstGeom prst="rect">
            <a:avLst/>
          </a:prstGeom>
          <a:ln w="6350">
            <a:solidFill>
              <a:srgbClr val="D9D9D9"/>
            </a:solidFill>
          </a:ln>
        </p:spPr>
      </p:pic>
      <p:sp>
        <p:nvSpPr>
          <p:cNvPr id="608" name="Crop Label 608"/>
          <p:cNvSpPr txBox="1"/>
          <p:nvPr/>
        </p:nvSpPr>
        <p:spPr>
          <a:xfrm>
            <a:off x="6336792" y="4392249"/>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Tang 2020, Results: dementia</a:t>
            </a:r>
          </a:p>
        </p:txBody>
      </p:sp>
      <p:pic>
        <p:nvPicPr>
          <p:cNvPr id="609" name="Crop g7x-s21-s3"/>
          <p:cNvPicPr>
            <a:picLocks noChangeAspect="1"/>
          </p:cNvPicPr>
          <p:nvPr/>
        </p:nvPicPr>
        <p:blipFill>
          <a:blip r:embed="rId704"/>
          <a:stretch>
            <a:fillRect/>
          </a:stretch>
        </p:blipFill>
        <p:spPr>
          <a:xfrm>
            <a:off x="6336792" y="4611705"/>
            <a:ext cx="2651760" cy="281522"/>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Deiner 2014 PMC4024102; Gill 2022 https://pmc.ncbi.nlm.nih.gov/articles/PMC9582971/ ; Tang 2020 https://pmc.ncbi.nlm.nih.gov/articles/PMC7066523/ ; Slack Jun 29, 3:41 PM PT, Christina: "lets cite this to be safe...." (not reviewed)</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Yes</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19.4%: </a:t>
            </a:r>
            <a:r>
              <a:rPr lang="en-US" sz="2800" dirty="0">
                <a:solidFill>
                  <a:srgbClr val="09254A"/>
                </a:solidFill>
                <a:latin typeface="urbanist"/>
                <a:ea typeface="urbanist"/>
                <a:cs typeface="urbanist"/>
              </a:rPr>
              <a:t>right number, </a:t>
            </a:r>
            <a:r>
              <a:rPr lang="en-US" sz="2800" dirty="0">
                <a:solidFill>
                  <a:srgbClr val="6DCFF6"/>
                </a:solidFill>
                <a:latin typeface="urbanist"/>
                <a:ea typeface="urbanist"/>
                <a:cs typeface="urbanist"/>
              </a:rPr>
              <a:t>but the ref was cut</a:t>
            </a:r>
            <a:endParaRPr lang="en-US" dirty="0"/>
          </a:p>
        </p:txBody>
      </p:sp>
      <p:sp>
        <p:nvSpPr>
          <p:cNvPr id="22" name="Status 22"/>
          <p:cNvSpPr/>
          <p:nvPr/>
        </p:nvSpPr>
        <p:spPr>
          <a:xfrm>
            <a:off x="3108960" y="534924"/>
            <a:ext cx="1920240" cy="310896"/>
          </a:xfrm>
          <a:prstGeom prst="roundRect">
            <a:avLst>
              <a:gd name="adj" fmla="val 50000"/>
            </a:avLst>
          </a:prstGeom>
          <a:solidFill>
            <a:srgbClr val="2E8B57"/>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Verified, uncited</a:t>
            </a:r>
          </a:p>
        </p:txBody>
      </p:sp>
      <p:sp>
        <p:nvSpPr>
          <p:cNvPr id="30" name="Report Header"/>
          <p:cNvSpPr/>
          <p:nvPr/>
        </p:nvSpPr>
        <p:spPr>
          <a:xfrm>
            <a:off x="685800"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p.3, p.5</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Kyle's memo + Bicket 2024</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Fix: </a:t>
            </a:r>
            <a:r>
              <a:rPr lang="en-US" sz="1300" dirty="0">
                <a:solidFill>
                  <a:srgbClr val="FFFFFF"/>
                </a:solidFill>
                <a:latin typeface="Nunito Light"/>
                <a:ea typeface="Nunito Light"/>
                <a:cs typeface="Nunito Light"/>
              </a:rPr>
              <a:t>Add a numbered ref for the p.3 stat box and p.5: Bicket MC, et al. Prevalence of Surgery Among Individuals in the United States. Ann Surg Open. 2024;5(2):e421 (2018 NHIS). Kyle flagged the ref Jun 26; it was deleted instead of corrected.</a:t>
            </a:r>
            <a:endParaRPr lang="en-US" dirty="0"/>
          </a:p>
        </p:txBody>
      </p:sp>
      <p:sp>
        <p:nvSpPr>
          <p:cNvPr id="600" name="Crop Label 600"/>
          <p:cNvSpPr txBox="1"/>
          <p:nvPr/>
        </p:nvSpPr>
        <p:spPr>
          <a:xfrm>
            <a:off x="822960" y="2240280"/>
            <a:ext cx="146304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p.3 stat box (no ref)</a:t>
            </a:r>
          </a:p>
        </p:txBody>
      </p:sp>
      <p:pic>
        <p:nvPicPr>
          <p:cNvPr id="601" name="Crop g8x-s22-r1"/>
          <p:cNvPicPr>
            <a:picLocks noChangeAspect="1"/>
          </p:cNvPicPr>
          <p:nvPr/>
        </p:nvPicPr>
        <p:blipFill>
          <a:blip r:embed="rId700"/>
          <a:stretch>
            <a:fillRect/>
          </a:stretch>
        </p:blipFill>
        <p:spPr>
          <a:xfrm>
            <a:off x="822960" y="2459736"/>
            <a:ext cx="1371600" cy="893499"/>
          </a:xfrm>
          <a:prstGeom prst="rect">
            <a:avLst/>
          </a:prstGeom>
          <a:ln w="6350">
            <a:solidFill>
              <a:srgbClr val="D9D9D9"/>
            </a:solidFill>
          </a:ln>
        </p:spPr>
      </p:pic>
      <p:sp>
        <p:nvSpPr>
          <p:cNvPr id="602" name="Crop Label 602"/>
          <p:cNvSpPr txBox="1"/>
          <p:nvPr/>
        </p:nvSpPr>
        <p:spPr>
          <a:xfrm>
            <a:off x="822960" y="3429000"/>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p.5: "highest annual prevalence", named only in the Fig 2 source line</a:t>
            </a:r>
          </a:p>
        </p:txBody>
      </p:sp>
      <p:pic>
        <p:nvPicPr>
          <p:cNvPr id="603" name="Crop g8x-s22-r2"/>
          <p:cNvPicPr>
            <a:picLocks noChangeAspect="1"/>
          </p:cNvPicPr>
          <p:nvPr/>
        </p:nvPicPr>
        <p:blipFill>
          <a:blip r:embed="rId701"/>
          <a:stretch>
            <a:fillRect/>
          </a:stretch>
        </p:blipFill>
        <p:spPr>
          <a:xfrm>
            <a:off x="822960" y="3648456"/>
            <a:ext cx="4023360" cy="1201885"/>
          </a:xfrm>
          <a:prstGeom prst="rect">
            <a:avLst/>
          </a:prstGeom>
          <a:ln w="6350">
            <a:solidFill>
              <a:srgbClr val="D9D9D9"/>
            </a:solidFill>
          </a:ln>
        </p:spPr>
      </p:pic>
      <p:sp>
        <p:nvSpPr>
          <p:cNvPr id="604" name="Crop Label 604"/>
          <p:cNvSpPr txBox="1"/>
          <p:nvPr/>
        </p:nvSpPr>
        <p:spPr>
          <a:xfrm>
            <a:off x="2331720" y="2240280"/>
            <a:ext cx="338328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Draft 02 ref 3 (Jun 26), deleted Jun 29</a:t>
            </a:r>
          </a:p>
        </p:txBody>
      </p:sp>
      <p:pic>
        <p:nvPicPr>
          <p:cNvPr id="605" name="Crop g8x-s22-r3"/>
          <p:cNvPicPr>
            <a:picLocks noChangeAspect="1"/>
          </p:cNvPicPr>
          <p:nvPr/>
        </p:nvPicPr>
        <p:blipFill>
          <a:blip r:embed="rId702"/>
          <a:stretch>
            <a:fillRect/>
          </a:stretch>
        </p:blipFill>
        <p:spPr>
          <a:xfrm>
            <a:off x="2331720" y="2459736"/>
            <a:ext cx="3383280" cy="494539"/>
          </a:xfrm>
          <a:prstGeom prst="rect">
            <a:avLst/>
          </a:prstGeom>
          <a:ln w="6350">
            <a:solidFill>
              <a:srgbClr val="D9D9D9"/>
            </a:solidFill>
          </a:ln>
        </p:spPr>
      </p:pic>
      <p:sp>
        <p:nvSpPr>
          <p:cNvPr id="606" name="Crop Label 606"/>
          <p:cNvSpPr txBox="1"/>
          <p:nvPr/>
        </p:nvSpPr>
        <p:spPr>
          <a:xfrm>
            <a:off x="6336792" y="2629888"/>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Kyle's Jun 26 memo, ref 3 (Bandeen-Roche) row: "Corrupted"</a:t>
            </a:r>
          </a:p>
        </p:txBody>
      </p:sp>
      <p:pic>
        <p:nvPicPr>
          <p:cNvPr id="607" name="Crop g8x-s22-s1"/>
          <p:cNvPicPr>
            <a:picLocks noChangeAspect="1"/>
          </p:cNvPicPr>
          <p:nvPr/>
        </p:nvPicPr>
        <p:blipFill>
          <a:blip r:embed="rId703"/>
          <a:stretch>
            <a:fillRect/>
          </a:stretch>
        </p:blipFill>
        <p:spPr>
          <a:xfrm>
            <a:off x="6336792" y="2849344"/>
            <a:ext cx="4206240" cy="603100"/>
          </a:xfrm>
          <a:prstGeom prst="rect">
            <a:avLst/>
          </a:prstGeom>
          <a:ln w="6350">
            <a:solidFill>
              <a:srgbClr val="D9D9D9"/>
            </a:solidFill>
          </a:ln>
        </p:spPr>
      </p:pic>
      <p:sp>
        <p:nvSpPr>
          <p:cNvPr id="608" name="Crop Label 608"/>
          <p:cNvSpPr txBox="1"/>
          <p:nvPr/>
        </p:nvSpPr>
        <p:spPr>
          <a:xfrm>
            <a:off x="6336792" y="3543885"/>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Bicket et al., Ann Surg Open 2024;5(2):e421, Results</a:t>
            </a:r>
          </a:p>
        </p:txBody>
      </p:sp>
      <p:pic>
        <p:nvPicPr>
          <p:cNvPr id="609" name="Crop g8x-s22-s2"/>
          <p:cNvPicPr>
            <a:picLocks noChangeAspect="1"/>
          </p:cNvPicPr>
          <p:nvPr/>
        </p:nvPicPr>
        <p:blipFill>
          <a:blip r:embed="rId704"/>
          <a:stretch>
            <a:fillRect/>
          </a:stretch>
        </p:blipFill>
        <p:spPr>
          <a:xfrm>
            <a:off x="6336792" y="3763341"/>
            <a:ext cx="3566160" cy="274981"/>
          </a:xfrm>
          <a:prstGeom prst="rect">
            <a:avLst/>
          </a:prstGeom>
          <a:ln w="6350">
            <a:solidFill>
              <a:srgbClr val="D9D9D9"/>
            </a:solidFill>
          </a:ln>
        </p:spPr>
      </p:pic>
      <p:sp>
        <p:nvSpPr>
          <p:cNvPr id="610" name="Crop Label 610"/>
          <p:cNvSpPr txBox="1"/>
          <p:nvPr/>
        </p:nvSpPr>
        <p:spPr>
          <a:xfrm>
            <a:off x="6336792" y="412976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Bicket 2024, Discussion: "The highest prevalence was identified among …"</a:t>
            </a:r>
          </a:p>
        </p:txBody>
      </p:sp>
      <p:pic>
        <p:nvPicPr>
          <p:cNvPr id="611" name="Crop g8x-s22-s3"/>
          <p:cNvPicPr>
            <a:picLocks noChangeAspect="1"/>
          </p:cNvPicPr>
          <p:nvPr/>
        </p:nvPicPr>
        <p:blipFill>
          <a:blip r:embed="rId705"/>
          <a:stretch>
            <a:fillRect/>
          </a:stretch>
        </p:blipFill>
        <p:spPr>
          <a:xfrm>
            <a:off x="6336792" y="4349218"/>
            <a:ext cx="3931920" cy="244652"/>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Bicket MC et al. Ann Surg Open 2024, https://pmc.ncbi.nlm.nih.gov/articles/PMC11191855/ ; Kyle's memo (Slack F0BDU327GEP); draft 02 (Jun 26) vs published reference list</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"Platform results": </a:t>
            </a:r>
            <a:r>
              <a:rPr lang="en-US" sz="2800" dirty="0">
                <a:solidFill>
                  <a:srgbClr val="09254A"/>
                </a:solidFill>
                <a:latin typeface="urbanist"/>
                <a:ea typeface="urbanist"/>
                <a:cs typeface="urbanist"/>
              </a:rPr>
              <a:t>Rainfall's own claims, </a:t>
            </a:r>
            <a:r>
              <a:rPr lang="en-US" sz="2800" dirty="0">
                <a:solidFill>
                  <a:srgbClr val="6DCFF6"/>
                </a:solidFill>
                <a:latin typeface="urbanist"/>
                <a:ea typeface="urbanist"/>
                <a:cs typeface="urbanist"/>
              </a:rPr>
              <a:t>no data</a:t>
            </a:r>
            <a:endParaRPr lang="en-US" dirty="0"/>
          </a:p>
        </p:txBody>
      </p:sp>
      <p:sp>
        <p:nvSpPr>
          <p:cNvPr id="22" name="Status 22"/>
          <p:cNvSpPr/>
          <p:nvPr/>
        </p:nvSpPr>
        <p:spPr>
          <a:xfrm>
            <a:off x="3108960" y="534924"/>
            <a:ext cx="2468880" cy="310896"/>
          </a:xfrm>
          <a:prstGeom prst="roundRect">
            <a:avLst>
              <a:gd name="adj" fmla="val 50000"/>
            </a:avLst>
          </a:prstGeom>
          <a:solidFill>
            <a:srgbClr val="C47F00"/>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Unverifiable / Unsupported</a:t>
            </a:r>
          </a:p>
        </p:txBody>
      </p:sp>
      <p:sp>
        <p:nvSpPr>
          <p:cNvPr id="30" name="Report Header"/>
          <p:cNvSpPr/>
          <p:nvPr/>
        </p:nvSpPr>
        <p:spPr>
          <a:xfrm>
            <a:off x="685800"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p.10, p.2</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MedCity + Rainfall press releases</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Fix: </a:t>
            </a:r>
            <a:r>
              <a:rPr lang="en-US" sz="1300" dirty="0">
                <a:solidFill>
                  <a:srgbClr val="FFFFFF"/>
                </a:solidFill>
                <a:latin typeface="Nunito Light"/>
                <a:ea typeface="Nunito Light"/>
                <a:cs typeface="Nunito Light"/>
              </a:rPr>
              <a:t>Label $85M as a Rainfall projection with a method, or drop it; say "TEAM reconciliation can reach ±20% of target price"; drop "70–80% Readmission ID rate" and "documented gains" (no source found); retitle "Rainfall Health platform".</a:t>
            </a:r>
            <a:endParaRPr lang="en-US" dirty="0"/>
          </a:p>
        </p:txBody>
      </p:sp>
      <p:sp>
        <p:nvSpPr>
          <p:cNvPr id="600" name="Crop Label 600"/>
          <p:cNvSpPr txBox="1"/>
          <p:nvPr/>
        </p:nvSpPr>
        <p:spPr>
          <a:xfrm>
            <a:off x="822960" y="217627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p.10 headline and body</a:t>
            </a:r>
          </a:p>
        </p:txBody>
      </p:sp>
      <p:pic>
        <p:nvPicPr>
          <p:cNvPr id="601" name="Crop g8x-s23-r1"/>
          <p:cNvPicPr>
            <a:picLocks noChangeAspect="1"/>
          </p:cNvPicPr>
          <p:nvPr/>
        </p:nvPicPr>
        <p:blipFill>
          <a:blip r:embed="rId700"/>
          <a:stretch>
            <a:fillRect/>
          </a:stretch>
        </p:blipFill>
        <p:spPr>
          <a:xfrm>
            <a:off x="822960" y="2395728"/>
            <a:ext cx="5029200" cy="1083212"/>
          </a:xfrm>
          <a:prstGeom prst="rect">
            <a:avLst/>
          </a:prstGeom>
          <a:ln w="6350">
            <a:solidFill>
              <a:srgbClr val="D9D9D9"/>
            </a:solidFill>
          </a:ln>
        </p:spPr>
      </p:pic>
      <p:sp>
        <p:nvSpPr>
          <p:cNvPr id="602" name="Crop Label 602"/>
          <p:cNvSpPr txBox="1"/>
          <p:nvPr/>
        </p:nvSpPr>
        <p:spPr>
          <a:xfrm>
            <a:off x="822960" y="3570380"/>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p.10 stat boxes</a:t>
            </a:r>
          </a:p>
        </p:txBody>
      </p:sp>
      <p:pic>
        <p:nvPicPr>
          <p:cNvPr id="603" name="Crop g8x-s23-r2"/>
          <p:cNvPicPr>
            <a:picLocks noChangeAspect="1"/>
          </p:cNvPicPr>
          <p:nvPr/>
        </p:nvPicPr>
        <p:blipFill>
          <a:blip r:embed="rId701"/>
          <a:stretch>
            <a:fillRect/>
          </a:stretch>
        </p:blipFill>
        <p:spPr>
          <a:xfrm>
            <a:off x="822960" y="3789836"/>
            <a:ext cx="3566160" cy="742492"/>
          </a:xfrm>
          <a:prstGeom prst="rect">
            <a:avLst/>
          </a:prstGeom>
          <a:ln w="6350">
            <a:solidFill>
              <a:srgbClr val="D9D9D9"/>
            </a:solidFill>
          </a:ln>
        </p:spPr>
      </p:pic>
      <p:sp>
        <p:nvSpPr>
          <p:cNvPr id="604" name="Crop Label 604"/>
          <p:cNvSpPr txBox="1"/>
          <p:nvPr/>
        </p:nvSpPr>
        <p:spPr>
          <a:xfrm>
            <a:off x="822960" y="4623769"/>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p.2 contents, item 8</a:t>
            </a:r>
          </a:p>
        </p:txBody>
      </p:sp>
      <p:pic>
        <p:nvPicPr>
          <p:cNvPr id="605" name="Crop g8x-s23-r3"/>
          <p:cNvPicPr>
            <a:picLocks noChangeAspect="1"/>
          </p:cNvPicPr>
          <p:nvPr/>
        </p:nvPicPr>
        <p:blipFill>
          <a:blip r:embed="rId702"/>
          <a:stretch>
            <a:fillRect/>
          </a:stretch>
        </p:blipFill>
        <p:spPr>
          <a:xfrm>
            <a:off x="822960" y="4843225"/>
            <a:ext cx="2651760" cy="373210"/>
          </a:xfrm>
          <a:prstGeom prst="rect">
            <a:avLst/>
          </a:prstGeom>
          <a:ln w="6350">
            <a:solidFill>
              <a:srgbClr val="D9D9D9"/>
            </a:solidFill>
          </a:ln>
        </p:spPr>
      </p:pic>
      <p:sp>
        <p:nvSpPr>
          <p:cNvPr id="606" name="Crop Label 606"/>
          <p:cNvSpPr txBox="1"/>
          <p:nvPr/>
        </p:nvSpPr>
        <p:spPr>
          <a:xfrm>
            <a:off x="6336792" y="2389925"/>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MedCity, Feb 20, 2026 (ref 15): $85M is the CEO's own claim</a:t>
            </a:r>
          </a:p>
        </p:txBody>
      </p:sp>
      <p:pic>
        <p:nvPicPr>
          <p:cNvPr id="607" name="Crop g8x-s23-s1"/>
          <p:cNvPicPr>
            <a:picLocks noChangeAspect="1"/>
          </p:cNvPicPr>
          <p:nvPr/>
        </p:nvPicPr>
        <p:blipFill>
          <a:blip r:embed="rId703"/>
          <a:stretch>
            <a:fillRect/>
          </a:stretch>
        </p:blipFill>
        <p:spPr>
          <a:xfrm>
            <a:off x="6336792" y="2609381"/>
            <a:ext cx="5029200" cy="285924"/>
          </a:xfrm>
          <a:prstGeom prst="rect">
            <a:avLst/>
          </a:prstGeom>
          <a:ln w="6350">
            <a:solidFill>
              <a:srgbClr val="D9D9D9"/>
            </a:solidFill>
          </a:ln>
        </p:spPr>
      </p:pic>
      <p:sp>
        <p:nvSpPr>
          <p:cNvPr id="608" name="Crop Label 608"/>
          <p:cNvSpPr txBox="1"/>
          <p:nvPr/>
        </p:nvSpPr>
        <p:spPr>
          <a:xfrm>
            <a:off x="6336792" y="2986746"/>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MedCity: "up to 20%" misreads TEAM's 20% stop-gain</a:t>
            </a:r>
          </a:p>
        </p:txBody>
      </p:sp>
      <p:pic>
        <p:nvPicPr>
          <p:cNvPr id="609" name="Crop g8x-s23-s2"/>
          <p:cNvPicPr>
            <a:picLocks noChangeAspect="1"/>
          </p:cNvPicPr>
          <p:nvPr/>
        </p:nvPicPr>
        <p:blipFill>
          <a:blip r:embed="rId704"/>
          <a:stretch>
            <a:fillRect/>
          </a:stretch>
        </p:blipFill>
        <p:spPr>
          <a:xfrm>
            <a:off x="6336792" y="3206202"/>
            <a:ext cx="5029200" cy="204231"/>
          </a:xfrm>
          <a:prstGeom prst="rect">
            <a:avLst/>
          </a:prstGeom>
          <a:ln w="6350">
            <a:solidFill>
              <a:srgbClr val="D9D9D9"/>
            </a:solidFill>
          </a:ln>
        </p:spPr>
      </p:pic>
      <p:sp>
        <p:nvSpPr>
          <p:cNvPr id="610" name="Crop Label 610"/>
          <p:cNvSpPr txBox="1"/>
          <p:nvPr/>
        </p:nvSpPr>
        <p:spPr>
          <a:xfrm>
            <a:off x="6336792" y="3501873"/>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Rainfall PR, Feb 18, 2026: "more than $100 million" per system</a:t>
            </a:r>
          </a:p>
        </p:txBody>
      </p:sp>
      <p:pic>
        <p:nvPicPr>
          <p:cNvPr id="611" name="Crop g8x-s23-s3"/>
          <p:cNvPicPr>
            <a:picLocks noChangeAspect="1"/>
          </p:cNvPicPr>
          <p:nvPr/>
        </p:nvPicPr>
        <p:blipFill>
          <a:blip r:embed="rId705"/>
          <a:stretch>
            <a:fillRect/>
          </a:stretch>
        </p:blipFill>
        <p:spPr>
          <a:xfrm>
            <a:off x="6336792" y="3721329"/>
            <a:ext cx="5029200" cy="418674"/>
          </a:xfrm>
          <a:prstGeom prst="rect">
            <a:avLst/>
          </a:prstGeom>
          <a:ln w="6350">
            <a:solidFill>
              <a:srgbClr val="D9D9D9"/>
            </a:solidFill>
          </a:ln>
        </p:spPr>
      </p:pic>
      <p:sp>
        <p:nvSpPr>
          <p:cNvPr id="612" name="Crop Label 612"/>
          <p:cNvSpPr txBox="1"/>
          <p:nvPr/>
        </p:nvSpPr>
        <p:spPr>
          <a:xfrm>
            <a:off x="6336792" y="423144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Rainfall PR, Jul 27, 2026: "up to $85M"</a:t>
            </a:r>
          </a:p>
        </p:txBody>
      </p:sp>
      <p:pic>
        <p:nvPicPr>
          <p:cNvPr id="613" name="Crop g8x-s23-s4"/>
          <p:cNvPicPr>
            <a:picLocks noChangeAspect="1"/>
          </p:cNvPicPr>
          <p:nvPr/>
        </p:nvPicPr>
        <p:blipFill>
          <a:blip r:embed="rId706"/>
          <a:stretch>
            <a:fillRect/>
          </a:stretch>
        </p:blipFill>
        <p:spPr>
          <a:xfrm>
            <a:off x="6336792" y="4450900"/>
            <a:ext cx="5029200" cy="382934"/>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MedCity News, Feb 20, 2026, https://medcitynews.com/2026/02/rainfall-health-funding/ ; Rainfall PR Newswire releases Feb 18 and Jul 27, 2026</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"Proven Results": </a:t>
            </a:r>
            <a:r>
              <a:rPr lang="en-US" sz="2800" dirty="0">
                <a:solidFill>
                  <a:srgbClr val="09254A"/>
                </a:solidFill>
                <a:latin typeface="urbanist"/>
                <a:ea typeface="urbanist"/>
                <a:cs typeface="urbanist"/>
              </a:rPr>
              <a:t>no results </a:t>
            </a:r>
            <a:r>
              <a:rPr lang="en-US" sz="2800" dirty="0">
                <a:solidFill>
                  <a:srgbClr val="6DCFF6"/>
                </a:solidFill>
                <a:latin typeface="urbanist"/>
                <a:ea typeface="urbanist"/>
                <a:cs typeface="urbanist"/>
              </a:rPr>
              <a:t>on the page</a:t>
            </a:r>
            <a:endParaRPr lang="en-US" dirty="0"/>
          </a:p>
        </p:txBody>
      </p:sp>
      <p:sp>
        <p:nvSpPr>
          <p:cNvPr id="22" name="Status 22"/>
          <p:cNvSpPr/>
          <p:nvPr/>
        </p:nvSpPr>
        <p:spPr>
          <a:xfrm>
            <a:off x="3108960" y="534924"/>
            <a:ext cx="1463040" cy="310896"/>
          </a:xfrm>
          <a:prstGeom prst="roundRect">
            <a:avLst>
              <a:gd name="adj" fmla="val 50000"/>
            </a:avLst>
          </a:prstGeom>
          <a:solidFill>
            <a:srgbClr val="C47F00"/>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Unsupported</a:t>
            </a:r>
          </a:p>
        </p:txBody>
      </p:sp>
      <p:sp>
        <p:nvSpPr>
          <p:cNvPr id="30" name="Report Header"/>
          <p:cNvSpPr/>
          <p:nvPr/>
        </p:nvSpPr>
        <p:spPr>
          <a:xfrm>
            <a:off x="685800"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p.8, p.2</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09254A"/>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page shows</a:t>
            </a:r>
            <a:endParaRPr lang="en-US" dirty="0"/>
          </a:p>
        </p:txBody>
      </p:sp>
      <p:sp>
        <p:nvSpPr>
          <p:cNvPr id="34" name="Source Label"/>
          <p:cNvSpPr/>
          <p:nvPr/>
        </p:nvSpPr>
        <p:spPr>
          <a:xfrm>
            <a:off x="8759952" y="1737360"/>
            <a:ext cx="265176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p.8, the rest of the page</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400" b="1" dirty="0">
                <a:solidFill>
                  <a:srgbClr val="6DCFF6"/>
                </a:solidFill>
                <a:latin typeface="urbanist"/>
                <a:ea typeface="urbanist"/>
                <a:cs typeface="urbanist"/>
              </a:rPr>
              <a:t>Fix: </a:t>
            </a:r>
            <a:r>
              <a:rPr lang="en-US" sz="1400" dirty="0">
                <a:solidFill>
                  <a:srgbClr val="FFFFFF"/>
                </a:solidFill>
                <a:latin typeface="Nunito Light"/>
                <a:ea typeface="Nunito Light"/>
                <a:cs typeface="Nunito Light"/>
              </a:rPr>
              <a:t>Retitle p.8 "California: where TEAM hits hardest" and the contents entry "California – 107 mandated hospitals"; drop "Proven Results" and "Case examples", or add real case examples.</a:t>
            </a:r>
            <a:endParaRPr lang="en-US" dirty="0"/>
          </a:p>
        </p:txBody>
      </p:sp>
      <p:sp>
        <p:nvSpPr>
          <p:cNvPr id="600" name="Crop Label 600"/>
          <p:cNvSpPr txBox="1"/>
          <p:nvPr/>
        </p:nvSpPr>
        <p:spPr>
          <a:xfrm>
            <a:off x="822960" y="2569419"/>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p.8 header</a:t>
            </a:r>
          </a:p>
        </p:txBody>
      </p:sp>
      <p:pic>
        <p:nvPicPr>
          <p:cNvPr id="601" name="Crop g8x-s24-r1"/>
          <p:cNvPicPr>
            <a:picLocks noChangeAspect="1"/>
          </p:cNvPicPr>
          <p:nvPr/>
        </p:nvPicPr>
        <p:blipFill>
          <a:blip r:embed="rId700"/>
          <a:stretch>
            <a:fillRect/>
          </a:stretch>
        </p:blipFill>
        <p:spPr>
          <a:xfrm>
            <a:off x="822960" y="2788875"/>
            <a:ext cx="4206240" cy="1104922"/>
          </a:xfrm>
          <a:prstGeom prst="rect">
            <a:avLst/>
          </a:prstGeom>
          <a:ln w="6350">
            <a:solidFill>
              <a:srgbClr val="D9D9D9"/>
            </a:solidFill>
          </a:ln>
        </p:spPr>
      </p:pic>
      <p:sp>
        <p:nvSpPr>
          <p:cNvPr id="602" name="Crop Label 602"/>
          <p:cNvSpPr txBox="1"/>
          <p:nvPr/>
        </p:nvSpPr>
        <p:spPr>
          <a:xfrm>
            <a:off x="822960" y="3985238"/>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p.2 contents, item 6</a:t>
            </a:r>
          </a:p>
        </p:txBody>
      </p:sp>
      <p:pic>
        <p:nvPicPr>
          <p:cNvPr id="603" name="Crop g8x-s24-r2"/>
          <p:cNvPicPr>
            <a:picLocks noChangeAspect="1"/>
          </p:cNvPicPr>
          <p:nvPr/>
        </p:nvPicPr>
        <p:blipFill>
          <a:blip r:embed="rId701"/>
          <a:stretch>
            <a:fillRect/>
          </a:stretch>
        </p:blipFill>
        <p:spPr>
          <a:xfrm>
            <a:off x="822960" y="4204694"/>
            <a:ext cx="2651760" cy="449646"/>
          </a:xfrm>
          <a:prstGeom prst="rect">
            <a:avLst/>
          </a:prstGeom>
          <a:ln w="6350">
            <a:solidFill>
              <a:srgbClr val="D9D9D9"/>
            </a:solidFill>
          </a:ln>
        </p:spPr>
      </p:pic>
      <p:sp>
        <p:nvSpPr>
          <p:cNvPr id="604" name="Crop Label 604"/>
          <p:cNvSpPr txBox="1"/>
          <p:nvPr/>
        </p:nvSpPr>
        <p:spPr>
          <a:xfrm>
            <a:off x="6336792" y="217627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p.8 stat boxes: hospital counts</a:t>
            </a:r>
          </a:p>
        </p:txBody>
      </p:sp>
      <p:pic>
        <p:nvPicPr>
          <p:cNvPr id="605" name="Crop g8x-s24-s1"/>
          <p:cNvPicPr>
            <a:picLocks noChangeAspect="1"/>
          </p:cNvPicPr>
          <p:nvPr/>
        </p:nvPicPr>
        <p:blipFill>
          <a:blip r:embed="rId702"/>
          <a:stretch>
            <a:fillRect/>
          </a:stretch>
        </p:blipFill>
        <p:spPr>
          <a:xfrm>
            <a:off x="6336792" y="2395728"/>
            <a:ext cx="4572000" cy="968292"/>
          </a:xfrm>
          <a:prstGeom prst="rect">
            <a:avLst/>
          </a:prstGeom>
          <a:ln w="6350">
            <a:solidFill>
              <a:srgbClr val="D9D9D9"/>
            </a:solidFill>
          </a:ln>
        </p:spPr>
      </p:pic>
      <p:sp>
        <p:nvSpPr>
          <p:cNvPr id="606" name="Crop Label 606"/>
          <p:cNvSpPr txBox="1"/>
          <p:nvPr/>
        </p:nvSpPr>
        <p:spPr>
          <a:xfrm>
            <a:off x="6336792" y="3455460"/>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p.8 map and region table: counts again, no cases or outcomes</a:t>
            </a:r>
          </a:p>
        </p:txBody>
      </p:sp>
      <p:pic>
        <p:nvPicPr>
          <p:cNvPr id="607" name="Crop g8x-s24-s2"/>
          <p:cNvPicPr>
            <a:picLocks noChangeAspect="1"/>
          </p:cNvPicPr>
          <p:nvPr/>
        </p:nvPicPr>
        <p:blipFill>
          <a:blip r:embed="rId703"/>
          <a:stretch>
            <a:fillRect/>
          </a:stretch>
        </p:blipFill>
        <p:spPr>
          <a:xfrm>
            <a:off x="6336792" y="3674916"/>
            <a:ext cx="3017520" cy="1418833"/>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published report pp.2 and 8; full-audit.md issue #18 (8.1, 2.3)</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Disclaimer: </a:t>
            </a:r>
            <a:r>
              <a:rPr lang="en-US" sz="2800" dirty="0">
                <a:solidFill>
                  <a:srgbClr val="09254A"/>
                </a:solidFill>
                <a:latin typeface="urbanist"/>
                <a:ea typeface="urbanist"/>
                <a:cs typeface="urbanist"/>
              </a:rPr>
              <a:t>"public sources", </a:t>
            </a:r>
            <a:r>
              <a:rPr lang="en-US" sz="2800" dirty="0">
                <a:solidFill>
                  <a:srgbClr val="6DCFF6"/>
                </a:solidFill>
                <a:latin typeface="urbanist"/>
                <a:ea typeface="urbanist"/>
                <a:cs typeface="urbanist"/>
              </a:rPr>
              <a:t>but refs 13–14 are internal</a:t>
            </a:r>
            <a:endParaRPr lang="en-US" dirty="0"/>
          </a:p>
        </p:txBody>
      </p:sp>
      <p:sp>
        <p:nvSpPr>
          <p:cNvPr id="22" name="Status 22"/>
          <p:cNvSpPr/>
          <p:nvPr/>
        </p:nvSpPr>
        <p:spPr>
          <a:xfrm>
            <a:off x="310896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p.11</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Draft 02 + reference list</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400" b="1" dirty="0">
                <a:solidFill>
                  <a:srgbClr val="6DCFF6"/>
                </a:solidFill>
                <a:latin typeface="urbanist"/>
                <a:ea typeface="urbanist"/>
                <a:cs typeface="urbanist"/>
              </a:rPr>
              <a:t>Fix: </a:t>
            </a:r>
            <a:r>
              <a:rPr lang="en-US" sz="1400" dirty="0">
                <a:solidFill>
                  <a:srgbClr val="FFFFFF"/>
                </a:solidFill>
                <a:latin typeface="Nunito Light"/>
                <a:ea typeface="Nunito Light"/>
                <a:cs typeface="Nunito Light"/>
              </a:rPr>
              <a:t>Say "…using public data, published sources, and internal Rainfall Health analyses (refs 13–14)". The "publicly available" phrase was added after draft 02 (Jun 26); ref 15's revenue figures are company claims.</a:t>
            </a:r>
            <a:endParaRPr lang="en-US" dirty="0"/>
          </a:p>
        </p:txBody>
      </p:sp>
      <p:sp>
        <p:nvSpPr>
          <p:cNvPr id="600" name="Crop Label 600"/>
          <p:cNvSpPr txBox="1"/>
          <p:nvPr/>
        </p:nvSpPr>
        <p:spPr>
          <a:xfrm>
            <a:off x="822960" y="2967285"/>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p.11 disclaimer (published)</a:t>
            </a:r>
          </a:p>
        </p:txBody>
      </p:sp>
      <p:pic>
        <p:nvPicPr>
          <p:cNvPr id="601" name="Crop g9x-s25-r1"/>
          <p:cNvPicPr>
            <a:picLocks noChangeAspect="1"/>
          </p:cNvPicPr>
          <p:nvPr/>
        </p:nvPicPr>
        <p:blipFill>
          <a:blip r:embed="rId700"/>
          <a:stretch>
            <a:fillRect/>
          </a:stretch>
        </p:blipFill>
        <p:spPr>
          <a:xfrm>
            <a:off x="822960" y="3186741"/>
            <a:ext cx="5029200" cy="1069733"/>
          </a:xfrm>
          <a:prstGeom prst="rect">
            <a:avLst/>
          </a:prstGeom>
          <a:ln w="6350">
            <a:solidFill>
              <a:srgbClr val="D9D9D9"/>
            </a:solidFill>
          </a:ln>
        </p:spPr>
      </p:pic>
      <p:sp>
        <p:nvSpPr>
          <p:cNvPr id="602" name="Crop Label 602"/>
          <p:cNvSpPr txBox="1"/>
          <p:nvPr/>
        </p:nvSpPr>
        <p:spPr>
          <a:xfrm>
            <a:off x="6336792" y="2647607"/>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Draft 02 disclaimer (Jun 26): no claim about public sources</a:t>
            </a:r>
          </a:p>
        </p:txBody>
      </p:sp>
      <p:pic>
        <p:nvPicPr>
          <p:cNvPr id="603" name="Crop g9x-s25-s1"/>
          <p:cNvPicPr>
            <a:picLocks noChangeAspect="1"/>
          </p:cNvPicPr>
          <p:nvPr/>
        </p:nvPicPr>
        <p:blipFill>
          <a:blip r:embed="rId701"/>
          <a:stretch>
            <a:fillRect/>
          </a:stretch>
        </p:blipFill>
        <p:spPr>
          <a:xfrm>
            <a:off x="6336792" y="2867063"/>
            <a:ext cx="5029200" cy="510036"/>
          </a:xfrm>
          <a:prstGeom prst="rect">
            <a:avLst/>
          </a:prstGeom>
          <a:ln w="6350">
            <a:solidFill>
              <a:srgbClr val="D9D9D9"/>
            </a:solidFill>
          </a:ln>
        </p:spPr>
      </p:pic>
      <p:sp>
        <p:nvSpPr>
          <p:cNvPr id="604" name="Crop Label 604"/>
          <p:cNvSpPr txBox="1"/>
          <p:nvPr/>
        </p:nvSpPr>
        <p:spPr>
          <a:xfrm>
            <a:off x="6336792" y="3468539"/>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Same p.11 reference list: refs 13-14 are Rainfall's own, not found</a:t>
            </a:r>
          </a:p>
        </p:txBody>
      </p:sp>
      <p:pic>
        <p:nvPicPr>
          <p:cNvPr id="605" name="Crop g9x-s25-s2"/>
          <p:cNvPicPr>
            <a:picLocks noChangeAspect="1"/>
          </p:cNvPicPr>
          <p:nvPr/>
        </p:nvPicPr>
        <p:blipFill>
          <a:blip r:embed="rId702"/>
          <a:stretch>
            <a:fillRect/>
          </a:stretch>
        </p:blipFill>
        <p:spPr>
          <a:xfrm>
            <a:off x="6336792" y="3687995"/>
            <a:ext cx="3474720" cy="888157"/>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published report p.11; draft 02 (Jun 26, 1:26 PM PT) vs published disclaimer and reference list; full-audit.md 11.11, 11.12, 11.14</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"20% by PY3": </a:t>
            </a:r>
            <a:r>
              <a:rPr lang="en-US" sz="2800" dirty="0">
                <a:solidFill>
                  <a:srgbClr val="09254A"/>
                </a:solidFill>
                <a:latin typeface="urbanist"/>
                <a:ea typeface="urbanist"/>
                <a:cs typeface="urbanist"/>
              </a:rPr>
              <a:t>Track 3 is 20% </a:t>
            </a:r>
            <a:r>
              <a:rPr lang="en-US" sz="2800" dirty="0">
                <a:solidFill>
                  <a:srgbClr val="6DCFF6"/>
                </a:solidFill>
                <a:latin typeface="urbanist"/>
                <a:ea typeface="urbanist"/>
                <a:cs typeface="urbanist"/>
              </a:rPr>
              <a:t>from PY1</a:t>
            </a:r>
            <a:endParaRPr lang="en-US" dirty="0"/>
          </a:p>
        </p:txBody>
      </p:sp>
      <p:sp>
        <p:nvSpPr>
          <p:cNvPr id="22" name="Status 22"/>
          <p:cNvSpPr/>
          <p:nvPr/>
        </p:nvSpPr>
        <p:spPr>
          <a:xfrm>
            <a:off x="3108960" y="534924"/>
            <a:ext cx="109728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p.7</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TEAM Final Rule, 89 FR 69661</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400" b="1" dirty="0">
                <a:solidFill>
                  <a:srgbClr val="6DCFF6"/>
                </a:solidFill>
                <a:latin typeface="urbanist"/>
                <a:ea typeface="urbanist"/>
                <a:cs typeface="urbanist"/>
              </a:rPr>
              <a:t>Fix: </a:t>
            </a:r>
            <a:r>
              <a:rPr lang="en-US" sz="1400" dirty="0">
                <a:solidFill>
                  <a:srgbClr val="FFFFFF"/>
                </a:solidFill>
                <a:latin typeface="Nunito Light"/>
                <a:ea typeface="Nunito Light"/>
                <a:cs typeface="Nunito Light"/>
              </a:rPr>
              <a:t>Say "…up to 20% at risk from PY1 (Track 3)". Track 3's 20% stop-gain/stop-loss applies in every year, PY1 through PY5. (The "204k episodes" in the same line is mislabeled too; see Fig 3.)</a:t>
            </a:r>
            <a:endParaRPr lang="en-US" dirty="0"/>
          </a:p>
        </p:txBody>
      </p:sp>
      <p:sp>
        <p:nvSpPr>
          <p:cNvPr id="600" name="Crop Label 600"/>
          <p:cNvSpPr txBox="1"/>
          <p:nvPr/>
        </p:nvSpPr>
        <p:spPr>
          <a:xfrm>
            <a:off x="822960" y="3193541"/>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p.7 headline and subhead</a:t>
            </a:r>
          </a:p>
        </p:txBody>
      </p:sp>
      <p:pic>
        <p:nvPicPr>
          <p:cNvPr id="601" name="Crop g9x-s26-r1"/>
          <p:cNvPicPr>
            <a:picLocks noChangeAspect="1"/>
          </p:cNvPicPr>
          <p:nvPr/>
        </p:nvPicPr>
        <p:blipFill>
          <a:blip r:embed="rId700"/>
          <a:stretch>
            <a:fillRect/>
          </a:stretch>
        </p:blipFill>
        <p:spPr>
          <a:xfrm>
            <a:off x="822960" y="3412998"/>
            <a:ext cx="5029200" cy="617220"/>
          </a:xfrm>
          <a:prstGeom prst="rect">
            <a:avLst/>
          </a:prstGeom>
          <a:ln w="6350">
            <a:solidFill>
              <a:srgbClr val="D9D9D9"/>
            </a:solidFill>
          </a:ln>
        </p:spPr>
      </p:pic>
      <p:sp>
        <p:nvSpPr>
          <p:cNvPr id="602" name="Crop Label 602"/>
          <p:cNvSpPr txBox="1"/>
          <p:nvPr/>
        </p:nvSpPr>
        <p:spPr>
          <a:xfrm>
            <a:off x="6336792" y="304802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TEAM Final Rule, Table X.A.-02 (89 FR 69661): Track 3 = 20% in PYs 1-5</a:t>
            </a:r>
          </a:p>
        </p:txBody>
      </p:sp>
      <p:pic>
        <p:nvPicPr>
          <p:cNvPr id="603" name="Crop g9x-s26-s1"/>
          <p:cNvPicPr>
            <a:picLocks noChangeAspect="1"/>
          </p:cNvPicPr>
          <p:nvPr/>
        </p:nvPicPr>
        <p:blipFill>
          <a:blip r:embed="rId701"/>
          <a:stretch>
            <a:fillRect/>
          </a:stretch>
        </p:blipFill>
        <p:spPr>
          <a:xfrm>
            <a:off x="6336792" y="3267478"/>
            <a:ext cx="5029200" cy="908258"/>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TEAM Final Rule, 89 FR 68986, Table X.A.-02 at 89 FR 69661, https://www.federalregister.gov/d/2024-17021</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No</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p.5: </a:t>
            </a:r>
            <a:r>
              <a:rPr lang="en-US" sz="2800" dirty="0">
                <a:solidFill>
                  <a:srgbClr val="09254A"/>
                </a:solidFill>
                <a:latin typeface="urbanist"/>
                <a:ea typeface="urbanist"/>
                <a:cs typeface="urbanist"/>
              </a:rPr>
              <a:t>three "highest" claims, </a:t>
            </a:r>
            <a:r>
              <a:rPr lang="en-US" sz="2800" dirty="0">
                <a:solidFill>
                  <a:srgbClr val="6DCFF6"/>
                </a:solidFill>
                <a:latin typeface="urbanist"/>
                <a:ea typeface="urbanist"/>
                <a:cs typeface="urbanist"/>
              </a:rPr>
              <a:t>no source</a:t>
            </a:r>
            <a:endParaRPr lang="en-US" dirty="0"/>
          </a:p>
        </p:txBody>
      </p:sp>
      <p:sp>
        <p:nvSpPr>
          <p:cNvPr id="22" name="Status 22"/>
          <p:cNvSpPr/>
          <p:nvPr/>
        </p:nvSpPr>
        <p:spPr>
          <a:xfrm>
            <a:off x="3108960" y="534924"/>
            <a:ext cx="1463040" cy="310896"/>
          </a:xfrm>
          <a:prstGeom prst="roundRect">
            <a:avLst>
              <a:gd name="adj" fmla="val 50000"/>
            </a:avLst>
          </a:prstGeom>
          <a:solidFill>
            <a:srgbClr val="C47F00"/>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Unsupported</a:t>
            </a:r>
          </a:p>
        </p:txBody>
      </p:sp>
      <p:sp>
        <p:nvSpPr>
          <p:cNvPr id="30" name="Report Header"/>
          <p:cNvSpPr/>
          <p:nvPr/>
        </p:nvSpPr>
        <p:spPr>
          <a:xfrm>
            <a:off x="685800"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p.5</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2E8B57"/>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source says</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TEAM Final Rule, 89 FR 69711</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400" b="1" dirty="0">
                <a:solidFill>
                  <a:srgbClr val="6DCFF6"/>
                </a:solidFill>
                <a:latin typeface="urbanist"/>
                <a:ea typeface="urbanist"/>
                <a:cs typeface="urbanist"/>
              </a:rPr>
              <a:t>Fix: </a:t>
            </a:r>
            <a:r>
              <a:rPr lang="en-US" sz="1400" dirty="0">
                <a:solidFill>
                  <a:srgbClr val="FFFFFF"/>
                </a:solidFill>
                <a:latin typeface="Nunito Light"/>
                <a:ea typeface="Nunito Light"/>
                <a:cs typeface="Nunito Light"/>
              </a:rPr>
              <a:t>Rewrite as "these episodes have high post-acute spending (22–63% of episode cost⁹)" or drop it. The final rule's post-acute shares vary by procedure but don't rank them "highest".</a:t>
            </a:r>
            <a:endParaRPr lang="en-US" dirty="0"/>
          </a:p>
        </p:txBody>
      </p:sp>
      <p:sp>
        <p:nvSpPr>
          <p:cNvPr id="600" name="Crop Label 600"/>
          <p:cNvSpPr txBox="1"/>
          <p:nvPr/>
        </p:nvSpPr>
        <p:spPr>
          <a:xfrm>
            <a:off x="822960" y="3144286"/>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p.5: the sentence, no citation</a:t>
            </a:r>
          </a:p>
        </p:txBody>
      </p:sp>
      <p:pic>
        <p:nvPicPr>
          <p:cNvPr id="601" name="Crop g9x-s27-r1"/>
          <p:cNvPicPr>
            <a:picLocks noChangeAspect="1"/>
          </p:cNvPicPr>
          <p:nvPr/>
        </p:nvPicPr>
        <p:blipFill>
          <a:blip r:embed="rId700"/>
          <a:stretch>
            <a:fillRect/>
          </a:stretch>
        </p:blipFill>
        <p:spPr>
          <a:xfrm>
            <a:off x="822960" y="3363742"/>
            <a:ext cx="5029200" cy="715730"/>
          </a:xfrm>
          <a:prstGeom prst="rect">
            <a:avLst/>
          </a:prstGeom>
          <a:ln w="6350">
            <a:solidFill>
              <a:srgbClr val="D9D9D9"/>
            </a:solidFill>
          </a:ln>
        </p:spPr>
      </p:pic>
      <p:sp>
        <p:nvSpPr>
          <p:cNvPr id="602" name="Crop Label 602"/>
          <p:cNvSpPr txBox="1"/>
          <p:nvPr/>
        </p:nvSpPr>
        <p:spPr>
          <a:xfrm>
            <a:off x="6336792" y="2514600"/>
            <a:ext cx="237744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CABG: ~22% post-acute</a:t>
            </a:r>
          </a:p>
        </p:txBody>
      </p:sp>
      <p:pic>
        <p:nvPicPr>
          <p:cNvPr id="603" name="Crop g9x-s27-s1"/>
          <p:cNvPicPr>
            <a:picLocks noChangeAspect="1"/>
          </p:cNvPicPr>
          <p:nvPr/>
        </p:nvPicPr>
        <p:blipFill>
          <a:blip r:embed="rId701"/>
          <a:stretch>
            <a:fillRect/>
          </a:stretch>
        </p:blipFill>
        <p:spPr>
          <a:xfrm>
            <a:off x="6336792" y="2734056"/>
            <a:ext cx="2377440" cy="476955"/>
          </a:xfrm>
          <a:prstGeom prst="rect">
            <a:avLst/>
          </a:prstGeom>
          <a:ln w="6350">
            <a:solidFill>
              <a:srgbClr val="D9D9D9"/>
            </a:solidFill>
          </a:ln>
        </p:spPr>
      </p:pic>
      <p:sp>
        <p:nvSpPr>
          <p:cNvPr id="604" name="Crop Label 604"/>
          <p:cNvSpPr txBox="1"/>
          <p:nvPr/>
        </p:nvSpPr>
        <p:spPr>
          <a:xfrm>
            <a:off x="8915400" y="2514600"/>
            <a:ext cx="237744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LEJR: more than 40%</a:t>
            </a:r>
          </a:p>
        </p:txBody>
      </p:sp>
      <p:pic>
        <p:nvPicPr>
          <p:cNvPr id="605" name="Crop g9x-s27-s2"/>
          <p:cNvPicPr>
            <a:picLocks noChangeAspect="1"/>
          </p:cNvPicPr>
          <p:nvPr/>
        </p:nvPicPr>
        <p:blipFill>
          <a:blip r:embed="rId702"/>
          <a:stretch>
            <a:fillRect/>
          </a:stretch>
        </p:blipFill>
        <p:spPr>
          <a:xfrm>
            <a:off x="8915400" y="2734056"/>
            <a:ext cx="2377440" cy="782052"/>
          </a:xfrm>
          <a:prstGeom prst="rect">
            <a:avLst/>
          </a:prstGeom>
          <a:ln w="6350">
            <a:solidFill>
              <a:srgbClr val="D9D9D9"/>
            </a:solidFill>
          </a:ln>
        </p:spPr>
      </p:pic>
      <p:sp>
        <p:nvSpPr>
          <p:cNvPr id="606" name="Crop Label 606"/>
          <p:cNvSpPr txBox="1"/>
          <p:nvPr/>
        </p:nvSpPr>
        <p:spPr>
          <a:xfrm>
            <a:off x="6336792" y="3348171"/>
            <a:ext cx="237744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SHFFT: more than 63%</a:t>
            </a:r>
          </a:p>
        </p:txBody>
      </p:sp>
      <p:pic>
        <p:nvPicPr>
          <p:cNvPr id="607" name="Crop g9x-s27-s3"/>
          <p:cNvPicPr>
            <a:picLocks noChangeAspect="1"/>
          </p:cNvPicPr>
          <p:nvPr/>
        </p:nvPicPr>
        <p:blipFill>
          <a:blip r:embed="rId703"/>
          <a:stretch>
            <a:fillRect/>
          </a:stretch>
        </p:blipFill>
        <p:spPr>
          <a:xfrm>
            <a:off x="6336792" y="3567627"/>
            <a:ext cx="2377440" cy="549783"/>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TEAM Final Rule, 89 FR 69711 (BPCI Advanced episode data), https://www.federalregister.gov/d/2024-17021</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Partly</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Cosmetic: </a:t>
            </a:r>
            <a:r>
              <a:rPr lang="en-US" sz="2800" dirty="0">
                <a:solidFill>
                  <a:srgbClr val="09254A"/>
                </a:solidFill>
                <a:latin typeface="urbanist"/>
                <a:ea typeface="urbanist"/>
                <a:cs typeface="urbanist"/>
              </a:rPr>
              <a:t>four leftovers </a:t>
            </a:r>
            <a:r>
              <a:rPr lang="en-US" sz="2800" dirty="0">
                <a:solidFill>
                  <a:srgbClr val="6DCFF6"/>
                </a:solidFill>
                <a:latin typeface="urbanist"/>
                <a:ea typeface="urbanist"/>
                <a:cs typeface="urbanist"/>
              </a:rPr>
              <a:t>still in the PDF</a:t>
            </a:r>
            <a:endParaRPr lang="en-US" dirty="0"/>
          </a:p>
        </p:txBody>
      </p:sp>
      <p:sp>
        <p:nvSpPr>
          <p:cNvPr id="22" name="Status 22"/>
          <p:cNvSpPr/>
          <p:nvPr/>
        </p:nvSpPr>
        <p:spPr>
          <a:xfrm>
            <a:off x="3108960" y="534924"/>
            <a:ext cx="1920240" cy="310896"/>
          </a:xfrm>
          <a:prstGeom prst="roundRect">
            <a:avLst>
              <a:gd name="adj" fmla="val 50000"/>
            </a:avLst>
          </a:prstGeom>
          <a:solidFill>
            <a:srgbClr val="C47F00"/>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Wrong (minor)</a:t>
            </a:r>
          </a:p>
        </p:txBody>
      </p:sp>
      <p:sp>
        <p:nvSpPr>
          <p:cNvPr id="30" name="Report Header"/>
          <p:cNvSpPr/>
          <p:nvPr/>
        </p:nvSpPr>
        <p:spPr>
          <a:xfrm>
            <a:off x="685800"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What the report says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pp.1-11</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09254A"/>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Who noticed</a:t>
            </a:r>
            <a:endParaRPr lang="en-US" dirty="0"/>
          </a:p>
        </p:txBody>
      </p:sp>
      <p:sp>
        <p:nvSpPr>
          <p:cNvPr id="34" name="Source Label"/>
          <p:cNvSpPr/>
          <p:nvPr/>
        </p:nvSpPr>
        <p:spPr>
          <a:xfrm>
            <a:off x="8394192" y="1737360"/>
            <a:ext cx="301752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Kyle's memo + Slack</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400" b="1" dirty="0">
                <a:solidFill>
                  <a:srgbClr val="6DCFF6"/>
                </a:solidFill>
                <a:latin typeface="urbanist"/>
                <a:ea typeface="urbanist"/>
                <a:cs typeface="urbanist"/>
              </a:rPr>
              <a:t>Fix: </a:t>
            </a:r>
            <a:r>
              <a:rPr lang="en-US" sz="1400" dirty="0">
                <a:solidFill>
                  <a:srgbClr val="FFFFFF"/>
                </a:solidFill>
                <a:latin typeface="Nunito Light"/>
                <a:ea typeface="Nunito Light"/>
                <a:cs typeface="Nunito Light"/>
              </a:rPr>
              <a:t>Make p.9 "$14.5M"; change the footer to "July 2026"; use CPHQ the same way on the cover, disclaimer and footers; set refs 1-15 in one font and color.</a:t>
            </a:r>
            <a:endParaRPr lang="en-US" dirty="0"/>
          </a:p>
        </p:txBody>
      </p:sp>
      <p:sp>
        <p:nvSpPr>
          <p:cNvPr id="600" name="Crop Label 600"/>
          <p:cNvSpPr txBox="1"/>
          <p:nvPr/>
        </p:nvSpPr>
        <p:spPr>
          <a:xfrm>
            <a:off x="822960" y="217627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p.9 stat box: "$14.5", no M</a:t>
            </a:r>
          </a:p>
        </p:txBody>
      </p:sp>
      <p:pic>
        <p:nvPicPr>
          <p:cNvPr id="601" name="Crop g10x-s28-r1"/>
          <p:cNvPicPr>
            <a:picLocks noChangeAspect="1"/>
          </p:cNvPicPr>
          <p:nvPr/>
        </p:nvPicPr>
        <p:blipFill>
          <a:blip r:embed="rId700"/>
          <a:stretch>
            <a:fillRect/>
          </a:stretch>
        </p:blipFill>
        <p:spPr>
          <a:xfrm>
            <a:off x="822960" y="2395728"/>
            <a:ext cx="1143000" cy="872836"/>
          </a:xfrm>
          <a:prstGeom prst="rect">
            <a:avLst/>
          </a:prstGeom>
          <a:ln w="6350">
            <a:solidFill>
              <a:srgbClr val="D9D9D9"/>
            </a:solidFill>
          </a:ln>
        </p:spPr>
      </p:pic>
      <p:sp>
        <p:nvSpPr>
          <p:cNvPr id="602" name="Crop Label 602"/>
          <p:cNvSpPr txBox="1"/>
          <p:nvPr/>
        </p:nvSpPr>
        <p:spPr>
          <a:xfrm>
            <a:off x="822960" y="3360004"/>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Footer, every page (here p.9): "May 2026" and no CPHQ</a:t>
            </a:r>
          </a:p>
        </p:txBody>
      </p:sp>
      <p:pic>
        <p:nvPicPr>
          <p:cNvPr id="603" name="Crop g10x-s28-r2"/>
          <p:cNvPicPr>
            <a:picLocks noChangeAspect="1"/>
          </p:cNvPicPr>
          <p:nvPr/>
        </p:nvPicPr>
        <p:blipFill>
          <a:blip r:embed="rId701"/>
          <a:stretch>
            <a:fillRect/>
          </a:stretch>
        </p:blipFill>
        <p:spPr>
          <a:xfrm>
            <a:off x="822960" y="3579460"/>
            <a:ext cx="4023360" cy="236668"/>
          </a:xfrm>
          <a:prstGeom prst="rect">
            <a:avLst/>
          </a:prstGeom>
          <a:ln w="6350">
            <a:solidFill>
              <a:srgbClr val="D9D9D9"/>
            </a:solidFill>
          </a:ln>
        </p:spPr>
      </p:pic>
      <p:sp>
        <p:nvSpPr>
          <p:cNvPr id="604" name="Crop Label 604"/>
          <p:cNvSpPr txBox="1"/>
          <p:nvPr/>
        </p:nvSpPr>
        <p:spPr>
          <a:xfrm>
            <a:off x="822960" y="3907568"/>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p.11 disclaimer (and cover): with CPHQ</a:t>
            </a:r>
          </a:p>
        </p:txBody>
      </p:sp>
      <p:pic>
        <p:nvPicPr>
          <p:cNvPr id="605" name="Crop g10x-s28-r3"/>
          <p:cNvPicPr>
            <a:picLocks noChangeAspect="1"/>
          </p:cNvPicPr>
          <p:nvPr/>
        </p:nvPicPr>
        <p:blipFill>
          <a:blip r:embed="rId702"/>
          <a:stretch>
            <a:fillRect/>
          </a:stretch>
        </p:blipFill>
        <p:spPr>
          <a:xfrm>
            <a:off x="822960" y="4127024"/>
            <a:ext cx="3108960" cy="253971"/>
          </a:xfrm>
          <a:prstGeom prst="rect">
            <a:avLst/>
          </a:prstGeom>
          <a:ln w="6350">
            <a:solidFill>
              <a:srgbClr val="D9D9D9"/>
            </a:solidFill>
          </a:ln>
        </p:spPr>
      </p:pic>
      <p:sp>
        <p:nvSpPr>
          <p:cNvPr id="606" name="Crop Label 606"/>
          <p:cNvSpPr txBox="1"/>
          <p:nvPr/>
        </p:nvSpPr>
        <p:spPr>
          <a:xfrm>
            <a:off x="822960" y="4472435"/>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p.11 references: refs 1-7 and 8-15 in different fonts</a:t>
            </a:r>
          </a:p>
        </p:txBody>
      </p:sp>
      <p:pic>
        <p:nvPicPr>
          <p:cNvPr id="607" name="Crop g10x-s28-r4"/>
          <p:cNvPicPr>
            <a:picLocks noChangeAspect="1"/>
          </p:cNvPicPr>
          <p:nvPr/>
        </p:nvPicPr>
        <p:blipFill>
          <a:blip r:embed="rId703"/>
          <a:stretch>
            <a:fillRect/>
          </a:stretch>
        </p:blipFill>
        <p:spPr>
          <a:xfrm>
            <a:off x="822960" y="4691891"/>
            <a:ext cx="4206240" cy="401550"/>
          </a:xfrm>
          <a:prstGeom prst="rect">
            <a:avLst/>
          </a:prstGeom>
          <a:ln w="6350">
            <a:solidFill>
              <a:srgbClr val="D9D9D9"/>
            </a:solidFill>
          </a:ln>
        </p:spPr>
      </p:pic>
      <p:sp>
        <p:nvSpPr>
          <p:cNvPr id="608" name="Crop Label 608"/>
          <p:cNvSpPr txBox="1"/>
          <p:nvPr/>
        </p:nvSpPr>
        <p:spPr>
          <a:xfrm>
            <a:off x="6336792" y="2240280"/>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Kyle's Jun 26 memo: missing "M" and footer text noted, "can wait"</a:t>
            </a:r>
          </a:p>
        </p:txBody>
      </p:sp>
      <p:sp>
        <p:nvSpPr>
          <p:cNvPr id="690" name="Slack Note"/>
          <p:cNvSpPr txBox="1"/>
          <p:nvPr/>
        </p:nvSpPr>
        <p:spPr>
          <a:xfrm>
            <a:off x="6336792" y="2880360"/>
            <a:ext cx="5029200" cy="2194560"/>
          </a:xfrm>
          <a:prstGeom prst="rect">
            <a:avLst/>
          </a:prstGeom>
          <a:noFill/>
        </p:spPr>
        <p:txBody>
          <a:bodyPr wrap="square" lIns="0" tIns="0" rIns="0" bIns="0" anchor="t">
            <a:noAutofit/>
          </a:bodyPr>
          <a:lstStyle/>
          <a:p>
            <a:pPr algn="l"/>
            <a:r>
              <a:rPr lang="en-US" sz="1200" b="0" dirty="0">
                <a:solidFill>
                  <a:srgbClr val="4F4A5E"/>
                </a:solidFill>
                <a:latin typeface="urbanist"/>
                <a:ea typeface="urbanist"/>
                <a:cs typeface="urbanist"/>
              </a:rPr>
              <a:t>Jul 27: published with the "May 2026" footer (content was edited through Jul 14).</a:t>
            </a:r>
          </a:p>
          <a:p>
            <a:pPr algn="l"/>
            <a:r>
              <a:rPr lang="en-US" sz="1200" b="0" dirty="0">
                <a:solidFill>
                  <a:srgbClr val="4F4A5E"/>
                </a:solidFill>
                <a:latin typeface="urbanist"/>
                <a:ea typeface="urbanist"/>
                <a:cs typeface="urbanist"/>
              </a:rPr>
              <a:t>Aug 26 (after release), Mia: "the fonts and text colors are off for each column of references". Carrie: "we can update the PDF". Not done.</a:t>
            </a:r>
          </a:p>
          <a:p>
            <a:pPr algn="l"/>
            <a:r>
              <a:rPr lang="en-US" sz="1200" b="0" dirty="0">
                <a:solidFill>
                  <a:srgbClr val="4F4A5E"/>
                </a:solidFill>
                <a:latin typeface="urbanist"/>
                <a:ea typeface="urbanist"/>
                <a:cs typeface="urbanist"/>
              </a:rPr>
              <a:t>CPHQ on the cover and disclaimer but not the footers: never flagged.</a:t>
            </a:r>
          </a:p>
        </p:txBody>
      </p:sp>
      <p:pic>
        <p:nvPicPr>
          <p:cNvPr id="609" name="Crop g10x-s28-s1"/>
          <p:cNvPicPr>
            <a:picLocks noChangeAspect="1"/>
          </p:cNvPicPr>
          <p:nvPr/>
        </p:nvPicPr>
        <p:blipFill>
          <a:blip r:embed="rId704"/>
          <a:stretch>
            <a:fillRect/>
          </a:stretch>
        </p:blipFill>
        <p:spPr>
          <a:xfrm>
            <a:off x="6336792" y="2459736"/>
            <a:ext cx="5029200" cy="201724"/>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published report p.9 and p.11; Kyle's memo (Slack F0BDJRVJ955); Slack Jul 27 and Aug 26, 11:48 AM PT (Mia, Carrie, Kyle); full-audit.md 1.5, 2.5, 9.4, 11.15</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26364"/>
            <a:ext cx="188366" cy="0"/>
          </a:xfrm>
          <a:prstGeom prst="line">
            <a:avLst/>
          </a:prstGeom>
          <a:noFill/>
          <a:ln w="19050">
            <a:solidFill>
              <a:srgbClr val="6DCFF6"/>
            </a:solidFill>
            <a:prstDash val="solid"/>
          </a:ln>
        </p:spPr>
      </p:sp>
      <p:sp>
        <p:nvSpPr>
          <p:cNvPr id="3" name="Text 1"/>
          <p:cNvSpPr txBox="1"/>
          <p:nvPr/>
        </p:nvSpPr>
        <p:spPr>
          <a:xfrm>
            <a:off x="914400" y="566928"/>
            <a:ext cx="274320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Prioritized fix list</a:t>
            </a:r>
          </a:p>
        </p:txBody>
      </p:sp>
      <p:sp>
        <p:nvSpPr>
          <p:cNvPr id="4" name="Text 2"/>
          <p:cNvSpPr txBox="1"/>
          <p:nvPr/>
        </p:nvSpPr>
        <p:spPr>
          <a:xfrm>
            <a:off x="685800" y="731520"/>
            <a:ext cx="7315200" cy="868680"/>
          </a:xfrm>
          <a:prstGeom prst="rect">
            <a:avLst/>
          </a:prstGeom>
          <a:noFill/>
          <a:ln/>
        </p:spPr>
        <p:txBody>
          <a:bodyPr wrap="square" rtlCol="0" anchor="t"/>
          <a:lstStyle/>
          <a:p>
            <a:pPr algn="l" marL="0" indent="0">
              <a:buNone/>
            </a:pPr>
            <a:r>
              <a:rPr lang="en-US" sz="4800" b="1" dirty="0">
                <a:solidFill>
                  <a:srgbClr val="09254A"/>
                </a:solidFill>
                <a:latin typeface="urbanist"/>
                <a:ea typeface="urbanist"/>
                <a:cs typeface="urbanist"/>
              </a:rPr>
              <a:t>What</a:t>
            </a:r>
            <a:r>
              <a:rPr lang="en-US" sz="4800" dirty="0">
                <a:solidFill>
                  <a:srgbClr val="6DCFF6"/>
                </a:solidFill>
                <a:latin typeface="urbanist"/>
                <a:ea typeface="urbanist"/>
                <a:cs typeface="urbanist"/>
              </a:rPr>
              <a:t> to change</a:t>
            </a:r>
          </a:p>
        </p:txBody>
      </p:sp>
      <p:sp>
        <p:nvSpPr>
          <p:cNvPr id="55" name="Footnote 55"/>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Order follows full-audit.md's issue list (#1-#22). Ref 2 replaces Etzioni; ref 3 replaces Ho 2022; ref 13 replaces the unfound California brief.</a:t>
            </a:r>
          </a:p>
        </p:txBody>
      </p:sp>
      <p:sp>
        <p:nvSpPr>
          <p:cNvPr id="401" name="Col Bar 401"/>
          <p:cNvSpPr/>
          <p:nvPr/>
        </p:nvSpPr>
        <p:spPr>
          <a:xfrm>
            <a:off x="685800" y="1783080"/>
            <a:ext cx="5120640" cy="45720"/>
          </a:xfrm>
          <a:prstGeom prst="rect">
            <a:avLst/>
          </a:prstGeom>
          <a:solidFill>
            <a:srgbClr val="6DCFF6"/>
          </a:solidFill>
          <a:ln>
            <a:noFill/>
          </a:ln>
        </p:spPr>
      </p:sp>
      <p:sp>
        <p:nvSpPr>
          <p:cNvPr id="402" name="Col Head Left"/>
          <p:cNvSpPr txBox="1"/>
          <p:nvPr/>
        </p:nvSpPr>
        <p:spPr>
          <a:xfrm>
            <a:off x="685800" y="1874519"/>
            <a:ext cx="5120640" cy="384048"/>
          </a:xfrm>
          <a:prstGeom prst="rect">
            <a:avLst/>
          </a:prstGeom>
          <a:noFill/>
        </p:spPr>
        <p:txBody>
          <a:bodyPr wrap="square" lIns="0" tIns="0" rIns="0" bIns="0" anchor="t">
            <a:normAutofit/>
          </a:bodyPr>
          <a:lstStyle/>
          <a:p>
            <a:r>
              <a:rPr lang="en-US" sz="2000" b="1" dirty="0">
                <a:solidFill>
                  <a:srgbClr val="09254A"/>
                </a:solidFill>
                <a:latin typeface="urbanist"/>
                <a:ea typeface="urbanist"/>
                <a:cs typeface="urbanist"/>
              </a:rPr>
              <a:t>Text fixes, in priority order</a:t>
            </a:r>
          </a:p>
        </p:txBody>
      </p:sp>
      <p:sp>
        <p:nvSpPr>
          <p:cNvPr id="403" name="Text Fixes"/>
          <p:cNvSpPr txBox="1"/>
          <p:nvPr/>
        </p:nvSpPr>
        <p:spPr>
          <a:xfrm>
            <a:off x="685800" y="2377440"/>
            <a:ext cx="5120640" cy="3703320"/>
          </a:xfrm>
          <a:prstGeom prst="rect">
            <a:avLst/>
          </a:prstGeom>
          <a:noFill/>
        </p:spPr>
        <p:txBody>
          <a:bodyPr wrap="square" lIns="0" tIns="0" rIns="0" bIns="0" anchor="t">
            <a:normAutofit/>
          </a:bodyPr>
          <a:lstStyle/>
          <a:p>
            <a:pPr marL="228600" indent="-228600">
              <a:spcAft>
                <a:spcPts val="700"/>
              </a:spcAft>
              <a:buClr>
                <a:srgbClr val="6DCFF6"/>
              </a:buClr>
              <a:buFont typeface="Arial"/>
              <a:buChar char="•"/>
            </a:pPr>
            <a:r>
              <a:rPr lang="en-US" sz="1200" dirty="0">
                <a:solidFill>
                  <a:srgbClr val="09254A"/>
                </a:solidFill>
                <a:latin typeface="urbanist"/>
                <a:ea typeface="urbanist"/>
                <a:cs typeface="urbanist"/>
              </a:rPr>
              <a:t>Risk cap: 20% in every year from PY1 (cover, p.2, p.7 headline and subhead, Fig 4)</a:t>
            </a:r>
          </a:p>
          <a:p>
            <a:pPr marL="228600" indent="-228600">
              <a:spcAft>
                <a:spcPts val="700"/>
              </a:spcAft>
              <a:buClr>
                <a:srgbClr val="6DCFF6"/>
              </a:buClr>
              <a:buFont typeface="Arial"/>
              <a:buChar char="•"/>
            </a:pPr>
            <a:r>
              <a:rPr lang="en-US" sz="1200" dirty="0">
                <a:solidFill>
                  <a:srgbClr val="09254A"/>
                </a:solidFill>
                <a:latin typeface="urbanist"/>
                <a:ea typeface="urbanist"/>
                <a:cs typeface="urbanist"/>
              </a:rPr>
              <a:t>74% / 83.7% over 85: cite Hewitt 2016 (UK cohort). AAMC: 13,500–86,000 by 2036</a:t>
            </a:r>
          </a:p>
          <a:p>
            <a:pPr marL="228600" indent="-228600">
              <a:spcAft>
                <a:spcPts val="700"/>
              </a:spcAft>
              <a:buClr>
                <a:srgbClr val="6DCFF6"/>
              </a:buClr>
              <a:buFont typeface="Arial"/>
              <a:buChar char="•"/>
            </a:pPr>
            <a:r>
              <a:rPr lang="en-US" sz="1200" dirty="0">
                <a:solidFill>
                  <a:srgbClr val="09254A"/>
                </a:solidFill>
                <a:latin typeface="urbanist"/>
                <a:ea typeface="urbanist"/>
                <a:cs typeface="urbanist"/>
              </a:rPr>
              <a:t>"40% of inpatient surgeries" → ~37% of surgical stays</a:t>
            </a:r>
          </a:p>
          <a:p>
            <a:pPr marL="228600" indent="-228600">
              <a:spcAft>
                <a:spcPts val="700"/>
              </a:spcAft>
              <a:buClr>
                <a:srgbClr val="6DCFF6"/>
              </a:buClr>
              <a:buFont typeface="Arial"/>
              <a:buChar char="•"/>
            </a:pPr>
            <a:r>
              <a:rPr lang="en-US" sz="1200" dirty="0">
                <a:solidFill>
                  <a:srgbClr val="09254A"/>
                </a:solidFill>
                <a:latin typeface="urbanist"/>
                <a:ea typeface="urbanist"/>
                <a:cs typeface="urbanist"/>
              </a:rPr>
              <a:t>California: 107 hospitals in 11 metro areas; fix regions; retitle "Proven Results"</a:t>
            </a:r>
          </a:p>
          <a:p>
            <a:pPr marL="228600" indent="-228600">
              <a:spcAft>
                <a:spcPts val="700"/>
              </a:spcAft>
              <a:buClr>
                <a:srgbClr val="6DCFF6"/>
              </a:buClr>
              <a:buFont typeface="Arial"/>
              <a:buChar char="•"/>
            </a:pPr>
            <a:r>
              <a:rPr lang="en-US" sz="1200" dirty="0">
                <a:solidFill>
                  <a:srgbClr val="09254A"/>
                </a:solidFill>
                <a:latin typeface="urbanist"/>
                <a:ea typeface="urbanist"/>
                <a:cs typeface="urbanist"/>
              </a:rPr>
              <a:t>Fig 3: average per-case gain/loss (ACS/IAC, 2023). Fig 2: spinal fusion ~30–40%</a:t>
            </a:r>
          </a:p>
          <a:p>
            <a:pPr marL="228600" indent="-228600">
              <a:spcAft>
                <a:spcPts val="700"/>
              </a:spcAft>
              <a:buClr>
                <a:srgbClr val="6DCFF6"/>
              </a:buClr>
              <a:buFont typeface="Arial"/>
              <a:buChar char="•"/>
            </a:pPr>
            <a:r>
              <a:rPr lang="en-US" sz="1200" dirty="0">
                <a:solidFill>
                  <a:srgbClr val="09254A"/>
                </a:solidFill>
                <a:latin typeface="urbanist"/>
                <a:ea typeface="urbanist"/>
                <a:cs typeface="urbanist"/>
              </a:rPr>
              <a:t>$1.2M: drop "Year 1"; give $14.5M one meaning; mark $14M and "Optum" as Rainfall estimates</a:t>
            </a:r>
          </a:p>
          <a:p>
            <a:pPr marL="228600" indent="-228600">
              <a:spcAft>
                <a:spcPts val="700"/>
              </a:spcAft>
              <a:buClr>
                <a:srgbClr val="6DCFF6"/>
              </a:buClr>
              <a:buFont typeface="Arial"/>
              <a:buChar char="•"/>
            </a:pPr>
            <a:r>
              <a:rPr lang="en-US" sz="1200" dirty="0">
                <a:solidFill>
                  <a:srgbClr val="09254A"/>
                </a:solidFill>
                <a:latin typeface="urbanist"/>
                <a:ea typeface="urbanist"/>
                <a:cs typeface="urbanist"/>
              </a:rPr>
              <a:t>"First mandatory multi-procedure model"; drop "first wave"</a:t>
            </a:r>
          </a:p>
          <a:p>
            <a:pPr marL="228600" indent="-228600">
              <a:spcAft>
                <a:spcPts val="700"/>
              </a:spcAft>
              <a:buClr>
                <a:srgbClr val="6DCFF6"/>
              </a:buClr>
              <a:buFont typeface="Arial"/>
              <a:buChar char="•"/>
            </a:pPr>
            <a:r>
              <a:rPr lang="en-US" sz="1200" dirty="0">
                <a:solidFill>
                  <a:srgbClr val="09254A"/>
                </a:solidFill>
                <a:latin typeface="urbanist"/>
                <a:ea typeface="urbanist"/>
                <a:cs typeface="urbanist"/>
              </a:rPr>
              <a:t>CJR-X: Jan 1, 2028, ~2,200 hospitals. Fig 1: 2023 Census series (≈71M)</a:t>
            </a:r>
          </a:p>
          <a:p>
            <a:pPr marL="228600" indent="-228600">
              <a:spcAft>
                <a:spcPts val="700"/>
              </a:spcAft>
              <a:buClr>
                <a:srgbClr val="6DCFF6"/>
              </a:buClr>
              <a:buFont typeface="Arial"/>
              <a:buChar char="•"/>
            </a:pPr>
            <a:r>
              <a:rPr lang="en-US" sz="1200" dirty="0">
                <a:solidFill>
                  <a:srgbClr val="09254A"/>
                </a:solidFill>
                <a:latin typeface="urbanist"/>
                <a:ea typeface="urbanist"/>
                <a:cs typeface="urbanist"/>
              </a:rPr>
              <a:t>p.10: label $85M, drop 70–80%. Disclaimer: name internal analyses. p.3/p.5: fix uncited sentences</a:t>
            </a:r>
          </a:p>
          <a:p>
            <a:pPr marL="228600" indent="-228600">
              <a:spcAft>
                <a:spcPts val="700"/>
              </a:spcAft>
              <a:buClr>
                <a:srgbClr val="6DCFF6"/>
              </a:buClr>
              <a:buFont typeface="Arial"/>
              <a:buChar char="•"/>
            </a:pPr>
            <a:r>
              <a:rPr lang="en-US" sz="1200" dirty="0">
                <a:solidFill>
                  <a:srgbClr val="09254A"/>
                </a:solidFill>
                <a:latin typeface="urbanist"/>
                <a:ea typeface="urbanist"/>
                <a:cs typeface="urbanist"/>
              </a:rPr>
              <a:t>Cosmetic: "$14.5M", "July 2026" footer, CPHQ, one ref font</a:t>
            </a:r>
          </a:p>
        </p:txBody>
      </p:sp>
      <p:sp>
        <p:nvSpPr>
          <p:cNvPr id="404" name="Col Bar 404"/>
          <p:cNvSpPr/>
          <p:nvPr/>
        </p:nvSpPr>
        <p:spPr>
          <a:xfrm>
            <a:off x="6355080" y="1783080"/>
            <a:ext cx="5148072" cy="45720"/>
          </a:xfrm>
          <a:prstGeom prst="rect">
            <a:avLst/>
          </a:prstGeom>
          <a:solidFill>
            <a:srgbClr val="6DCFF6"/>
          </a:solidFill>
          <a:ln>
            <a:noFill/>
          </a:ln>
        </p:spPr>
      </p:sp>
      <p:sp>
        <p:nvSpPr>
          <p:cNvPr id="405" name="Col Head Right"/>
          <p:cNvSpPr txBox="1"/>
          <p:nvPr/>
        </p:nvSpPr>
        <p:spPr>
          <a:xfrm>
            <a:off x="6355080" y="1874519"/>
            <a:ext cx="5148072" cy="384048"/>
          </a:xfrm>
          <a:prstGeom prst="rect">
            <a:avLst/>
          </a:prstGeom>
          <a:noFill/>
        </p:spPr>
        <p:txBody>
          <a:bodyPr wrap="square" lIns="0" tIns="0" rIns="0" bIns="0" anchor="t">
            <a:normAutofit/>
          </a:bodyPr>
          <a:lstStyle/>
          <a:p>
            <a:r>
              <a:rPr lang="en-US" sz="2000" b="1" dirty="0">
                <a:solidFill>
                  <a:srgbClr val="09254A"/>
                </a:solidFill>
                <a:latin typeface="urbanist"/>
                <a:ea typeface="urbanist"/>
                <a:cs typeface="urbanist"/>
              </a:rPr>
              <a:t>Corrected citations (published ref numbers)</a:t>
            </a:r>
          </a:p>
        </p:txBody>
      </p:sp>
      <p:sp>
        <p:nvSpPr>
          <p:cNvPr id="406" name="Corrected Citations"/>
          <p:cNvSpPr txBox="1"/>
          <p:nvPr/>
        </p:nvSpPr>
        <p:spPr>
          <a:xfrm>
            <a:off x="6355080" y="2377440"/>
            <a:ext cx="5148072" cy="3703320"/>
          </a:xfrm>
          <a:prstGeom prst="rect">
            <a:avLst/>
          </a:prstGeom>
          <a:noFill/>
        </p:spPr>
        <p:txBody>
          <a:bodyPr wrap="square" lIns="0" tIns="0" rIns="0" bIns="0" anchor="t">
            <a:normAutofit/>
          </a:bodyPr>
          <a:lstStyle/>
          <a:p>
            <a:pPr marL="365760" indent="-365760">
              <a:spcAft>
                <a:spcPts val="700"/>
              </a:spcAft>
              <a:buNone/>
            </a:pPr>
            <a:r>
              <a:rPr lang="en-US" sz="1100" b="1" dirty="0">
                <a:solidFill>
                  <a:srgbClr val="6DCFF6"/>
                </a:solidFill>
                <a:latin typeface="urbanist"/>
                <a:ea typeface="urbanist"/>
                <a:cs typeface="urbanist"/>
              </a:rPr>
              <a:t>1.	</a:t>
            </a:r>
            <a:r>
              <a:rPr lang="en-US" sz="1100" dirty="0">
                <a:solidFill>
                  <a:srgbClr val="09254A"/>
                </a:solidFill>
                <a:latin typeface="urbanist"/>
                <a:ea typeface="urbanist"/>
                <a:cs typeface="urbanist"/>
              </a:rPr>
              <a:t>U.S. Census Bureau. 2023 National Population Projections, Table 2. Nov 2023.</a:t>
            </a:r>
          </a:p>
          <a:p>
            <a:pPr marL="365760" indent="-365760">
              <a:spcAft>
                <a:spcPts val="700"/>
              </a:spcAft>
              <a:buNone/>
            </a:pPr>
            <a:r>
              <a:rPr lang="en-US" sz="1100" b="1" dirty="0">
                <a:solidFill>
                  <a:srgbClr val="6DCFF6"/>
                </a:solidFill>
                <a:latin typeface="urbanist"/>
                <a:ea typeface="urbanist"/>
                <a:cs typeface="urbanist"/>
              </a:rPr>
              <a:t>2.	</a:t>
            </a:r>
            <a:r>
              <a:rPr lang="en-US" sz="1100" dirty="0">
                <a:solidFill>
                  <a:srgbClr val="09254A"/>
                </a:solidFill>
                <a:latin typeface="urbanist"/>
                <a:ea typeface="urbanist"/>
                <a:cs typeface="urbanist"/>
              </a:rPr>
              <a:t>McDermott KW, Liang L. HCUP Statistical Brief #281. AHRQ; 2021.</a:t>
            </a:r>
          </a:p>
          <a:p>
            <a:pPr marL="365760" indent="-365760">
              <a:spcAft>
                <a:spcPts val="700"/>
              </a:spcAft>
              <a:buNone/>
            </a:pPr>
            <a:r>
              <a:rPr lang="en-US" sz="1100" b="1" dirty="0">
                <a:solidFill>
                  <a:srgbClr val="6DCFF6"/>
                </a:solidFill>
                <a:latin typeface="urbanist"/>
                <a:ea typeface="urbanist"/>
                <a:cs typeface="urbanist"/>
              </a:rPr>
              <a:t>3.	</a:t>
            </a:r>
            <a:r>
              <a:rPr lang="en-US" sz="1100" dirty="0">
                <a:solidFill>
                  <a:srgbClr val="09254A"/>
                </a:solidFill>
                <a:latin typeface="urbanist"/>
                <a:ea typeface="urbanist"/>
                <a:cs typeface="urbanist"/>
              </a:rPr>
              <a:t>Hewitt J, et al. BMJ Open. 2016;6(3):e010126.</a:t>
            </a:r>
          </a:p>
          <a:p>
            <a:pPr marL="365760" indent="-365760">
              <a:spcAft>
                <a:spcPts val="700"/>
              </a:spcAft>
              <a:buNone/>
            </a:pPr>
            <a:r>
              <a:rPr lang="en-US" sz="1100" b="1" dirty="0">
                <a:solidFill>
                  <a:srgbClr val="6DCFF6"/>
                </a:solidFill>
                <a:latin typeface="urbanist"/>
                <a:ea typeface="urbanist"/>
                <a:cs typeface="urbanist"/>
              </a:rPr>
              <a:t>5.	</a:t>
            </a:r>
            <a:r>
              <a:rPr lang="en-US" sz="1100" dirty="0">
                <a:solidFill>
                  <a:srgbClr val="09254A"/>
                </a:solidFill>
                <a:latin typeface="urbanist"/>
                <a:ea typeface="urbanist"/>
                <a:cs typeface="urbanist"/>
              </a:rPr>
              <a:t>Gill TM, et al. JAMA Surg. 2022;157(12):e225155.</a:t>
            </a:r>
          </a:p>
          <a:p>
            <a:pPr marL="365760" indent="-365760">
              <a:spcAft>
                <a:spcPts val="700"/>
              </a:spcAft>
              <a:buNone/>
            </a:pPr>
            <a:r>
              <a:rPr lang="en-US" sz="1100" b="1" dirty="0">
                <a:solidFill>
                  <a:srgbClr val="6DCFF6"/>
                </a:solidFill>
                <a:latin typeface="urbanist"/>
                <a:ea typeface="urbanist"/>
                <a:cs typeface="urbanist"/>
              </a:rPr>
              <a:t>8.	</a:t>
            </a:r>
            <a:r>
              <a:rPr lang="en-US" sz="1100" dirty="0">
                <a:solidFill>
                  <a:srgbClr val="09254A"/>
                </a:solidFill>
                <a:latin typeface="urbanist"/>
                <a:ea typeface="urbanist"/>
                <a:cs typeface="urbanist"/>
              </a:rPr>
              <a:t>AJRR 2024 Annual Report; Burnett RA, et al. J Arthroplasty. 2023;38(6):992-997.</a:t>
            </a:r>
          </a:p>
          <a:p>
            <a:pPr marL="365760" indent="-365760">
              <a:spcAft>
                <a:spcPts val="700"/>
              </a:spcAft>
              <a:buNone/>
            </a:pPr>
            <a:r>
              <a:rPr lang="en-US" sz="1100" b="1" dirty="0">
                <a:solidFill>
                  <a:srgbClr val="6DCFF6"/>
                </a:solidFill>
                <a:latin typeface="urbanist"/>
                <a:ea typeface="urbanist"/>
                <a:cs typeface="urbanist"/>
              </a:rPr>
              <a:t>9.	</a:t>
            </a:r>
            <a:r>
              <a:rPr lang="en-US" sz="1100" dirty="0">
                <a:solidFill>
                  <a:srgbClr val="09254A"/>
                </a:solidFill>
                <a:latin typeface="urbanist"/>
                <a:ea typeface="urbanist"/>
                <a:cs typeface="urbanist"/>
              </a:rPr>
              <a:t>CMS-1808-F. Fed Regist. 2024;89(167):68986-70046.</a:t>
            </a:r>
          </a:p>
          <a:p>
            <a:pPr marL="365760" indent="-365760">
              <a:spcAft>
                <a:spcPts val="700"/>
              </a:spcAft>
              <a:buNone/>
            </a:pPr>
            <a:r>
              <a:rPr lang="en-US" sz="1100" b="1" dirty="0">
                <a:solidFill>
                  <a:srgbClr val="6DCFF6"/>
                </a:solidFill>
                <a:latin typeface="urbanist"/>
                <a:ea typeface="urbanist"/>
                <a:cs typeface="urbanist"/>
              </a:rPr>
              <a:t>10.	</a:t>
            </a:r>
            <a:r>
              <a:rPr lang="en-US" sz="1100" dirty="0">
                <a:solidFill>
                  <a:srgbClr val="09254A"/>
                </a:solidFill>
                <a:latin typeface="urbanist"/>
                <a:ea typeface="urbanist"/>
                <a:cs typeface="urbanist"/>
              </a:rPr>
              <a:t>CMS-1849-F (final). Fed Regist. 2026;91(148):49570-50461.</a:t>
            </a:r>
          </a:p>
          <a:p>
            <a:pPr marL="365760" indent="-365760">
              <a:spcAft>
                <a:spcPts val="700"/>
              </a:spcAft>
              <a:buNone/>
            </a:pPr>
            <a:r>
              <a:rPr lang="en-US" sz="1100" b="1" dirty="0">
                <a:solidFill>
                  <a:srgbClr val="6DCFF6"/>
                </a:solidFill>
                <a:latin typeface="urbanist"/>
                <a:ea typeface="urbanist"/>
                <a:cs typeface="urbanist"/>
              </a:rPr>
              <a:t>11.	</a:t>
            </a:r>
            <a:r>
              <a:rPr lang="en-US" sz="1100" dirty="0">
                <a:solidFill>
                  <a:srgbClr val="09254A"/>
                </a:solidFill>
                <a:latin typeface="urbanist"/>
                <a:ea typeface="urbanist"/>
                <a:cs typeface="urbanist"/>
              </a:rPr>
              <a:t>HCUP SB #281 (as ref 2); add the in-text 11 at Fig 2.</a:t>
            </a:r>
          </a:p>
          <a:p>
            <a:pPr marL="365760" indent="-365760">
              <a:spcAft>
                <a:spcPts val="700"/>
              </a:spcAft>
              <a:buNone/>
            </a:pPr>
            <a:r>
              <a:rPr lang="en-US" sz="1100" b="1" dirty="0">
                <a:solidFill>
                  <a:srgbClr val="6DCFF6"/>
                </a:solidFill>
                <a:latin typeface="urbanist"/>
                <a:ea typeface="urbanist"/>
                <a:cs typeface="urbanist"/>
              </a:rPr>
              <a:t>12.	</a:t>
            </a:r>
            <a:r>
              <a:rPr lang="en-US" sz="1100" dirty="0">
                <a:solidFill>
                  <a:srgbClr val="09254A"/>
                </a:solidFill>
                <a:latin typeface="urbanist"/>
                <a:ea typeface="urbanist"/>
                <a:cs typeface="urbanist"/>
              </a:rPr>
              <a:t>Nation R, et al. Advisory Board, Nov 25, 2025; ACS/IAC TEAM revenue analysis (2023 data).</a:t>
            </a:r>
          </a:p>
          <a:p>
            <a:pPr marL="365760" indent="-365760">
              <a:spcAft>
                <a:spcPts val="700"/>
              </a:spcAft>
              <a:buNone/>
            </a:pPr>
            <a:r>
              <a:rPr lang="en-US" sz="1100" b="1" dirty="0">
                <a:solidFill>
                  <a:srgbClr val="6DCFF6"/>
                </a:solidFill>
                <a:latin typeface="urbanist"/>
                <a:ea typeface="urbanist"/>
                <a:cs typeface="urbanist"/>
              </a:rPr>
              <a:t>13.	</a:t>
            </a:r>
            <a:r>
              <a:rPr lang="en-US" sz="1100" dirty="0">
                <a:solidFill>
                  <a:srgbClr val="09254A"/>
                </a:solidFill>
                <a:latin typeface="urbanist"/>
                <a:ea typeface="urbanist"/>
                <a:cs typeface="urbanist"/>
              </a:rPr>
              <a:t>CMS TEAM participant list (Aug 18, 2026 file).</a:t>
            </a:r>
          </a:p>
          <a:p>
            <a:pPr marL="365760" indent="-365760">
              <a:spcAft>
                <a:spcPts val="700"/>
              </a:spcAft>
              <a:buNone/>
            </a:pPr>
            <a:r>
              <a:rPr lang="en-US" sz="1100" b="1" dirty="0">
                <a:solidFill>
                  <a:srgbClr val="6DCFF6"/>
                </a:solidFill>
                <a:latin typeface="urbanist"/>
                <a:ea typeface="urbanist"/>
                <a:cs typeface="urbanist"/>
              </a:rPr>
              <a:t>14.	</a:t>
            </a:r>
            <a:r>
              <a:rPr lang="en-US" sz="1100" dirty="0">
                <a:solidFill>
                  <a:srgbClr val="09254A"/>
                </a:solidFill>
                <a:latin typeface="urbanist"/>
                <a:ea typeface="urbanist"/>
                <a:cs typeface="urbanist"/>
              </a:rPr>
              <a:t>Internal model: get the file or label it internal.</a:t>
            </a:r>
          </a:p>
          <a:p>
            <a:pPr marL="365760" indent="-365760">
              <a:spcAft>
                <a:spcPts val="700"/>
              </a:spcAft>
              <a:buNone/>
            </a:pPr>
            <a:r>
              <a:rPr lang="en-US" sz="1100" b="1" dirty="0">
                <a:solidFill>
                  <a:srgbClr val="6DCFF6"/>
                </a:solidFill>
                <a:latin typeface="urbanist"/>
                <a:ea typeface="urbanist"/>
                <a:cs typeface="urbanist"/>
              </a:rPr>
              <a:t>New	</a:t>
            </a:r>
            <a:r>
              <a:rPr lang="en-US" sz="1100" dirty="0">
                <a:solidFill>
                  <a:srgbClr val="09254A"/>
                </a:solidFill>
                <a:latin typeface="urbanist"/>
                <a:ea typeface="urbanist"/>
                <a:cs typeface="urbanist"/>
              </a:rPr>
              <a:t>Bicket MC, et al. Ann Surg Open. 2024;5(2):e421 (19.4%).</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Partly</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The bad refs </a:t>
            </a:r>
            <a:r>
              <a:rPr lang="en-US" sz="2800" dirty="0">
                <a:solidFill>
                  <a:srgbClr val="09254A"/>
                </a:solidFill>
                <a:latin typeface="urbanist"/>
                <a:ea typeface="urbanist"/>
                <a:cs typeface="urbanist"/>
              </a:rPr>
              <a:t>were in the first numbered draft </a:t>
            </a:r>
            <a:r>
              <a:rPr lang="en-US" sz="2800" dirty="0">
                <a:solidFill>
                  <a:srgbClr val="6DCFF6"/>
                </a:solidFill>
                <a:latin typeface="urbanist"/>
                <a:ea typeface="urbanist"/>
                <a:cs typeface="urbanist"/>
              </a:rPr>
              <a:t>(Jun 25)</a:t>
            </a:r>
            <a:endParaRPr lang="en-US" dirty="0"/>
          </a:p>
        </p:txBody>
      </p:sp>
      <p:sp>
        <p:nvSpPr>
          <p:cNvPr id="22" name="Status 22"/>
          <p:cNvSpPr/>
          <p:nvPr/>
        </p:nvSpPr>
        <p:spPr>
          <a:xfrm>
            <a:off x="3108960" y="534924"/>
            <a:ext cx="1097280" cy="310896"/>
          </a:xfrm>
          <a:prstGeom prst="roundRect">
            <a:avLst>
              <a:gd name="adj" fmla="val 50000"/>
            </a:avLst>
          </a:prstGeom>
          <a:solidFill>
            <a:srgbClr val="C47F00"/>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Origin</a:t>
            </a:r>
          </a:p>
        </p:txBody>
      </p:sp>
      <p:sp>
        <p:nvSpPr>
          <p:cNvPr id="30" name="Report Header"/>
          <p:cNvSpPr/>
          <p:nvPr/>
        </p:nvSpPr>
        <p:spPr>
          <a:xfrm>
            <a:off x="685800"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Jun 25 Word draft</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p.12 · 13 refs</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Lost in the move to Canva</a:t>
            </a:r>
            <a:endParaRPr lang="en-US" dirty="0"/>
          </a:p>
        </p:txBody>
      </p:sp>
      <p:sp>
        <p:nvSpPr>
          <p:cNvPr id="34" name="Source Label"/>
          <p:cNvSpPr/>
          <p:nvPr/>
        </p:nvSpPr>
        <p:spPr>
          <a:xfrm>
            <a:off x="10040112"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p.6 vs pub p.5</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First numbered list: </a:t>
            </a:r>
            <a:r>
              <a:rPr lang="en-US" sz="1300" dirty="0">
                <a:solidFill>
                  <a:srgbClr val="FFFFFF"/>
                </a:solidFill>
                <a:latin typeface="Nunito Light"/>
                <a:ea typeface="Nunito Light"/>
                <a:cs typeface="Nunito Light"/>
              </a:rPr>
              <a:t>Jun 25 Word draft (Christina's May draft had none). Draft 02 copied all 13 word for word, including Tarazi, Bandeen-Roche, Becher, MedPAR, CMS-5540-F and NSQIP. The Fig 1 and Fig 2 citations were lost on the way.</a:t>
            </a:r>
            <a:endParaRPr lang="en-US" dirty="0"/>
          </a:p>
        </p:txBody>
      </p:sp>
      <p:sp>
        <p:nvSpPr>
          <p:cNvPr id="600" name="Crop Label 600"/>
          <p:cNvSpPr txBox="1"/>
          <p:nvPr/>
        </p:nvSpPr>
        <p:spPr>
          <a:xfrm>
            <a:off x="822960" y="2226563"/>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Yellow = replaced or cut later (2-4); orange = printed word for word, still wrong (6, 7, 9)</a:t>
            </a:r>
          </a:p>
        </p:txBody>
      </p:sp>
      <p:pic>
        <p:nvPicPr>
          <p:cNvPr id="601" name="Crop g11x-s5-r1"/>
          <p:cNvPicPr>
            <a:picLocks noChangeAspect="1"/>
          </p:cNvPicPr>
          <p:nvPr/>
        </p:nvPicPr>
        <p:blipFill>
          <a:blip r:embed="rId700"/>
          <a:stretch>
            <a:fillRect/>
          </a:stretch>
        </p:blipFill>
        <p:spPr>
          <a:xfrm>
            <a:off x="822960" y="2446020"/>
            <a:ext cx="5029200" cy="2551176"/>
          </a:xfrm>
          <a:prstGeom prst="rect">
            <a:avLst/>
          </a:prstGeom>
          <a:ln w="6350">
            <a:solidFill>
              <a:srgbClr val="D9D9D9"/>
            </a:solidFill>
          </a:ln>
        </p:spPr>
      </p:pic>
      <p:sp>
        <p:nvSpPr>
          <p:cNvPr id="602" name="Crop Label 602"/>
          <p:cNvSpPr txBox="1"/>
          <p:nvPr/>
        </p:nvSpPr>
        <p:spPr>
          <a:xfrm>
            <a:off x="6336792" y="217627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Jun 25 draft p.6: Fig 2 cites refs 3 and 9; page footer "References 3, 7, 9"</a:t>
            </a:r>
          </a:p>
        </p:txBody>
      </p:sp>
      <p:pic>
        <p:nvPicPr>
          <p:cNvPr id="603" name="Crop g11x-s5-s1"/>
          <p:cNvPicPr>
            <a:picLocks noChangeAspect="1"/>
          </p:cNvPicPr>
          <p:nvPr/>
        </p:nvPicPr>
        <p:blipFill>
          <a:blip r:embed="rId701"/>
          <a:stretch>
            <a:fillRect/>
          </a:stretch>
        </p:blipFill>
        <p:spPr>
          <a:xfrm>
            <a:off x="6336792" y="2395728"/>
            <a:ext cx="5029200" cy="1005840"/>
          </a:xfrm>
          <a:prstGeom prst="rect">
            <a:avLst/>
          </a:prstGeom>
          <a:ln w="6350">
            <a:solidFill>
              <a:srgbClr val="D9D9D9"/>
            </a:solidFill>
          </a:ln>
        </p:spPr>
      </p:pic>
      <p:sp>
        <p:nvSpPr>
          <p:cNvPr id="604" name="Crop Label 604"/>
          <p:cNvSpPr txBox="1"/>
          <p:nvPr/>
        </p:nvSpPr>
        <p:spPr>
          <a:xfrm>
            <a:off x="6336792" y="3493008"/>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Published p.5: no superscript, only an unnumbered "Sources:" line</a:t>
            </a:r>
          </a:p>
        </p:txBody>
      </p:sp>
      <p:pic>
        <p:nvPicPr>
          <p:cNvPr id="605" name="Crop g11x-s5-s2"/>
          <p:cNvPicPr>
            <a:picLocks noChangeAspect="1"/>
          </p:cNvPicPr>
          <p:nvPr/>
        </p:nvPicPr>
        <p:blipFill>
          <a:blip r:embed="rId702"/>
          <a:stretch>
            <a:fillRect/>
          </a:stretch>
        </p:blipFill>
        <p:spPr>
          <a:xfrm>
            <a:off x="6336792" y="3712464"/>
            <a:ext cx="4754880" cy="1336649"/>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Impact Report Draft Rainfall Health.docx (Annabelle → Kyle, Slack Jun 25, 5:13 PM; Word metadata Jun 25, 1:04 PM PT), p.12 and p.6; published PDF p.5</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Flagged before publication: Yes</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2 swapped, 1 cut, 3 added: </a:t>
            </a:r>
            <a:r>
              <a:rPr lang="en-US" sz="2800" dirty="0">
                <a:solidFill>
                  <a:srgbClr val="6DCFF6"/>
                </a:solidFill>
                <a:latin typeface="urbanist"/>
                <a:ea typeface="urbanist"/>
                <a:cs typeface="urbanist"/>
              </a:rPr>
              <a:t>no number fixed</a:t>
            </a:r>
            <a:endParaRPr lang="en-US" dirty="0"/>
          </a:p>
        </p:txBody>
      </p:sp>
      <p:sp>
        <p:nvSpPr>
          <p:cNvPr id="22" name="Status 22"/>
          <p:cNvSpPr/>
          <p:nvPr/>
        </p:nvSpPr>
        <p:spPr>
          <a:xfrm>
            <a:off x="3108960" y="534924"/>
            <a:ext cx="1463040" cy="310896"/>
          </a:xfrm>
          <a:prstGeom prst="roundRect">
            <a:avLst>
              <a:gd name="adj" fmla="val 50000"/>
            </a:avLst>
          </a:prstGeom>
          <a:solidFill>
            <a:srgbClr val="C8382F"/>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Not fixed</a:t>
            </a:r>
          </a:p>
        </p:txBody>
      </p:sp>
      <p:sp>
        <p:nvSpPr>
          <p:cNvPr id="30" name="Report Header"/>
          <p:cNvSpPr/>
          <p:nvPr/>
        </p:nvSpPr>
        <p:spPr>
          <a:xfrm>
            <a:off x="685800"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Changed (refs 2-4)</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Jun 25 → print</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C8382F"/>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Never touched</a:t>
            </a:r>
            <a:endParaRPr lang="en-US" dirty="0"/>
          </a:p>
        </p:txBody>
      </p:sp>
      <p:sp>
        <p:nvSpPr>
          <p:cNvPr id="34" name="Source Label"/>
          <p:cNvSpPr/>
          <p:nvPr/>
        </p:nvSpPr>
        <p:spPr>
          <a:xfrm>
            <a:off x="10040112"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3 of 10 kept</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Did it fix anything? </a:t>
            </a:r>
            <a:r>
              <a:rPr lang="en-US" sz="1300" dirty="0">
                <a:solidFill>
                  <a:srgbClr val="FFFFFF"/>
                </a:solidFill>
                <a:latin typeface="Nunito Light"/>
                <a:ea typeface="Nunito Light"/>
                <a:cs typeface="Nunito Light"/>
              </a:rPr>
              <a:t>Tarazi→Ho and Becher→Etzioni: real papers, but neither has the number. Bandeen-Roche cut: 19.4% left uncited. Deiner/Gill/Tang added: frailty and dementia only. MedPAR, CMS-5540-F and NSQIP went to print word for word.</a:t>
            </a:r>
            <a:endParaRPr lang="en-US" dirty="0"/>
          </a:p>
        </p:txBody>
      </p:sp>
      <p:sp>
        <p:nvSpPr>
          <p:cNvPr id="600" name="Crop Label 600"/>
          <p:cNvSpPr txBox="1"/>
          <p:nvPr/>
        </p:nvSpPr>
        <p:spPr>
          <a:xfrm>
            <a:off x="822960" y="217627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Refs 2-4, Jun 25 draft vs published, and the verdict on each</a:t>
            </a:r>
          </a:p>
        </p:txBody>
      </p:sp>
      <p:pic>
        <p:nvPicPr>
          <p:cNvPr id="601" name="Crop g11x-s6-r1"/>
          <p:cNvPicPr>
            <a:picLocks noChangeAspect="1"/>
          </p:cNvPicPr>
          <p:nvPr/>
        </p:nvPicPr>
        <p:blipFill>
          <a:blip r:embed="rId700"/>
          <a:stretch>
            <a:fillRect/>
          </a:stretch>
        </p:blipFill>
        <p:spPr>
          <a:xfrm>
            <a:off x="822960" y="2395728"/>
            <a:ext cx="5029200" cy="2684296"/>
          </a:xfrm>
          <a:prstGeom prst="rect">
            <a:avLst/>
          </a:prstGeom>
          <a:ln w="6350">
            <a:solidFill>
              <a:srgbClr val="D9D9D9"/>
            </a:solidFill>
          </a:ln>
        </p:spPr>
      </p:pic>
      <p:sp>
        <p:nvSpPr>
          <p:cNvPr id="602" name="Crop Label 602"/>
          <p:cNvSpPr txBox="1"/>
          <p:nvPr/>
        </p:nvSpPr>
        <p:spPr>
          <a:xfrm>
            <a:off x="6336792" y="217627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Refs 6, 7, 9: same words in print, only renumbered (8, 9, 11)</a:t>
            </a:r>
          </a:p>
        </p:txBody>
      </p:sp>
      <p:pic>
        <p:nvPicPr>
          <p:cNvPr id="603" name="Crop g11x-s6-s1"/>
          <p:cNvPicPr>
            <a:picLocks noChangeAspect="1"/>
          </p:cNvPicPr>
          <p:nvPr/>
        </p:nvPicPr>
        <p:blipFill>
          <a:blip r:embed="rId701"/>
          <a:stretch>
            <a:fillRect/>
          </a:stretch>
        </p:blipFill>
        <p:spPr>
          <a:xfrm>
            <a:off x="6336792" y="2395728"/>
            <a:ext cx="5029200" cy="2734434"/>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Jun 25 docx p.12 vs published p.11; Slack DM Christina→Kyle Jun 29, 3:04/3:39/3:42 PM; full-audit.md issues #2, #4, #5, #8, #9, #15, #16</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90372"/>
            <a:ext cx="188366" cy="0"/>
          </a:xfrm>
          <a:prstGeom prst="line">
            <a:avLst/>
          </a:prstGeom>
          <a:noFill/>
          <a:ln w="19050">
            <a:solidFill>
              <a:srgbClr val="6DCFF6"/>
            </a:solidFill>
            <a:prstDash val="solid"/>
          </a:ln>
        </p:spPr>
      </p:sp>
      <p:sp>
        <p:nvSpPr>
          <p:cNvPr id="3" name="Text 1"/>
          <p:cNvSpPr txBox="1"/>
          <p:nvPr/>
        </p:nvSpPr>
        <p:spPr>
          <a:xfrm>
            <a:off x="914400" y="566928"/>
            <a:ext cx="2103120" cy="246888"/>
          </a:xfrm>
          <a:prstGeom prst="rect">
            <a:avLst/>
          </a:prstGeom>
          <a:noFill/>
          <a:ln/>
        </p:spPr>
        <p:txBody>
          <a:bodyPr wrap="square" rtlCol="0" anchor="t"/>
          <a:lstStyle/>
          <a:p>
            <a:pPr algn="l" marL="0" indent="0">
              <a:buNone/>
            </a:pPr>
            <a:r>
              <a:rPr lang="en-US" sz="1000" dirty="0">
                <a:solidFill>
                  <a:srgbClr val="6DCFF6"/>
                </a:solidFill>
                <a:latin typeface="urbanist"/>
                <a:ea typeface="urbanist"/>
                <a:cs typeface="urbanist"/>
              </a:rPr>
              <a:t>Jun 29, 3:13 PM snapshot</a:t>
            </a:r>
            <a:endParaRPr lang="en-US" dirty="0"/>
          </a:p>
        </p:txBody>
      </p:sp>
      <p:sp>
        <p:nvSpPr>
          <p:cNvPr id="4" name="Text 2"/>
          <p:cNvSpPr txBox="1"/>
          <p:nvPr/>
        </p:nvSpPr>
        <p:spPr>
          <a:xfrm>
            <a:off x="685800" y="896112"/>
            <a:ext cx="10817352" cy="685800"/>
          </a:xfrm>
          <a:prstGeom prst="rect">
            <a:avLst/>
          </a:prstGeom>
          <a:noFill/>
          <a:ln/>
        </p:spPr>
        <p:txBody>
          <a:bodyPr wrap="square" rtlCol="0" anchor="t">
            <a:normAutofit/>
          </a:bodyPr>
          <a:lstStyle/>
          <a:p>
            <a:pPr algn="l" marL="0" indent="0">
              <a:buNone/>
            </a:pPr>
            <a:r>
              <a:rPr lang="en-US" sz="2800" b="1" dirty="0">
                <a:solidFill>
                  <a:srgbClr val="09254A"/>
                </a:solidFill>
                <a:latin typeface="urbanist"/>
                <a:ea typeface="urbanist"/>
                <a:cs typeface="urbanist"/>
              </a:rPr>
              <a:t>Mid-fix, </a:t>
            </a:r>
            <a:r>
              <a:rPr lang="en-US" sz="2800" dirty="0">
                <a:solidFill>
                  <a:srgbClr val="09254A"/>
                </a:solidFill>
                <a:latin typeface="urbanist"/>
                <a:ea typeface="urbanist"/>
                <a:cs typeface="urbanist"/>
              </a:rPr>
              <a:t>the footnote for 19.1% </a:t>
            </a:r>
            <a:r>
              <a:rPr lang="en-US" sz="2800" dirty="0">
                <a:solidFill>
                  <a:srgbClr val="6DCFF6"/>
                </a:solidFill>
                <a:latin typeface="urbanist"/>
                <a:ea typeface="urbanist"/>
                <a:cs typeface="urbanist"/>
              </a:rPr>
              <a:t>pointed at the fake paper</a:t>
            </a:r>
            <a:endParaRPr lang="en-US" dirty="0"/>
          </a:p>
        </p:txBody>
      </p:sp>
      <p:sp>
        <p:nvSpPr>
          <p:cNvPr id="22" name="Status 22"/>
          <p:cNvSpPr/>
          <p:nvPr/>
        </p:nvSpPr>
        <p:spPr>
          <a:xfrm>
            <a:off x="3108960" y="534924"/>
            <a:ext cx="1463040" cy="310896"/>
          </a:xfrm>
          <a:prstGeom prst="roundRect">
            <a:avLst>
              <a:gd name="adj" fmla="val 50000"/>
            </a:avLst>
          </a:prstGeom>
          <a:solidFill>
            <a:srgbClr val="C47F00"/>
          </a:solidFill>
          <a:ln>
            <a:noFill/>
          </a:ln>
        </p:spPr>
        <p:txBody>
          <a:bodyPr wrap="square" lIns="45720" tIns="0" rIns="45720" bIns="0" anchor="ctr"/>
          <a:lstStyle/>
          <a:p>
            <a:pPr algn="ctr" marL="0" indent="0">
              <a:buNone/>
            </a:pPr>
            <a:r>
              <a:rPr lang="en-US" sz="1100" b="1" dirty="0">
                <a:solidFill>
                  <a:srgbClr val="FFFFFF"/>
                </a:solidFill>
                <a:latin typeface="urbanist"/>
                <a:ea typeface="urbanist"/>
                <a:cs typeface="urbanist"/>
              </a:rPr>
              <a:t>Mid-fix</a:t>
            </a:r>
          </a:p>
        </p:txBody>
      </p:sp>
      <p:sp>
        <p:nvSpPr>
          <p:cNvPr id="30" name="Report Header"/>
          <p:cNvSpPr/>
          <p:nvPr/>
        </p:nvSpPr>
        <p:spPr>
          <a:xfrm>
            <a:off x="685800"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Jun 29, 3:13 PM · refs</a:t>
            </a:r>
            <a:endParaRPr lang="en-US" dirty="0"/>
          </a:p>
        </p:txBody>
      </p:sp>
      <p:sp>
        <p:nvSpPr>
          <p:cNvPr id="31" name="Report Page"/>
          <p:cNvSpPr/>
          <p:nvPr/>
        </p:nvSpPr>
        <p:spPr>
          <a:xfrm>
            <a:off x="4526280"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p.11</a:t>
            </a:r>
            <a:endParaRPr lang="en-US" dirty="0"/>
          </a:p>
        </p:txBody>
      </p:sp>
      <p:sp>
        <p:nvSpPr>
          <p:cNvPr id="32" name="Report Panel"/>
          <p:cNvSpPr/>
          <p:nvPr/>
        </p:nvSpPr>
        <p:spPr>
          <a:xfrm>
            <a:off x="685800"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3" name="Source Header"/>
          <p:cNvSpPr/>
          <p:nvPr/>
        </p:nvSpPr>
        <p:spPr>
          <a:xfrm>
            <a:off x="6199632" y="1737360"/>
            <a:ext cx="5303520" cy="384048"/>
          </a:xfrm>
          <a:prstGeom prst="rect">
            <a:avLst/>
          </a:prstGeom>
          <a:solidFill>
            <a:srgbClr val="C47F00"/>
          </a:solidFill>
          <a:ln>
            <a:noFill/>
          </a:ln>
        </p:spPr>
        <p:txBody>
          <a:bodyPr wrap="square" lIns="109728" tIns="36576" rIns="109728" bIns="36576" anchor="ctr">
            <a:normAutofit/>
          </a:bodyPr>
          <a:lstStyle/>
          <a:p>
            <a:pPr algn="l" marL="0" indent="0">
              <a:buNone/>
            </a:pPr>
            <a:r>
              <a:rPr lang="en-US" sz="1400" b="1" dirty="0">
                <a:solidFill>
                  <a:srgbClr val="FFFFFF"/>
                </a:solidFill>
                <a:latin typeface="urbanist"/>
                <a:ea typeface="urbanist"/>
                <a:cs typeface="urbanist"/>
              </a:rPr>
              <a:t>Same file · p.3</a:t>
            </a:r>
            <a:endParaRPr lang="en-US" dirty="0"/>
          </a:p>
        </p:txBody>
      </p:sp>
      <p:sp>
        <p:nvSpPr>
          <p:cNvPr id="34" name="Source Label"/>
          <p:cNvSpPr/>
          <p:nvPr/>
        </p:nvSpPr>
        <p:spPr>
          <a:xfrm>
            <a:off x="10040112" y="1737360"/>
            <a:ext cx="1371600" cy="384048"/>
          </a:xfrm>
          <a:prstGeom prst="rect">
            <a:avLst/>
          </a:prstGeom>
          <a:noFill/>
          <a:ln>
            <a:noFill/>
          </a:ln>
        </p:spPr>
        <p:txBody>
          <a:bodyPr wrap="square" lIns="109728" tIns="36576" rIns="109728" bIns="36576" anchor="ctr">
            <a:normAutofit/>
          </a:bodyPr>
          <a:lstStyle/>
          <a:p>
            <a:pPr algn="r" marL="0" indent="0">
              <a:buNone/>
            </a:pPr>
            <a:r>
              <a:rPr lang="en-US" sz="1200" dirty="0">
                <a:solidFill>
                  <a:srgbClr val="FFFFFF"/>
                </a:solidFill>
                <a:latin typeface="urbanist"/>
                <a:ea typeface="urbanist"/>
                <a:cs typeface="urbanist"/>
              </a:rPr>
              <a:t>p.3 + p.11</a:t>
            </a:r>
            <a:endParaRPr lang="en-US" dirty="0"/>
          </a:p>
        </p:txBody>
      </p:sp>
      <p:sp>
        <p:nvSpPr>
          <p:cNvPr id="35" name="Source Panel"/>
          <p:cNvSpPr/>
          <p:nvPr/>
        </p:nvSpPr>
        <p:spPr>
          <a:xfrm>
            <a:off x="6199632" y="2121408"/>
            <a:ext cx="5303520" cy="3072384"/>
          </a:xfrm>
          <a:prstGeom prst="rect">
            <a:avLst/>
          </a:prstGeom>
          <a:solidFill>
            <a:srgbClr val="F5F5F5"/>
          </a:solidFill>
          <a:ln>
            <a:noFill/>
          </a:ln>
        </p:spPr>
        <p:txBody>
          <a:bodyPr wrap="square" lIns="109728" tIns="36576" rIns="109728" bIns="36576" anchor="ctr">
            <a:normAutofit/>
          </a:bodyPr>
          <a:lstStyle/>
          <a:p>
            <a:pPr algn="ctr" marL="0" indent="0">
              <a:buNone/>
            </a:pPr>
            <a:endParaRPr lang="en-US" dirty="0"/>
          </a:p>
        </p:txBody>
      </p:sp>
      <p:sp>
        <p:nvSpPr>
          <p:cNvPr id="36" name="Fix Bar"/>
          <p:cNvSpPr/>
          <p:nvPr/>
        </p:nvSpPr>
        <p:spPr>
          <a:xfrm>
            <a:off x="685800" y="5358384"/>
            <a:ext cx="10817352" cy="713232"/>
          </a:xfrm>
          <a:prstGeom prst="rect">
            <a:avLst/>
          </a:prstGeom>
          <a:solidFill>
            <a:srgbClr val="09254A"/>
          </a:solidFill>
          <a:ln>
            <a:noFill/>
          </a:ln>
        </p:spPr>
        <p:txBody>
          <a:bodyPr wrap="square" lIns="201168" tIns="36576" rIns="201168" bIns="36576" anchor="ctr">
            <a:normAutofit/>
          </a:bodyPr>
          <a:lstStyle/>
          <a:p>
            <a:pPr algn="l" marL="0" indent="0">
              <a:buNone/>
            </a:pPr>
            <a:r>
              <a:rPr lang="en-US" sz="1300" b="1" dirty="0">
                <a:solidFill>
                  <a:srgbClr val="6DCFF6"/>
                </a:solidFill>
                <a:latin typeface="urbanist"/>
                <a:ea typeface="urbanist"/>
                <a:cs typeface="urbanist"/>
              </a:rPr>
              <a:t>At 3:13 PM: </a:t>
            </a:r>
            <a:r>
              <a:rPr lang="en-US" sz="1300" dirty="0">
                <a:solidFill>
                  <a:srgbClr val="FFFFFF"/>
                </a:solidFill>
                <a:latin typeface="Nunito Light"/>
                <a:ea typeface="Nunito Light"/>
                <a:cs typeface="Nunito Light"/>
              </a:rPr>
              <a:t>Ho added, Tarazi still listed, Bandeen-Roche gone, Becher not yet swapped, refs 4-6 not yet added. ³ on '19.1%' now landed on Tarazi. By Jun 30 the numbering was cleaned up and the 19.1% clause was cut, but the numbers behind the refs never changed.</a:t>
            </a:r>
            <a:endParaRPr lang="en-US" dirty="0"/>
          </a:p>
        </p:txBody>
      </p:sp>
      <p:sp>
        <p:nvSpPr>
          <p:cNvPr id="600" name="Crop Label 600"/>
          <p:cNvSpPr txBox="1"/>
          <p:nvPr/>
        </p:nvSpPr>
        <p:spPr>
          <a:xfrm>
            <a:off x="822960" y="2176272"/>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Ho added as #4, Tarazi still #3 (red), Bandeen-Roche gone, Becher still #2</a:t>
            </a:r>
          </a:p>
        </p:txBody>
      </p:sp>
      <p:pic>
        <p:nvPicPr>
          <p:cNvPr id="601" name="Crop g11x-s7-r1"/>
          <p:cNvPicPr>
            <a:picLocks noChangeAspect="1"/>
          </p:cNvPicPr>
          <p:nvPr/>
        </p:nvPicPr>
        <p:blipFill>
          <a:blip r:embed="rId700"/>
          <a:stretch>
            <a:fillRect/>
          </a:stretch>
        </p:blipFill>
        <p:spPr>
          <a:xfrm>
            <a:off x="822960" y="2395728"/>
            <a:ext cx="5029200" cy="2746137"/>
          </a:xfrm>
          <a:prstGeom prst="rect">
            <a:avLst/>
          </a:prstGeom>
          <a:ln w="6350">
            <a:solidFill>
              <a:srgbClr val="D9D9D9"/>
            </a:solidFill>
          </a:ln>
        </p:spPr>
      </p:pic>
      <p:sp>
        <p:nvSpPr>
          <p:cNvPr id="602" name="Crop Label 602"/>
          <p:cNvSpPr txBox="1"/>
          <p:nvPr/>
        </p:nvSpPr>
        <p:spPr>
          <a:xfrm>
            <a:off x="6336792" y="2608621"/>
            <a:ext cx="5029200" cy="182880"/>
          </a:xfrm>
          <a:prstGeom prst="rect">
            <a:avLst/>
          </a:prstGeom>
          <a:noFill/>
        </p:spPr>
        <p:txBody>
          <a:bodyPr wrap="square" lIns="0" tIns="0" rIns="0" bIns="0" anchor="b">
            <a:noAutofit/>
          </a:bodyPr>
          <a:lstStyle/>
          <a:p>
            <a:pPr algn="l"/>
            <a:r>
              <a:rPr lang="en-US" sz="1000" b="1" dirty="0">
                <a:solidFill>
                  <a:srgbClr val="4F4A5E"/>
                </a:solidFill>
                <a:latin typeface="urbanist"/>
                <a:ea typeface="urbanist"/>
                <a:cs typeface="urbanist"/>
              </a:rPr>
              <a:t>p.3: ³ still on "19.1%", and ref 3 is now Tarazi (the fake ref); ⁴ lands on Ho</a:t>
            </a:r>
          </a:p>
        </p:txBody>
      </p:sp>
      <p:pic>
        <p:nvPicPr>
          <p:cNvPr id="603" name="Crop g11x-s7-s1"/>
          <p:cNvPicPr>
            <a:picLocks noChangeAspect="1"/>
          </p:cNvPicPr>
          <p:nvPr/>
        </p:nvPicPr>
        <p:blipFill>
          <a:blip r:embed="rId701"/>
          <a:stretch>
            <a:fillRect/>
          </a:stretch>
        </p:blipFill>
        <p:spPr>
          <a:xfrm>
            <a:off x="6336792" y="2828077"/>
            <a:ext cx="5029200" cy="1787061"/>
          </a:xfrm>
          <a:prstGeom prst="rect">
            <a:avLst/>
          </a:prstGeom>
          <a:ln w="6350">
            <a:solidFill>
              <a:srgbClr val="D9D9D9"/>
            </a:solidFill>
          </a:ln>
        </p:spPr>
      </p:pic>
      <p:sp>
        <p:nvSpPr>
          <p:cNvPr id="27" name="Source 27"/>
          <p:cNvSpPr txBox="1"/>
          <p:nvPr/>
        </p:nvSpPr>
        <p:spPr>
          <a:xfrm>
            <a:off x="685800" y="6199632"/>
            <a:ext cx="10789920" cy="320040"/>
          </a:xfrm>
          <a:prstGeom prst="rect">
            <a:avLst/>
          </a:prstGeom>
          <a:noFill/>
        </p:spPr>
        <p:txBody>
          <a:bodyPr wrap="square" lIns="0" tIns="0" rIns="0" bIns="0" rtlCol="0" anchor="t">
            <a:normAutofit/>
          </a:bodyPr>
          <a:lstStyle/>
          <a:p>
            <a:pPr algn="l" marL="0" indent="0">
              <a:buNone/>
            </a:pPr>
            <a:r>
              <a:rPr lang="en-US" sz="1000" dirty="0">
                <a:solidFill>
                  <a:srgbClr val="7A748A"/>
                </a:solidFill>
                <a:latin typeface="Nunito Light"/>
                <a:ea typeface="Nunito Light"/>
                <a:cs typeface="Nunito Light"/>
              </a:rPr>
              <a:t>Source: Canva PDF export, metadata Jun 29, 3:13 PM PT (pp.3, 11); Slack DM between Kyle and Christina, Jun 29</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urban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Ligh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tes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urban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Ligh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Nunito Light</vt:lpstr>
      <vt:lpstr>urbanist</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Rainfall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Report Full Source Audit</dc:title>
  <dc:subject>CMS TEAM Impact Report source audit</dc:subject>
  <dc:creator>Kyle McAuliffe</dc:creator>
  <cp:lastModifiedBy>Kyle McAuliffe</cp:lastModifiedBy>
  <cp:revision>1</cp:revision>
  <dcterms:created xsi:type="dcterms:W3CDTF">2026-10-08T17:43:27Z</dcterms:created>
  <dcterms:modified xsi:type="dcterms:W3CDTF">2026-10-08T17:43:27Z</dcterms:modified>
</cp:coreProperties>
</file>